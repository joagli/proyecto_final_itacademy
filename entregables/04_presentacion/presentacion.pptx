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1"/>
  <c:chart>
    <c:title>
      <c:tx>
        <c:rich>
          <a:bodyPr/>
          <a:lstStyle/>
          <a:p>
            <a:pPr>
              <a:defRPr sz="1400" b="0" i="0" u="none" strike="noStrike">
                <a:solidFill>
                  <a:srgbClr val="5B6475"/>
                </a:solidFill>
                <a:latin typeface="Calibri"/>
              </a:defRPr>
            </a:pPr>
            <a:r>
              <a:rPr sz="1400" b="0" i="0" u="none" strike="noStrike">
                <a:solidFill>
                  <a:srgbClr val="5B6475"/>
                </a:solidFill>
                <a:latin typeface="Calibri"/>
              </a:rPr>
              <a:t>Sabe hablar catalán por edad, 2021 (%)</a:t>
            </a:r>
          </a:p>
        </c:rich>
      </c:tx>
      <c:layout/>
      <c:overlay val="0"/>
    </c:title>
    <c:autoTitleDeleted val="0"/>
    <c:plotArea>
      <c:layout/>
      <c:barChart>
        <c:barDir val="col"/>
        <c:grouping val="clustered"/>
        <c:varyColors val="0"/>
        <c:ser>
          <c:idx val="0"/>
          <c:order val="0"/>
          <c:tx>
            <c:strRef>
              <c:f>Sheet1!$B$1</c:f>
              <c:strCache>
                <c:ptCount val="1"/>
                <c:pt idx="0">
                  <c:v>Sabe hablar catalán (%)</c:v>
                </c:pt>
              </c:strCache>
            </c:strRef>
          </c:tx>
          <c:spPr>
            <a:solidFill>
              <a:srgbClr val="1F4E8C"/>
            </a:solidFill>
            <a:effectLst/>
          </c:spPr>
          <c:invertIfNegative val="0"/>
          <c:dLbls>
            <c:dLbl>
              <c:idx val="0"/>
              <c:tx>
                <c:rich>
                  <a:bodyPr/>
                  <a:lstStyle/>
                  <a:p>
                    <a:r>
                      <a:rPr b="1" i="0" strike="noStrike" sz="1400" u="none" lang="es-ES">
                        <a:solidFill>
                          <a:srgbClr val="1B2333"/>
                        </a:solidFill>
                        <a:latin typeface="Calibri"/>
                      </a:rPr>
                      <a:t>94,7%</a:t>
                    </a:r>
                  </a:p>
                </c:rich>
              </c:tx>
              <c:showLegendKey val="0"/>
              <c:showVal val="1"/>
              <c:showCatName val="0"/>
              <c:showSerName val="0"/>
              <c:showPercent val="0"/>
              <c:showBubbleSize val="0"/>
            </c:dLbl>
            <c:dLbl>
              <c:idx val="1"/>
              <c:tx>
                <c:rich>
                  <a:bodyPr/>
                  <a:lstStyle/>
                  <a:p>
                    <a:r>
                      <a:rPr b="1" i="0" strike="noStrike" sz="1400" u="none" lang="es-ES">
                        <a:solidFill>
                          <a:srgbClr val="1B2333"/>
                        </a:solidFill>
                        <a:latin typeface="Calibri"/>
                      </a:rPr>
                      <a:t>95,5%</a:t>
                    </a:r>
                  </a:p>
                </c:rich>
              </c:tx>
              <c:showLegendKey val="0"/>
              <c:showVal val="1"/>
              <c:showCatName val="0"/>
              <c:showSerName val="0"/>
              <c:showPercent val="0"/>
              <c:showBubbleSize val="0"/>
            </c:dLbl>
            <c:dLbl>
              <c:idx val="2"/>
              <c:tx>
                <c:rich>
                  <a:bodyPr/>
                  <a:lstStyle/>
                  <a:p>
                    <a:r>
                      <a:rPr b="1" i="0" strike="noStrike" sz="1400" u="none" lang="es-ES">
                        <a:solidFill>
                          <a:srgbClr val="1B2333"/>
                        </a:solidFill>
                        <a:latin typeface="Calibri"/>
                      </a:rPr>
                      <a:t>88,3%</a:t>
                    </a:r>
                  </a:p>
                </c:rich>
              </c:tx>
              <c:showLegendKey val="0"/>
              <c:showVal val="1"/>
              <c:showCatName val="0"/>
              <c:showSerName val="0"/>
              <c:showPercent val="0"/>
              <c:showBubbleSize val="0"/>
            </c:dLbl>
            <c:dLbl>
              <c:idx val="3"/>
              <c:tx>
                <c:rich>
                  <a:bodyPr/>
                  <a:lstStyle/>
                  <a:p>
                    <a:r>
                      <a:rPr b="1" i="0" strike="noStrike" sz="1400" u="none" lang="es-ES">
                        <a:solidFill>
                          <a:srgbClr val="1B2333"/>
                        </a:solidFill>
                        <a:latin typeface="Calibri"/>
                      </a:rPr>
                      <a:t>89,8%</a:t>
                    </a:r>
                  </a:p>
                </c:rich>
              </c:tx>
              <c:showLegendKey val="0"/>
              <c:showVal val="1"/>
              <c:showCatName val="0"/>
              <c:showSerName val="0"/>
              <c:showPercent val="0"/>
              <c:showBubbleSize val="0"/>
            </c:dLbl>
            <c:dLbl>
              <c:idx val="4"/>
              <c:tx>
                <c:rich>
                  <a:bodyPr/>
                  <a:lstStyle/>
                  <a:p>
                    <a:r>
                      <a:rPr b="1" i="0" strike="noStrike" sz="1400" u="none" lang="es-ES">
                        <a:solidFill>
                          <a:srgbClr val="1B2333"/>
                        </a:solidFill>
                        <a:latin typeface="Calibri"/>
                      </a:rPr>
                      <a:t>87,5%</a:t>
                    </a:r>
                  </a:p>
                </c:rich>
              </c:tx>
              <c:showLegendKey val="0"/>
              <c:showVal val="1"/>
              <c:showCatName val="0"/>
              <c:showSerName val="0"/>
              <c:showPercent val="0"/>
              <c:showBubbleSize val="0"/>
            </c:dLbl>
            <c:dLbl>
              <c:idx val="5"/>
              <c:tx>
                <c:rich>
                  <a:bodyPr/>
                  <a:lstStyle/>
                  <a:p>
                    <a:r>
                      <a:rPr b="1" i="0" strike="noStrike" sz="1400" u="none" lang="es-ES">
                        <a:solidFill>
                          <a:srgbClr val="1B2333"/>
                        </a:solidFill>
                        <a:latin typeface="Calibri"/>
                      </a:rPr>
                      <a:t>78,1%</a:t>
                    </a:r>
                  </a:p>
                </c:rich>
              </c:tx>
              <c:showLegendKey val="0"/>
              <c:showVal val="1"/>
              <c:showCatName val="0"/>
              <c:showSerName val="0"/>
              <c:showPercent val="0"/>
              <c:showBubbleSize val="0"/>
            </c:dLbl>
            <c:dLbl>
              <c:idx val="6"/>
              <c:tx>
                <c:rich>
                  <a:bodyPr/>
                  <a:lstStyle/>
                  <a:p>
                    <a:r>
                      <a:rPr b="1" i="0" strike="noStrike" sz="1400" u="none" lang="es-ES">
                        <a:solidFill>
                          <a:srgbClr val="1B2333"/>
                        </a:solidFill>
                        <a:latin typeface="Calibri"/>
                      </a:rPr>
                      <a:t>75,1%</a:t>
                    </a:r>
                  </a:p>
                </c:rich>
              </c:tx>
              <c:showLegendKey val="0"/>
              <c:showVal val="1"/>
              <c:showCatName val="0"/>
              <c:showSerName val="0"/>
              <c:showPercent val="0"/>
              <c:showBubbleSize val="0"/>
            </c:dLbl>
            <c:numFmt formatCode="0.0&quot;%&quot;" sourceLinked="0"/>
            <c:txPr>
              <a:bodyPr/>
              <a:lstStyle/>
              <a:p>
                <a:pPr>
                  <a:defRPr b="1" i="0" strike="noStrike" sz="1400" u="none">
                    <a:solidFill>
                      <a:srgbClr val="1B233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2-14</c:v>
                  </c:pt>
                  <c:pt idx="1">
                    <c:v>15-29</c:v>
                  </c:pt>
                  <c:pt idx="2">
                    <c:v>30-44</c:v>
                  </c:pt>
                  <c:pt idx="3">
                    <c:v>45-59</c:v>
                  </c:pt>
                  <c:pt idx="4">
                    <c:v>60-74</c:v>
                  </c:pt>
                  <c:pt idx="5">
                    <c:v>75-84</c:v>
                  </c:pt>
                  <c:pt idx="6">
                    <c:v>85+</c:v>
                  </c:pt>
                </c:lvl>
              </c:multiLvlStrCache>
            </c:multiLvlStrRef>
          </c:cat>
          <c:val>
            <c:numRef>
              <c:f>Sheet1!$B$2:$B$8</c:f>
              <c:numCache>
                <c:formatCode>General</c:formatCode>
                <c:ptCount val="7"/>
                <c:pt idx="0">
                  <c:v>94.7</c:v>
                </c:pt>
                <c:pt idx="1">
                  <c:v>95.5</c:v>
                </c:pt>
                <c:pt idx="2">
                  <c:v>88.3</c:v>
                </c:pt>
                <c:pt idx="3">
                  <c:v>89.8</c:v>
                </c:pt>
                <c:pt idx="4">
                  <c:v>87.5</c:v>
                </c:pt>
                <c:pt idx="5">
                  <c:v>78.1</c:v>
                </c:pt>
                <c:pt idx="6">
                  <c:v>75.1</c:v>
                </c:pt>
              </c:numCache>
            </c:numRef>
          </c:val>
        </c:ser>
        <c:dLbls>
          <c:numFmt formatCode="0.0&quot;%&quot;" sourceLinked="0"/>
          <c:txPr>
            <a:bodyPr/>
            <a:lstStyle/>
            <a:p>
              <a:pPr>
                <a:defRPr b="1" i="0" strike="noStrike" sz="1400" u="none">
                  <a:solidFill>
                    <a:srgbClr val="1B23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475"/>
                </a:solidFill>
                <a:latin typeface="Calibri"/>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s-ES"/>
  <c:roundedCorners val="1"/>
  <c:chart>
    <c:title>
      <c:tx>
        <c:rich>
          <a:bodyPr/>
          <a:lstStyle/>
          <a:p>
            <a:pPr>
              <a:defRPr sz="1400" b="0" i="0" u="none" strike="noStrike">
                <a:solidFill>
                  <a:srgbClr val="5B6475"/>
                </a:solidFill>
                <a:latin typeface="Calibri"/>
              </a:defRPr>
            </a:pPr>
            <a:r>
              <a:rPr sz="1400" b="0" i="0" u="none" strike="noStrike">
                <a:solidFill>
                  <a:srgbClr val="5B6475"/>
                </a:solidFill>
                <a:latin typeface="Calibri"/>
              </a:rPr>
              <a:t>Inscripciones a cursos del CPNL por año (no personas)</a:t>
            </a:r>
          </a:p>
        </c:rich>
      </c:tx>
      <c:layout/>
      <c:overlay val="0"/>
    </c:title>
    <c:autoTitleDeleted val="0"/>
    <c:plotArea>
      <c:layout/>
      <c:barChart>
        <c:barDir val="col"/>
        <c:grouping val="clustered"/>
        <c:varyColors val="0"/>
        <c:ser>
          <c:idx val="0"/>
          <c:order val="0"/>
          <c:tx>
            <c:strRef>
              <c:f>Sheet1!$B$1</c:f>
              <c:strCache>
                <c:ptCount val="1"/>
                <c:pt idx="0">
                  <c:v>Inscripciones</c:v>
                </c:pt>
              </c:strCache>
            </c:strRef>
          </c:tx>
          <c:spPr>
            <a:solidFill>
              <a:srgbClr val="1F4E8C"/>
            </a:solidFill>
            <a:effectLst/>
          </c:spPr>
          <c:invertIfNegative val="0"/>
          <c:dLbls>
            <c:dLbl>
              <c:idx val="0"/>
              <c:tx>
                <c:rich>
                  <a:bodyPr/>
                  <a:lstStyle/>
                  <a:p>
                    <a:r>
                      <a:rPr b="0" i="0" strike="noStrike" sz="1000" u="none" lang="es-ES">
                        <a:solidFill>
                          <a:srgbClr val="1B2333"/>
                        </a:solidFill>
                        <a:latin typeface="Calibri"/>
                      </a:rPr>
                      <a:t>105.605</a:t>
                    </a:r>
                  </a:p>
                </c:rich>
              </c:tx>
              <c:showLegendKey val="0"/>
              <c:showVal val="1"/>
              <c:showCatName val="0"/>
              <c:showSerName val="0"/>
              <c:showPercent val="0"/>
              <c:showBubbleSize val="0"/>
            </c:dLbl>
            <c:dLbl>
              <c:idx val="1"/>
              <c:tx>
                <c:rich>
                  <a:bodyPr/>
                  <a:lstStyle/>
                  <a:p>
                    <a:r>
                      <a:rPr b="0" i="0" strike="noStrike" sz="1000" u="none" lang="es-ES">
                        <a:solidFill>
                          <a:srgbClr val="1B2333"/>
                        </a:solidFill>
                        <a:latin typeface="Calibri"/>
                      </a:rPr>
                      <a:t>95.248</a:t>
                    </a:r>
                  </a:p>
                </c:rich>
              </c:tx>
              <c:showLegendKey val="0"/>
              <c:showVal val="1"/>
              <c:showCatName val="0"/>
              <c:showSerName val="0"/>
              <c:showPercent val="0"/>
              <c:showBubbleSize val="0"/>
            </c:dLbl>
            <c:dLbl>
              <c:idx val="2"/>
              <c:tx>
                <c:rich>
                  <a:bodyPr/>
                  <a:lstStyle/>
                  <a:p>
                    <a:r>
                      <a:rPr b="0" i="0" strike="noStrike" sz="1000" u="none" lang="es-ES">
                        <a:solidFill>
                          <a:srgbClr val="1B2333"/>
                        </a:solidFill>
                        <a:latin typeface="Calibri"/>
                      </a:rPr>
                      <a:t>74.345</a:t>
                    </a:r>
                  </a:p>
                </c:rich>
              </c:tx>
              <c:showLegendKey val="0"/>
              <c:showVal val="1"/>
              <c:showCatName val="0"/>
              <c:showSerName val="0"/>
              <c:showPercent val="0"/>
              <c:showBubbleSize val="0"/>
            </c:dLbl>
            <c:dLbl>
              <c:idx val="3"/>
              <c:tx>
                <c:rich>
                  <a:bodyPr/>
                  <a:lstStyle/>
                  <a:p>
                    <a:r>
                      <a:rPr b="0" i="0" strike="noStrike" sz="1000" u="none" lang="es-ES">
                        <a:solidFill>
                          <a:srgbClr val="1B2333"/>
                        </a:solidFill>
                        <a:latin typeface="Calibri"/>
                      </a:rPr>
                      <a:t>62.336</a:t>
                    </a:r>
                  </a:p>
                </c:rich>
              </c:tx>
              <c:showLegendKey val="0"/>
              <c:showVal val="1"/>
              <c:showCatName val="0"/>
              <c:showSerName val="0"/>
              <c:showPercent val="0"/>
              <c:showBubbleSize val="0"/>
            </c:dLbl>
            <c:dLbl>
              <c:idx val="4"/>
              <c:tx>
                <c:rich>
                  <a:bodyPr/>
                  <a:lstStyle/>
                  <a:p>
                    <a:r>
                      <a:rPr b="0" i="0" strike="noStrike" sz="1000" u="none" lang="es-ES">
                        <a:solidFill>
                          <a:srgbClr val="1B2333"/>
                        </a:solidFill>
                        <a:latin typeface="Calibri"/>
                      </a:rPr>
                      <a:t>65.194</a:t>
                    </a:r>
                  </a:p>
                </c:rich>
              </c:tx>
              <c:showLegendKey val="0"/>
              <c:showVal val="1"/>
              <c:showCatName val="0"/>
              <c:showSerName val="0"/>
              <c:showPercent val="0"/>
              <c:showBubbleSize val="0"/>
            </c:dLbl>
            <c:dLbl>
              <c:idx val="5"/>
              <c:tx>
                <c:rich>
                  <a:bodyPr/>
                  <a:lstStyle/>
                  <a:p>
                    <a:r>
                      <a:rPr b="0" i="0" strike="noStrike" sz="1000" u="none" lang="es-ES">
                        <a:solidFill>
                          <a:srgbClr val="1B2333"/>
                        </a:solidFill>
                        <a:latin typeface="Calibri"/>
                      </a:rPr>
                      <a:t>68.352</a:t>
                    </a:r>
                  </a:p>
                </c:rich>
              </c:tx>
              <c:showLegendKey val="0"/>
              <c:showVal val="1"/>
              <c:showCatName val="0"/>
              <c:showSerName val="0"/>
              <c:showPercent val="0"/>
              <c:showBubbleSize val="0"/>
            </c:dLbl>
            <c:dLbl>
              <c:idx val="6"/>
              <c:tx>
                <c:rich>
                  <a:bodyPr/>
                  <a:lstStyle/>
                  <a:p>
                    <a:r>
                      <a:rPr b="0" i="0" strike="noStrike" sz="1000" u="none" lang="es-ES">
                        <a:solidFill>
                          <a:srgbClr val="1B2333"/>
                        </a:solidFill>
                        <a:latin typeface="Calibri"/>
                      </a:rPr>
                      <a:t>71.040</a:t>
                    </a:r>
                  </a:p>
                </c:rich>
              </c:tx>
              <c:showLegendKey val="0"/>
              <c:showVal val="1"/>
              <c:showCatName val="0"/>
              <c:showSerName val="0"/>
              <c:showPercent val="0"/>
              <c:showBubbleSize val="0"/>
            </c:dLbl>
            <c:dLbl>
              <c:idx val="7"/>
              <c:tx>
                <c:rich>
                  <a:bodyPr/>
                  <a:lstStyle/>
                  <a:p>
                    <a:r>
                      <a:rPr b="0" i="0" strike="noStrike" sz="1000" u="none" lang="es-ES">
                        <a:solidFill>
                          <a:srgbClr val="1B2333"/>
                        </a:solidFill>
                        <a:latin typeface="Calibri"/>
                      </a:rPr>
                      <a:t>75.112</a:t>
                    </a:r>
                  </a:p>
                </c:rich>
              </c:tx>
              <c:showLegendKey val="0"/>
              <c:showVal val="1"/>
              <c:showCatName val="0"/>
              <c:showSerName val="0"/>
              <c:showPercent val="0"/>
              <c:showBubbleSize val="0"/>
            </c:dLbl>
            <c:dLbl>
              <c:idx val="8"/>
              <c:tx>
                <c:rich>
                  <a:bodyPr/>
                  <a:lstStyle/>
                  <a:p>
                    <a:r>
                      <a:rPr b="0" i="0" strike="noStrike" sz="1000" u="none" lang="es-ES">
                        <a:solidFill>
                          <a:srgbClr val="1B2333"/>
                        </a:solidFill>
                        <a:latin typeface="Calibri"/>
                      </a:rPr>
                      <a:t>85.185</a:t>
                    </a:r>
                  </a:p>
                </c:rich>
              </c:tx>
              <c:showLegendKey val="0"/>
              <c:showVal val="1"/>
              <c:showCatName val="0"/>
              <c:showSerName val="0"/>
              <c:showPercent val="0"/>
              <c:showBubbleSize val="0"/>
            </c:dLbl>
            <c:dLbl>
              <c:idx val="9"/>
              <c:tx>
                <c:rich>
                  <a:bodyPr/>
                  <a:lstStyle/>
                  <a:p>
                    <a:r>
                      <a:rPr b="0" i="0" strike="noStrike" sz="1000" u="none" lang="es-ES">
                        <a:solidFill>
                          <a:srgbClr val="1B2333"/>
                        </a:solidFill>
                        <a:latin typeface="Calibri"/>
                      </a:rPr>
                      <a:t>51.705</a:t>
                    </a:r>
                  </a:p>
                </c:rich>
              </c:tx>
              <c:showLegendKey val="0"/>
              <c:showVal val="1"/>
              <c:showCatName val="0"/>
              <c:showSerName val="0"/>
              <c:showPercent val="0"/>
              <c:showBubbleSize val="0"/>
            </c:dLbl>
            <c:dLbl>
              <c:idx val="10"/>
              <c:tx>
                <c:rich>
                  <a:bodyPr/>
                  <a:lstStyle/>
                  <a:p>
                    <a:r>
                      <a:rPr b="0" i="0" strike="noStrike" sz="1000" u="none" lang="es-ES">
                        <a:solidFill>
                          <a:srgbClr val="1B2333"/>
                        </a:solidFill>
                        <a:latin typeface="Calibri"/>
                      </a:rPr>
                      <a:t>72.411</a:t>
                    </a:r>
                  </a:p>
                </c:rich>
              </c:tx>
              <c:showLegendKey val="0"/>
              <c:showVal val="1"/>
              <c:showCatName val="0"/>
              <c:showSerName val="0"/>
              <c:showPercent val="0"/>
              <c:showBubbleSize val="0"/>
            </c:dLbl>
            <c:dLbl>
              <c:idx val="11"/>
              <c:tx>
                <c:rich>
                  <a:bodyPr/>
                  <a:lstStyle/>
                  <a:p>
                    <a:r>
                      <a:rPr b="0" i="0" strike="noStrike" sz="1000" u="none" lang="es-ES">
                        <a:solidFill>
                          <a:srgbClr val="1B2333"/>
                        </a:solidFill>
                        <a:latin typeface="Calibri"/>
                      </a:rPr>
                      <a:t>89.212</a:t>
                    </a:r>
                  </a:p>
                </c:rich>
              </c:tx>
              <c:showLegendKey val="0"/>
              <c:showVal val="1"/>
              <c:showCatName val="0"/>
              <c:showSerName val="0"/>
              <c:showPercent val="0"/>
              <c:showBubbleSize val="0"/>
            </c:dLbl>
            <c:dLbl>
              <c:idx val="12"/>
              <c:tx>
                <c:rich>
                  <a:bodyPr/>
                  <a:lstStyle/>
                  <a:p>
                    <a:r>
                      <a:rPr b="0" i="0" strike="noStrike" sz="1000" u="none" lang="es-ES">
                        <a:solidFill>
                          <a:srgbClr val="1B2333"/>
                        </a:solidFill>
                        <a:latin typeface="Calibri"/>
                      </a:rPr>
                      <a:t>97.244</a:t>
                    </a:r>
                  </a:p>
                </c:rich>
              </c:tx>
              <c:showLegendKey val="0"/>
              <c:showVal val="1"/>
              <c:showCatName val="0"/>
              <c:showSerName val="0"/>
              <c:showPercent val="0"/>
              <c:showBubbleSize val="0"/>
            </c:dLbl>
            <c:numFmt formatCode="#,##0" sourceLinked="0"/>
            <c:txPr>
              <a:bodyPr/>
              <a:lstStyle/>
              <a:p>
                <a:pPr>
                  <a:defRPr b="0" i="0" strike="noStrike" sz="1000" u="none">
                    <a:solidFill>
                      <a:srgbClr val="1B2333"/>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lvl>
              </c:multiLvlStrCache>
            </c:multiLvlStrRef>
          </c:cat>
          <c:val>
            <c:numRef>
              <c:f>Sheet1!$B$2:$B$14</c:f>
              <c:numCache>
                <c:formatCode>General</c:formatCode>
                <c:ptCount val="13"/>
                <c:pt idx="0">
                  <c:v>105605</c:v>
                </c:pt>
                <c:pt idx="1">
                  <c:v>95248</c:v>
                </c:pt>
                <c:pt idx="2">
                  <c:v>74345</c:v>
                </c:pt>
                <c:pt idx="3">
                  <c:v>62336</c:v>
                </c:pt>
                <c:pt idx="4">
                  <c:v>65194</c:v>
                </c:pt>
                <c:pt idx="5">
                  <c:v>68352</c:v>
                </c:pt>
                <c:pt idx="6">
                  <c:v>71040</c:v>
                </c:pt>
                <c:pt idx="7">
                  <c:v>75112</c:v>
                </c:pt>
                <c:pt idx="8">
                  <c:v>85185</c:v>
                </c:pt>
                <c:pt idx="9">
                  <c:v>51705</c:v>
                </c:pt>
                <c:pt idx="10">
                  <c:v>72411</c:v>
                </c:pt>
                <c:pt idx="11">
                  <c:v>89212</c:v>
                </c:pt>
                <c:pt idx="12">
                  <c:v>97244</c:v>
                </c:pt>
              </c:numCache>
            </c:numRef>
          </c:val>
        </c:ser>
        <c:dLbls>
          <c:numFmt formatCode="#,##0" sourceLinked="0"/>
          <c:txPr>
            <a:bodyPr/>
            <a:lstStyle/>
            <a:p>
              <a:pPr>
                <a:defRPr b="0" i="0" strike="noStrike" sz="1000" u="none">
                  <a:solidFill>
                    <a:srgbClr val="1B23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5"/>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s-ES"/>
  <c:roundedCorners val="1"/>
  <c:chart>
    <c:title>
      <c:tx>
        <c:rich>
          <a:bodyPr/>
          <a:lstStyle/>
          <a:p>
            <a:pPr>
              <a:defRPr sz="1400" b="0" i="0" u="none" strike="noStrike">
                <a:solidFill>
                  <a:srgbClr val="5B6475"/>
                </a:solidFill>
                <a:latin typeface="Calibri"/>
              </a:defRPr>
            </a:pPr>
            <a:r>
              <a:rPr sz="1400" b="0" i="0" u="none" strike="noStrike">
                <a:solidFill>
                  <a:srgbClr val="5B6475"/>
                </a:solidFill>
                <a:latin typeface="Calibri"/>
              </a:rPr>
              <a:t>Catalán como lengua habitual, % de la población de 15 años o más</a:t>
            </a:r>
          </a:p>
        </c:rich>
      </c:tx>
      <c:layout/>
      <c:overlay val="0"/>
    </c:title>
    <c:autoTitleDeleted val="0"/>
    <c:plotArea>
      <c:layout/>
      <c:lineChart>
        <c:varyColors val="0"/>
        <c:ser>
          <c:idx val="0"/>
          <c:order val="0"/>
          <c:tx>
            <c:strRef>
              <c:f>Sheet1!$B$1</c:f>
              <c:strCache>
                <c:ptCount val="1"/>
                <c:pt idx="0">
                  <c:v>Catalán como lengua habitual</c:v>
                </c:pt>
              </c:strCache>
            </c:strRef>
          </c:tx>
          <c:spPr>
            <a:solidFill>
              <a:srgbClr val="1F4E8C"/>
            </a:solidFill>
            <a:ln w="38100" cap="flat">
              <a:solidFill>
                <a:srgbClr val="1F4E8C"/>
              </a:solidFill>
              <a:prstDash val="solid"/>
              <a:round/>
            </a:ln>
            <a:effectLst/>
          </c:spPr>
          <c:invertIfNegative val="0"/>
          <c:dLbls>
            <c:dLbl>
              <c:idx val="0"/>
              <c:tx>
                <c:rich>
                  <a:bodyPr/>
                  <a:lstStyle/>
                  <a:p>
                    <a:r>
                      <a:rPr b="1" i="0" strike="noStrike" sz="1300" u="none" lang="es-ES">
                        <a:solidFill>
                          <a:srgbClr val="000000"/>
                        </a:solidFill>
                        <a:latin typeface="Calibri"/>
                      </a:rPr>
                      <a:t>35,6%</a:t>
                    </a:r>
                  </a:p>
                </c:rich>
              </c:tx>
              <c:dLblPos val="t"/>
              <c:showLegendKey val="0"/>
              <c:showVal val="1"/>
              <c:showCatName val="0"/>
              <c:showSerName val="0"/>
              <c:showPercent val="0"/>
              <c:showBubbleSize val="0"/>
            </c:dLbl>
            <c:dLbl>
              <c:idx val="1"/>
              <c:tx>
                <c:rich>
                  <a:bodyPr/>
                  <a:lstStyle/>
                  <a:p>
                    <a:r>
                      <a:rPr b="1" i="0" strike="noStrike" sz="1300" u="none" lang="es-ES">
                        <a:solidFill>
                          <a:srgbClr val="000000"/>
                        </a:solidFill>
                        <a:latin typeface="Calibri"/>
                      </a:rPr>
                      <a:t>36,3%</a:t>
                    </a:r>
                  </a:p>
                </c:rich>
              </c:tx>
              <c:dLblPos val="t"/>
              <c:showLegendKey val="0"/>
              <c:showVal val="1"/>
              <c:showCatName val="0"/>
              <c:showSerName val="0"/>
              <c:showPercent val="0"/>
              <c:showBubbleSize val="0"/>
            </c:dLbl>
            <c:dLbl>
              <c:idx val="2"/>
              <c:tx>
                <c:rich>
                  <a:bodyPr/>
                  <a:lstStyle/>
                  <a:p>
                    <a:r>
                      <a:rPr b="1" i="0" strike="noStrike" sz="1300" u="none" lang="es-ES">
                        <a:solidFill>
                          <a:srgbClr val="000000"/>
                        </a:solidFill>
                        <a:latin typeface="Calibri"/>
                      </a:rPr>
                      <a:t>36,1%</a:t>
                    </a:r>
                  </a:p>
                </c:rich>
              </c:tx>
              <c:dLblPos val="t"/>
              <c:showLegendKey val="0"/>
              <c:showVal val="1"/>
              <c:showCatName val="0"/>
              <c:showSerName val="0"/>
              <c:showPercent val="0"/>
              <c:showBubbleSize val="0"/>
            </c:dLbl>
            <c:dLbl>
              <c:idx val="3"/>
              <c:tx>
                <c:rich>
                  <a:bodyPr/>
                  <a:lstStyle/>
                  <a:p>
                    <a:r>
                      <a:rPr b="1" i="0" strike="noStrike" sz="1300" u="none" lang="es-ES">
                        <a:solidFill>
                          <a:srgbClr val="000000"/>
                        </a:solidFill>
                        <a:latin typeface="Calibri"/>
                      </a:rPr>
                      <a:t>32,6%</a:t>
                    </a:r>
                  </a:p>
                </c:rich>
              </c:tx>
              <c:dLblPos val="t"/>
              <c:showLegendKey val="0"/>
              <c:showVal val="1"/>
              <c:showCatName val="0"/>
              <c:showSerName val="0"/>
              <c:showPercent val="0"/>
              <c:showBubbleSize val="0"/>
            </c:dLbl>
            <c:numFmt formatCode="0.0&quot;%&quot;" sourceLinked="0"/>
            <c:txPr>
              <a:bodyPr/>
              <a:lstStyle/>
              <a:p>
                <a:pPr>
                  <a:defRPr b="1" i="0" strike="noStrike" sz="1300" u="none">
                    <a:solidFill>
                      <a:srgbClr val="000000"/>
                    </a:solidFill>
                    <a:latin typeface="Calibri"/>
                  </a:defRPr>
                </a:pPr>
              </a:p>
            </c:txPr>
            <c:dLblPos val="t"/>
            <c:showLegendKey val="0"/>
            <c:showVal val="1"/>
            <c:showCatName val="0"/>
            <c:showSerName val="0"/>
            <c:showPercent val="0"/>
            <c:showBubbleSize val="0"/>
            <c:showLeaderLines val="0"/>
          </c:dLbls>
          <c:marker>
            <c:symbol val="circle"/>
            <c:size val="9"/>
            <c:spPr>
              <a:solidFill>
                <a:srgbClr val="1F4E8C"/>
              </a:solidFill>
              <a:ln w="9525" cap="flat">
                <a:solidFill>
                  <a:srgbClr val="1F4E8C"/>
                </a:solidFill>
                <a:prstDash val="solid"/>
                <a:round/>
              </a:ln>
              <a:effectLst/>
            </c:spPr>
          </c:marker>
          <c:cat>
            <c:multiLvlStrRef>
              <c:f>Sheet1!$A$2:$A$5</c:f>
              <c:multiLvlStrCache>
                <c:ptCount val="4"/>
                <c:lvl>
                  <c:pt idx="0">
                    <c:v>2008</c:v>
                  </c:pt>
                  <c:pt idx="1">
                    <c:v>2013</c:v>
                  </c:pt>
                  <c:pt idx="2">
                    <c:v>2018</c:v>
                  </c:pt>
                  <c:pt idx="3">
                    <c:v>2023</c:v>
                  </c:pt>
                </c:lvl>
              </c:multiLvlStrCache>
            </c:multiLvlStrRef>
          </c:cat>
          <c:val>
            <c:numRef>
              <c:f>Sheet1!$B$2:$B$5</c:f>
              <c:numCache>
                <c:formatCode>General</c:formatCode>
                <c:ptCount val="4"/>
                <c:pt idx="0">
                  <c:v>35.6</c:v>
                </c:pt>
                <c:pt idx="1">
                  <c:v>36.3</c:v>
                </c:pt>
                <c:pt idx="2">
                  <c:v>36.1</c:v>
                </c:pt>
                <c:pt idx="3">
                  <c:v>32.6</c:v>
                </c:pt>
              </c:numCache>
            </c:numRef>
          </c:val>
          <c:smooth val="0"/>
        </c:ser>
        <c:dLbls>
          <c:numFmt formatCode="0.0&quot;%&quot;" sourceLinked="0"/>
          <c:txPr>
            <a:bodyPr/>
            <a:lstStyle/>
            <a:p>
              <a:pPr>
                <a:defRPr b="1" i="0" strike="noStrike" sz="1300" u="none">
                  <a:solidFill>
                    <a:srgbClr val="00000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475"/>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3E7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5"/>
                </a:solidFill>
                <a:latin typeface="Calibri"/>
              </a:defRPr>
            </a:pPr>
            <a:endParaRPr lang="en-US"/>
          </a:p>
        </c:txPr>
        <c:crossAx val="2094734554"/>
        <c:crosses val="autoZero"/>
        <c:crossBetween val="between"/>
        <c:majorUnit val="1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Soy un alumno de catalán que pone a prueba una frase que se repite.
"Bon dia!" [pausa, sonrisa] Buenos días. Me llamo Jorge, soy mexicano y hace un año que vivo en Barcelona. Desde que llegué estoy aprendiendo catalán.
En este año he escuchado muchas veces una frase: "el catalán se está muriendo". Por eso "apagando" va entre comillas: es lo que se dice. Hoy vamos a ver lo que dicen los datos.
→ Pero antes, una pregunta rápida.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Pregunta cerrada para enganchar; la respuesta llega en la diapositiva 12.
Respondan solo sí o no, levantando la mano. ¿Hoy hay menos personas que hablan catalán en su día a día que hace 15 años?
¿Quién cree que sí? [pausa, mirar a la sala] ¿Quién cree que no? [pausa] Guarden su respuesta: en unos minutos la vemos.
→ ¿Por qué pregunto esto? Por dos sensaciones que chocan.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Dos sensaciones opuestas; ninguna es un dato.
A un lado, lo que se oye en la calle: "el catalán se está muriendo". Al otro, lo que yo veo como alumno: clases llenas de gente de todo el mundo, contenido en catalán en 3Cat y muchas ganas de aprenderlo.
Las dos son sensaciones. Ninguna es un dato. Mi pregunta de investigación es sencilla: ¿qué dicen los datos oficiales?
→ Para responderla, convertí la frase en cuatro hipótesis.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Cuatro hipótesis comprobables.
Si el catalán se estuviera apagando, deberíamos ver cuatro cosas: uno, que cada vez menos gente lo sabe; dos, que los jóvenes ya no lo saben; tres, que casi nadie lo aprende; y cuatro, que cada vez menos gente lo usa.
Piensen para cada una si es mito o realidad: las vemos una por una.
→ Primero: ¿de dónde saqué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Cada fuente mide algo distinto, a una población distinta y con su propio calendario.</a:t>
            </a:r>
          </a:p>
          <a:p/>
          <a:p>
            <a:r>
              <a:t>Usé tres fuentes oficiales, y cada una tiene su propio reloj.</a:t>
            </a:r>
          </a:p>
          <a:p/>
          <a:p>
            <a:r>
              <a:t>Para SABER, los censos lingüísticos: cada cinco años desde 1986, luego un salto hasta 2011 y, en 2021, una encuesta del INE con una pregunta distinta, que por eso dejo aparte.</a:t>
            </a:r>
          </a:p>
          <a:p/>
          <a:p>
            <a:r>
              <a:t>Para USAR, la Encuesta de usos lingüísticos, la EULP: cada cinco años, con entre 7.000 y casi 9.000 entrevistas que representan a toda la población de 15 años o más. La de 2003 la uso solo como referencia, porque en 2008 cambió el cuestionario.</a:t>
            </a:r>
          </a:p>
          <a:p/>
          <a:p>
            <a:r>
              <a:t>Para APRENDER, las inscripciones del CPNL: cada año, más de un millón en trece años. Son inscripciones, no personas.</a:t>
            </a:r>
          </a:p>
          <a:p/>
          <a:p>
            <a:r>
              <a:t>¿Por qué no las uní? Porque miden cosas distintas, en poblaciones distintas y en años distintos. Por eso cada fuente es su propia tabla y ninguna se relaciona con otra: no hay una clave común que tenga sentido.</a:t>
            </a:r>
          </a:p>
          <a:p/>
          <a:p>
            <a:r>
              <a:t>→ Y antes de analizar, hubo que limpiar.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Los datos oficiales también fallan: más de 30 incidencias documentadas.
Aquí estuvo gran parte del trabajo: más de treinta incidencias, todas documentadas. Un ejemplo: la encuesta usa el número 9999999 para decir "dato no disponible". Si no lo detectas, lo sumas como si fuera un dato real... y como estaba en una columna de miles de personas, habría sumado casi 10.000 millones de personas: más que toda la población del planeta. [pausa]
Otras: en 2021, el 38% de las inscripciones no tenía origen, y había municipios con el código de otro.
Herramientas: Python con pandas para limpiar, con scripts que cualquiera puede volver a ejecutar; un dashboard en Streamlit; y todo en GitHub. Los gráficos que verán son versiones simplificadas del dashboard, con los mismos datos.
→ Con los datos limpios, vamos con la primera creencia.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Mito: cada vez más personas saben catalán.</a:t>
            </a:r>
          </a:p>
          <a:p/>
          <a:p>
            <a:r>
              <a:t>¿Cada vez menos personas saben catalán? [pausa] Mito.</a:t>
            </a:r>
          </a:p>
          <a:p/>
          <a:p>
            <a:r>
              <a:t>En 1986, 3,75 millones de personas sabían hablarlo; en 2011, 5,35 millones: un 42% más. Y no solo en personas: también en porcentaje, del 64% al 73% de la población. Son 9 puntos más.</a:t>
            </a:r>
          </a:p>
          <a:p/>
          <a:p>
            <a:r>
              <a:t>El 89,6% de 2021 lo dejo aparte: la pregunta cambió y ahora incluye "con dificultad".</a:t>
            </a:r>
          </a:p>
          <a:p/>
          <a:p>
            <a:r>
              <a:t>→ Vale, pero ¿y los jóvenes?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Mito: los jóvenes son quienes más lo saben.
¿Los jóvenes ya no lo saben? Mito, y es el más claro.
Los que más lo saben son los más jóvenes: el 95% de 2 a 29 años. Los que menos, los mayores de 75. Esta es la única fuente que incluye a los niños, y ahí se nota la escuela.
[Opcional] Un dato curioso de otra fuente, la EULP: al escribir la diferencia es aún mayor. Lo escribe el 92% de 15 a 19 años, frente a menos del 40% de los mayores de 75, que fueron a la escuela cuando el catalán no estaba en las aulas.
→ Tercera: ¿alguien lo está aprendiendo?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Mito: la demanda de cursos es alta y la protagoniza quien llega de fuera.</a:t>
            </a:r>
          </a:p>
          <a:p/>
          <a:p>
            <a:r>
              <a:t>¿Ya casi nadie lo aprende? Mito.</a:t>
            </a:r>
          </a:p>
          <a:p/>
          <a:p>
            <a:r>
              <a:t>En 2023 hubo 97.244 inscripciones a cursos del CPNL: más de 260 cada día del año. Es un 56% más que en 2014, el mínimo antes de la COVID, aunque todavía algo por debajo del máximo de 2011.</a:t>
            </a:r>
          </a:p>
          <a:p/>
          <a:p>
            <a:r>
              <a:t>¿Y quién aprende? En todo el periodo, el 73% de las inscripciones con origen conocido son de personas nacidas en el extranjero, y va en aumento: del 64,5% en 2011 al 84% en 2023. Y más de la mitad de ellas, de América del Sur y Central: gente que probablemente, en muchos casos, ya habla castellano, como yo, y aun así elige aprender catalán. Es justo lo que yo veo en clase.</a:t>
            </a:r>
          </a:p>
          <a:p/>
          <a:p>
            <a:r>
              <a:t>→ Y esto no pasa solo en Barcelona.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En los 8 ámbitos territoriales, al menos el 65% de quien aprende nació fuera.</a:t>
            </a:r>
          </a:p>
          <a:p/>
          <a:p>
            <a:r>
              <a:t>Cada barra es un ámbito territorial; el número de cada una está en el mapa de la derecha, del Pirineo al Ebro. En morado, las inscripciones de personas nacidas en el extranjero: en ningún ámbito bajan del 65%, y en las Comarques Centrals llegan al 85,5%. A la derecha de las barras, el total de inscripciones: dos de cada tres, en el ámbito Metropolità, el número 5.</a:t>
            </a:r>
          </a:p>
          <a:p/>
          <a:p>
            <a:r>
              <a:t>El catalán se aprende, sobre todo, como lengua de acogida.</a:t>
            </a:r>
          </a:p>
          <a:p/>
          <a:p>
            <a:r>
              <a:t>→ Tres mitos. Queda la cuarta, la que más se escucha.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Realidad, pero solo en porcentaje.</a:t>
            </a:r>
          </a:p>
          <a:p/>
          <a:p>
            <a:r>
              <a:t>¿Cada vez menos gente lo usa? Aquí la sensación tiene parte de razón: en porcentaje, es realidad.</a:t>
            </a:r>
          </a:p>
          <a:p/>
          <a:p>
            <a:r>
              <a:t>El catalán como lengua habitual pasa del 35,6% en 2008 al 32,6% en 2023: tres puntos menos, y casi toda la caída ocurre entre 2018 y 2023. Ojo: es quien tiene solo el catalán como lengua habitual, el indicador oficial. Si sumamos a quien tiene como lengua habitual el catalán y el castellano, en 2023 es el 42%, cuatro de cada diez. El 46% de 2003 solo lo uso como referencia, porque en 2008 cambió el cuestionario.</a:t>
            </a:r>
          </a:p>
          <a:p/>
          <a:p>
            <a:r>
              <a:t>Entonces... ¿se apaga? Antes de responder, miremos el mismo dato de otra forma.</a:t>
            </a:r>
          </a:p>
          <a:p/>
          <a:p>
            <a:r>
              <a:t>→ (La transición es la última frase.)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Los hablantes habituales no bajan: 2,2 millones de media. Crece la población.</a:t>
            </a:r>
          </a:p>
          <a:p/>
          <a:p>
            <a:r>
              <a:t>Este es, para mí, el gráfico más importante. En azul oscuro, las personas que tienen el catalán como lengua habitual: 2,2 millones en 2008... [pausa] y 2,2 millones en 2023. De media, 2,2 millones, y ninguna edición se aleja más de un 3% de esa media.</a:t>
            </a:r>
          </a:p>
          <a:p/>
          <a:p>
            <a:r>
              <a:t>¿Recuerdan la pregunta del principio? La respuesta es no: hoy hay prácticamente las mismas personas que hablan catalán en su día a día que hace quince años.</a:t>
            </a:r>
          </a:p>
          <a:p/>
          <a:p>
            <a:r>
              <a:t>Lo que cambia es el total, encima de cada barra: de 6,16 millones en 2008 a 6,79 en 2023, 623.000 habitantes más. Mismos hablantes en una Cataluña más grande: por eso baja el porcentaje.</a:t>
            </a:r>
          </a:p>
          <a:p/>
          <a:p>
            <a:r>
              <a:t>[pausa] Pero entonces, ¿por qué no crecen los hablantes si crece la población?</a:t>
            </a:r>
          </a:p>
          <a:p/>
          <a:p>
            <a:r>
              <a:t>→ (La transición es la última pregunta.)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La caída de 3 puntos se parte en dos: quién vive aquí (0,3) y cómo habla cada grupo (2,7).</a:t>
            </a:r>
          </a:p>
          <a:p/>
          <a:p>
            <a:r>
              <a:t>Este gráfico se lee como una cuenta, de izquierda a derecha. [señalar la primera barra] En 2008, el 35,6%.</a:t>
            </a:r>
          </a:p>
          <a:p/>
          <a:p>
            <a:r>
              <a:t>Primer escalón, en gris: ¿y si la caída fuera por quién vive aquí? Es decir, porque cambió la mezcla de la población: cuántos nacieron aquí, en el resto de España o fuera. Eso explica solo 0,3 puntos, casi nada, porque la mezcla casi no cambió: los nacidos en Cataluña eran el 58,6% y en 2023 el 58,8%.</a:t>
            </a:r>
          </a:p>
          <a:p/>
          <a:p>
            <a:r>
              <a:t>Segundo escalón, en naranja: cómo habla cada grupo. Aquí están 2,7 de los 3 puntos. Y viene sobre todo de los nacidos en Cataluña: casi todos saben hablarlo, el 97,8%, pero como lengua habitual pasa del 56% al 51%.</a:t>
            </a:r>
          </a:p>
          <a:p/>
          <a:p>
            <a:r>
              <a:t>Resultado: 32,6% en 2023. No es quién llega: es cómo se habla. Y desde 2013, entre ellos crece quien combina catalán y castellano.</a:t>
            </a:r>
          </a:p>
          <a:p/>
          <a:p>
            <a:r>
              <a:t>→ ¿Y dónde se usa más y menos?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Depende del territorio y de la situación; lo digital es lo más bajo.</a:t>
            </a:r>
          </a:p>
          <a:p/>
          <a:p>
            <a:r>
              <a:t>Depende mucho del territorio. En las Terres de l'Ebre, dos de cada tres personas lo tienen como lengua habitual; en el ámbito metropolitano de Barcelona, una de cada cuatro. Y ahí vive la mayor parte de la población. Cada porcentaje del mapa es el de su ámbito, sobre su población de 15 años o más, en 2023.</a:t>
            </a:r>
          </a:p>
          <a:p/>
          <a:p>
            <a:r>
              <a:t>Y depende de la situación: con el ayuntamiento es donde más se usa, casi la mitad. Donde menos, en lo digital: al publicar en redes sociales, el 20%. Guarden este dato: vuelve al final.</a:t>
            </a:r>
          </a:p>
          <a:p/>
          <a:p>
            <a:r>
              <a:t>[Opcional: 30 segundos de demo del mapa en vivo.]</a:t>
            </a:r>
          </a:p>
          <a:p/>
          <a:p>
            <a:r>
              <a:t>→ Es hora del veredicto.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No se apaga: se transforma.</a:t>
            </a:r>
          </a:p>
          <a:p/>
          <a:p>
            <a:r>
              <a:t>Tres de las cuatro creencias son mito. La cuarta es realidad, pero solo en porcentaje. Y a la pregunta del principio, la respuesta era no.</a:t>
            </a:r>
          </a:p>
          <a:p/>
          <a:p>
            <a:r>
              <a:t>Mi conclusión: el catalán no se apaga, se transforma. Cada vez más gente lo sabe, se sigue aprendiendo y sus hablantes habituales se mantienen. Lo que cambia es cómo se usa: desde 2013, cada vez más combinado con el castellano.</a:t>
            </a:r>
          </a:p>
          <a:p/>
          <a:p>
            <a:r>
              <a:t>→ ¿Y para qué sirve saber esto?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Tres decisiones: cursos a medida, pasar del saber al usar y lo digital.
Para decidir mejor. Uno, los cursos: la mayoría de quien aprende nació fuera, y muchos probablemente ya hablan castellano. Se pueden diseñar cursos pensados para hispanohablantes, que partan de lo que las dos lenguas comparten.
Dos, del saber al usar: en el ámbito metropolitano, el 78% sabe hablar catalán, pero solo el 25% lo usa habitualmente. Ahí la distancia es mayor, y lo que falta no son solo cursos, sino ocasiones de practicar, como el Voluntariat per la llengua del CPNL.
Tres, lo digital: es donde menos se usa, así que ahí hay más margen. Y vale también para empresas y plataformas: en qué idioma atienden y qué contenido ofrecen es una decisión de negocio.
→ Y, por honestidad, lo que estos datos no permiten decir.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Describo qué cambia y dónde, no por qué.
Cuatro límites: las encuestas tienen margen de error; las inscripciones no son personas; hay cortes metodológicos que no mezclo; y, sobre todo, esto describe qué cambia y dónde, no explica por qué.
→ Y eso nos lleva a lo que me gustaría investigar.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Tres preguntas abiertas: pantallas, cambio de lengua y casa.
Uno, las pantallas: yo veo 3Cat para aprender, pero ¿qué ve quien ya lo habla? ¿Cambió su uso con Netflix y las plataformas? Recuerden: lo digital es donde menos catalán hay.
Dos, algo que me pasa a menudo: hablo en catalán y me contestan en castellano. La encuesta pregunta por esa situación: ¿cuánto frena a quien aprende?
Tres, lo que pasa en casa: si la lengua se transmite de padres a hijos. Son hipótesis, no conclusiones: el siguiente proyecto.
→ (Pasa directo al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Frase final en catalán.
"El català no s'apaga: es transforma." [pausa] Moltes gràcies! El código, los datos y el dashboard están en el repositorio, y las fuentes con sus enlaces, en la última diapositiva. Encantado de responder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Enlaces de descarga de cada fuente, por si alguien quiere usarlas.
Aquí están los enlaces de descarga de cada fuente. Los mismos están en el README del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hyperlink" Target="https://github.com/joagli/Proyecto_Final_ITAcademy" TargetMode="External"/><Relationship Id="rId3" Type="http://schemas.openxmlformats.org/officeDocument/2006/relationships/image" Target="../media/image-19-2.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idescat.cat/pub/?id=eulp" TargetMode="External"/><Relationship Id="rId2" Type="http://schemas.openxmlformats.org/officeDocument/2006/relationships/hyperlink" Target="https://www.idescat.cat/novetats/?id=5382" TargetMode="External"/><Relationship Id="rId3" Type="http://schemas.openxmlformats.org/officeDocument/2006/relationships/hyperlink" Target="https://www.idescat.cat/indicadors/?id=basics&amp;n=10363" TargetMode="External"/><Relationship Id="rId4" Type="http://schemas.openxmlformats.org/officeDocument/2006/relationships/hyperlink" Target="https://govern.cat/govern/docs/2013/11/21/10/04/983677eb-2b2a-43ae-8793-9b22bd2a6cb4.pdf" TargetMode="External"/><Relationship Id="rId5" Type="http://schemas.openxmlformats.org/officeDocument/2006/relationships/hyperlink" Target="https://www.ine.es/dynt3/metadatos/es/RespuestaPrint.html?oper=448" TargetMode="External"/><Relationship Id="rId6" Type="http://schemas.openxmlformats.org/officeDocument/2006/relationships/hyperlink" Target="https://analisi.transparenciacatalunya.cat/d/q9ct-fkjt" TargetMode="External"/><Relationship Id="rId7" Type="http://schemas.openxmlformats.org/officeDocument/2006/relationships/hyperlink" Target="https://www.icgc.cat/ca/Geoinformacio-i-mapes/Dades-i-productes/Geoinformacio-cartografica/Divisions-administratives" TargetMode="External"/><Relationship Id="rId8" Type="http://schemas.openxmlformats.org/officeDocument/2006/relationships/hyperlink" Target="https://github.com/joagli/Proyecto_Final_ITAcademy" TargetMode="External"/><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1463040"/>
            <a:ext cx="6309360" cy="2011680"/>
          </a:xfrm>
          <a:prstGeom prst="rect">
            <a:avLst/>
          </a:prstGeom>
          <a:noFill/>
          <a:ln/>
        </p:spPr>
        <p:txBody>
          <a:bodyPr wrap="square" lIns="0" tIns="0" rIns="0" bIns="0" rtlCol="0" anchor="b"/>
          <a:lstStyle/>
          <a:p>
            <a:pPr indent="0" marL="0">
              <a:buNone/>
            </a:pPr>
            <a:r>
              <a:rPr lang="en-US" sz="4600" b="1" dirty="0">
                <a:solidFill>
                  <a:srgbClr val="FFFFFF"/>
                </a:solidFill>
                <a:latin typeface="Cambria" pitchFamily="34" charset="0"/>
                <a:ea typeface="Cambria" pitchFamily="34" charset="-122"/>
                <a:cs typeface="Cambria" pitchFamily="34" charset="-120"/>
              </a:rPr>
              <a:t>¿Se está "apagando"</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el catalán?</a:t>
            </a:r>
            <a:endParaRPr lang="en-US" sz="4600" dirty="0"/>
          </a:p>
        </p:txBody>
      </p:sp>
      <p:sp>
        <p:nvSpPr>
          <p:cNvPr id="3" name="Text 1"/>
          <p:cNvSpPr txBox="1"/>
          <p:nvPr/>
        </p:nvSpPr>
        <p:spPr>
          <a:xfrm>
            <a:off x="640080" y="3611880"/>
            <a:ext cx="6309360" cy="548640"/>
          </a:xfrm>
          <a:prstGeom prst="rect">
            <a:avLst/>
          </a:prstGeom>
          <a:noFill/>
          <a:ln/>
        </p:spPr>
        <p:txBody>
          <a:bodyPr wrap="square" lIns="0" tIns="0" rIns="0" bIns="0" rtlCol="0" anchor="ctr"/>
          <a:lstStyle/>
          <a:p>
            <a:pPr indent="0" marL="0">
              <a:buNone/>
            </a:pPr>
            <a:r>
              <a:rPr lang="en-US" sz="2400" i="1" dirty="0">
                <a:solidFill>
                  <a:srgbClr val="F2A93B"/>
                </a:solidFill>
                <a:latin typeface="Calibri" pitchFamily="34" charset="0"/>
                <a:ea typeface="Calibri" pitchFamily="34" charset="-122"/>
                <a:cs typeface="Calibri" pitchFamily="34" charset="-120"/>
              </a:rPr>
              <a:t>Lo que se dice y lo que dicen los datos</a:t>
            </a:r>
            <a:endParaRPr lang="en-US" sz="2400" dirty="0"/>
          </a:p>
        </p:txBody>
      </p:sp>
      <p:sp>
        <p:nvSpPr>
          <p:cNvPr id="4" name="Text 2"/>
          <p:cNvSpPr txBox="1"/>
          <p:nvPr/>
        </p:nvSpPr>
        <p:spPr>
          <a:xfrm>
            <a:off x="640080" y="4937760"/>
            <a:ext cx="6309360" cy="1005840"/>
          </a:xfrm>
          <a:prstGeom prst="rect">
            <a:avLst/>
          </a:prstGeom>
          <a:noFill/>
          <a:ln/>
        </p:spPr>
        <p:txBody>
          <a:bodyPr wrap="square" lIns="0" tIns="0" rIns="0" bIns="0" rtlCol="0" anchor="ctr"/>
          <a:lstStyle/>
          <a:p>
            <a:pPr indent="0" marL="0">
              <a:buNone/>
            </a:pPr>
            <a:r>
              <a:rPr lang="en-US" sz="1400" b="1" dirty="0">
                <a:solidFill>
                  <a:srgbClr val="C9D1E0"/>
                </a:solidFill>
                <a:latin typeface="Calibri" pitchFamily="34" charset="0"/>
                <a:ea typeface="Calibri" pitchFamily="34" charset="-122"/>
                <a:cs typeface="Calibri" pitchFamily="34" charset="-120"/>
              </a:rPr>
              <a:t>Jorge Aguilar Liévanos</a:t>
            </a:r>
            <a:endParaRPr lang="en-US" sz="1400" dirty="0"/>
          </a:p>
          <a:p>
            <a:pPr indent="0" marL="0">
              <a:buNone/>
            </a:pPr>
            <a:r>
              <a:rPr lang="en-US" sz="1400" dirty="0">
                <a:solidFill>
                  <a:srgbClr val="C9D1E0"/>
                </a:solidFill>
                <a:latin typeface="Calibri" pitchFamily="34" charset="0"/>
                <a:ea typeface="Calibri" pitchFamily="34" charset="-122"/>
                <a:cs typeface="Calibri" pitchFamily="34" charset="-120"/>
              </a:rPr>
              <a:t>Proyecto final · Data Analytics · IT Academy</a:t>
            </a:r>
            <a:endParaRPr lang="en-US" sz="1400" dirty="0"/>
          </a:p>
          <a:p>
            <a:pPr indent="0" marL="0">
              <a:buNone/>
            </a:pPr>
            <a:r>
              <a:rPr lang="en-US" sz="1400" dirty="0">
                <a:solidFill>
                  <a:srgbClr val="C9D1E0"/>
                </a:solidFill>
                <a:latin typeface="Calibri" pitchFamily="34" charset="0"/>
                <a:ea typeface="Calibri" pitchFamily="34" charset="-122"/>
                <a:cs typeface="Calibri" pitchFamily="34" charset="-120"/>
              </a:rPr>
              <a:t>30 de septiembre de 2026</a:t>
            </a:r>
            <a:endParaRPr lang="en-US" sz="1400" dirty="0"/>
          </a:p>
        </p:txBody>
      </p:sp>
      <p:sp>
        <p:nvSpPr>
          <p:cNvPr id="5" name="Shape 3"/>
          <p:cNvSpPr/>
          <p:nvPr/>
        </p:nvSpPr>
        <p:spPr>
          <a:xfrm>
            <a:off x="7498080" y="822960"/>
            <a:ext cx="2834640" cy="731520"/>
          </a:xfrm>
          <a:prstGeom prst="wedgeRoundRectCallout">
            <a:avLst/>
          </a:prstGeom>
          <a:solidFill>
            <a:srgbClr val="2B3A5C"/>
          </a:solidFill>
          <a:ln w="12700">
            <a:solidFill>
              <a:srgbClr val="2B3A5C"/>
            </a:solidFill>
            <a:prstDash val="solid"/>
          </a:ln>
        </p:spPr>
      </p:sp>
      <p:sp>
        <p:nvSpPr>
          <p:cNvPr id="6" name="Text 4"/>
          <p:cNvSpPr txBox="1"/>
          <p:nvPr/>
        </p:nvSpPr>
        <p:spPr>
          <a:xfrm>
            <a:off x="7498080" y="822960"/>
            <a:ext cx="2834640" cy="73152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¡Buenos días!</a:t>
            </a:r>
            <a:endParaRPr lang="en-US" sz="2200" dirty="0"/>
          </a:p>
        </p:txBody>
      </p:sp>
      <p:sp>
        <p:nvSpPr>
          <p:cNvPr id="7" name="Shape 5"/>
          <p:cNvSpPr/>
          <p:nvPr/>
        </p:nvSpPr>
        <p:spPr>
          <a:xfrm>
            <a:off x="9144000" y="2057400"/>
            <a:ext cx="2560320" cy="731520"/>
          </a:xfrm>
          <a:prstGeom prst="wedgeRoundRectCallout">
            <a:avLst/>
          </a:prstGeom>
          <a:solidFill>
            <a:srgbClr val="2B3A5C"/>
          </a:solidFill>
          <a:ln w="12700">
            <a:solidFill>
              <a:srgbClr val="2B3A5C"/>
            </a:solidFill>
            <a:prstDash val="solid"/>
          </a:ln>
        </p:spPr>
      </p:sp>
      <p:sp>
        <p:nvSpPr>
          <p:cNvPr id="8" name="Text 6"/>
          <p:cNvSpPr txBox="1"/>
          <p:nvPr/>
        </p:nvSpPr>
        <p:spPr>
          <a:xfrm>
            <a:off x="9144000" y="2057400"/>
            <a:ext cx="2560320" cy="731520"/>
          </a:xfrm>
          <a:prstGeom prst="rect">
            <a:avLst/>
          </a:prstGeom>
          <a:noFill/>
          <a:ln/>
        </p:spPr>
        <p:txBody>
          <a:bodyPr wrap="square" lIns="0" tIns="0" rIns="0" bIns="0" rtlCol="0" anchor="ctr"/>
          <a:lstStyle/>
          <a:p>
            <a:pPr algn="ctr" indent="0" marL="0">
              <a:buNone/>
            </a:pPr>
            <a:r>
              <a:rPr lang="en-US" sz="1800" dirty="0">
                <a:solidFill>
                  <a:srgbClr val="C9D1E0"/>
                </a:solidFill>
                <a:latin typeface="Calibri" pitchFamily="34" charset="0"/>
                <a:ea typeface="Calibri" pitchFamily="34" charset="-122"/>
                <a:cs typeface="Calibri" pitchFamily="34" charset="-120"/>
              </a:rPr>
              <a:t>Good morning</a:t>
            </a:r>
            <a:endParaRPr lang="en-US" sz="1800" dirty="0"/>
          </a:p>
        </p:txBody>
      </p:sp>
      <p:sp>
        <p:nvSpPr>
          <p:cNvPr id="9" name="Shape 7"/>
          <p:cNvSpPr/>
          <p:nvPr/>
        </p:nvSpPr>
        <p:spPr>
          <a:xfrm>
            <a:off x="7315200" y="2926080"/>
            <a:ext cx="3566160" cy="1325880"/>
          </a:xfrm>
          <a:prstGeom prst="wedgeRoundRectCallout">
            <a:avLst/>
          </a:prstGeom>
          <a:solidFill>
            <a:srgbClr val="F2A93B"/>
          </a:solidFill>
          <a:ln w="12700">
            <a:solidFill>
              <a:srgbClr val="F2A93B"/>
            </a:solidFill>
            <a:prstDash val="solid"/>
          </a:ln>
          <a:effectLst>
            <a:outerShdw sx="100000" sy="100000" kx="0" ky="0" algn="bl" rotWithShape="0" blurRad="228600" dist="50800" dir="5400000">
              <a:srgbClr val="F2A93B">
                <a:alpha val="60000"/>
              </a:srgbClr>
            </a:outerShdw>
          </a:effectLst>
        </p:spPr>
      </p:sp>
      <p:sp>
        <p:nvSpPr>
          <p:cNvPr id="10" name="Text 8"/>
          <p:cNvSpPr txBox="1"/>
          <p:nvPr/>
        </p:nvSpPr>
        <p:spPr>
          <a:xfrm>
            <a:off x="7315200" y="2926080"/>
            <a:ext cx="3566160" cy="1325880"/>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Bon dia!</a:t>
            </a:r>
            <a:endParaRPr lang="en-US" sz="4000" dirty="0"/>
          </a:p>
        </p:txBody>
      </p:sp>
      <p:sp>
        <p:nvSpPr>
          <p:cNvPr id="11" name="Shape 9"/>
          <p:cNvSpPr/>
          <p:nvPr/>
        </p:nvSpPr>
        <p:spPr>
          <a:xfrm>
            <a:off x="8595360" y="4617720"/>
            <a:ext cx="2926080" cy="731520"/>
          </a:xfrm>
          <a:prstGeom prst="wedgeRoundRectCallout">
            <a:avLst/>
          </a:prstGeom>
          <a:solidFill>
            <a:srgbClr val="2B3A5C"/>
          </a:solidFill>
          <a:ln w="12700">
            <a:solidFill>
              <a:srgbClr val="2B3A5C"/>
            </a:solidFill>
            <a:prstDash val="solid"/>
          </a:ln>
        </p:spPr>
      </p:sp>
      <p:sp>
        <p:nvSpPr>
          <p:cNvPr id="12" name="Text 10"/>
          <p:cNvSpPr txBox="1"/>
          <p:nvPr/>
        </p:nvSpPr>
        <p:spPr>
          <a:xfrm>
            <a:off x="8595360" y="4617720"/>
            <a:ext cx="2926080" cy="731520"/>
          </a:xfrm>
          <a:prstGeom prst="rect">
            <a:avLst/>
          </a:prstGeom>
          <a:noFill/>
          <a:ln/>
        </p:spPr>
        <p:txBody>
          <a:bodyPr wrap="square" lIns="0" tIns="0" rIns="0" bIns="0" rtlCol="0" anchor="ctr"/>
          <a:lstStyle/>
          <a:p>
            <a:pPr algn="ctr" indent="0" marL="0">
              <a:buNone/>
            </a:pPr>
            <a:r>
              <a:rPr lang="en-US" sz="1800" dirty="0">
                <a:solidFill>
                  <a:srgbClr val="C9D1E0"/>
                </a:solidFill>
                <a:latin typeface="Calibri" pitchFamily="34" charset="0"/>
                <a:ea typeface="Calibri" pitchFamily="34" charset="-122"/>
                <a:cs typeface="Calibri" pitchFamily="34" charset="-120"/>
              </a:rPr>
              <a:t>Bună dimineața</a:t>
            </a:r>
            <a:endParaRPr lang="en-US" sz="1800" dirty="0"/>
          </a:p>
        </p:txBody>
      </p:sp>
      <p:sp>
        <p:nvSpPr>
          <p:cNvPr id="13" name="Shape 11"/>
          <p:cNvSpPr/>
          <p:nvPr/>
        </p:nvSpPr>
        <p:spPr>
          <a:xfrm>
            <a:off x="7223760" y="5394960"/>
            <a:ext cx="1920240" cy="731520"/>
          </a:xfrm>
          <a:prstGeom prst="wedgeRoundRectCallout">
            <a:avLst/>
          </a:prstGeom>
          <a:solidFill>
            <a:srgbClr val="2B3A5C"/>
          </a:solidFill>
          <a:ln w="12700">
            <a:solidFill>
              <a:srgbClr val="2B3A5C"/>
            </a:solidFill>
            <a:prstDash val="solid"/>
          </a:ln>
        </p:spPr>
      </p:sp>
      <p:sp>
        <p:nvSpPr>
          <p:cNvPr id="14" name="Text 12"/>
          <p:cNvSpPr txBox="1"/>
          <p:nvPr/>
        </p:nvSpPr>
        <p:spPr>
          <a:xfrm>
            <a:off x="7223760" y="5394960"/>
            <a:ext cx="1920240" cy="731520"/>
          </a:xfrm>
          <a:prstGeom prst="rect">
            <a:avLst/>
          </a:prstGeom>
          <a:noFill/>
          <a:ln/>
        </p:spPr>
        <p:txBody>
          <a:bodyPr wrap="square" lIns="0" tIns="0" rIns="0" bIns="0" rtlCol="0" anchor="ctr"/>
          <a:lstStyle/>
          <a:p>
            <a:pPr algn="ctr" indent="0" marL="0">
              <a:buNone/>
            </a:pPr>
            <a:r>
              <a:rPr lang="en-US" sz="1600" dirty="0">
                <a:solidFill>
                  <a:srgbClr val="C9D1E0"/>
                </a:solidFill>
                <a:latin typeface="Calibri" pitchFamily="34" charset="0"/>
                <a:ea typeface="Calibri" pitchFamily="34" charset="-122"/>
                <a:cs typeface="Calibri" pitchFamily="34" charset="-120"/>
              </a:rPr>
              <a:t>Bom dia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548640"/>
          </a:xfrm>
          <a:prstGeom prst="rect">
            <a:avLst/>
          </a:prstGeom>
          <a:noFill/>
          <a:ln/>
        </p:spPr>
        <p:txBody>
          <a:bodyPr wrap="square" lIns="0" tIns="0" rIns="0" bIns="0" rtlCol="0" anchor="ctr"/>
          <a:lstStyle/>
          <a:p>
            <a:pPr indent="0" marL="0">
              <a:buNone/>
            </a:pPr>
            <a:r>
              <a:rPr lang="en-US" sz="2000" i="1" dirty="0">
                <a:solidFill>
                  <a:srgbClr val="F2A93B"/>
                </a:solidFill>
                <a:latin typeface="Calibri" pitchFamily="34" charset="0"/>
                <a:ea typeface="Calibri" pitchFamily="34" charset="-122"/>
                <a:cs typeface="Calibri" pitchFamily="34" charset="-120"/>
              </a:rPr>
              <a:t>Una pregunta antes de empezar</a:t>
            </a:r>
            <a:endParaRPr lang="en-US" sz="2000" dirty="0"/>
          </a:p>
        </p:txBody>
      </p:sp>
      <p:sp>
        <p:nvSpPr>
          <p:cNvPr id="3" name="Text 1"/>
          <p:cNvSpPr txBox="1"/>
          <p:nvPr/>
        </p:nvSpPr>
        <p:spPr>
          <a:xfrm>
            <a:off x="640080" y="1371600"/>
            <a:ext cx="10911535" cy="256032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¿Hoy hay menos personas que hablan catalán en su día a día que hace 15 años?</a:t>
            </a:r>
            <a:endParaRPr lang="en-US" sz="4200" dirty="0"/>
          </a:p>
        </p:txBody>
      </p:sp>
      <p:sp>
        <p:nvSpPr>
          <p:cNvPr id="4" name="Shape 2"/>
          <p:cNvSpPr/>
          <p:nvPr/>
        </p:nvSpPr>
        <p:spPr>
          <a:xfrm>
            <a:off x="3584448" y="4251960"/>
            <a:ext cx="2103120" cy="914400"/>
          </a:xfrm>
          <a:prstGeom prst="roundRect">
            <a:avLst>
              <a:gd name="adj" fmla="val 50000"/>
            </a:avLst>
          </a:prstGeom>
          <a:solidFill>
            <a:srgbClr val="2B3A5C"/>
          </a:solidFill>
          <a:ln w="25400">
            <a:solidFill>
              <a:srgbClr val="F2A93B"/>
            </a:solidFill>
            <a:prstDash val="solid"/>
          </a:ln>
        </p:spPr>
      </p:sp>
      <p:sp>
        <p:nvSpPr>
          <p:cNvPr id="5" name="Text 3"/>
          <p:cNvSpPr txBox="1"/>
          <p:nvPr/>
        </p:nvSpPr>
        <p:spPr>
          <a:xfrm>
            <a:off x="3584448" y="4251960"/>
            <a:ext cx="210312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Sí</a:t>
            </a:r>
            <a:endParaRPr lang="en-US" sz="3600" dirty="0"/>
          </a:p>
        </p:txBody>
      </p:sp>
      <p:sp>
        <p:nvSpPr>
          <p:cNvPr id="6" name="Shape 4"/>
          <p:cNvSpPr/>
          <p:nvPr/>
        </p:nvSpPr>
        <p:spPr>
          <a:xfrm>
            <a:off x="6510528" y="4251960"/>
            <a:ext cx="2103120" cy="914400"/>
          </a:xfrm>
          <a:prstGeom prst="roundRect">
            <a:avLst>
              <a:gd name="adj" fmla="val 50000"/>
            </a:avLst>
          </a:prstGeom>
          <a:solidFill>
            <a:srgbClr val="2B3A5C"/>
          </a:solidFill>
          <a:ln w="25400">
            <a:solidFill>
              <a:srgbClr val="F2A93B"/>
            </a:solidFill>
            <a:prstDash val="solid"/>
          </a:ln>
        </p:spPr>
      </p:sp>
      <p:sp>
        <p:nvSpPr>
          <p:cNvPr id="7" name="Text 5"/>
          <p:cNvSpPr txBox="1"/>
          <p:nvPr/>
        </p:nvSpPr>
        <p:spPr>
          <a:xfrm>
            <a:off x="6510528" y="4251960"/>
            <a:ext cx="210312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No</a:t>
            </a:r>
            <a:endParaRPr lang="en-US" sz="3600" dirty="0"/>
          </a:p>
        </p:txBody>
      </p:sp>
      <p:sp>
        <p:nvSpPr>
          <p:cNvPr id="8" name="Text 6"/>
          <p:cNvSpPr txBox="1"/>
          <p:nvPr/>
        </p:nvSpPr>
        <p:spPr>
          <a:xfrm>
            <a:off x="640080" y="5623560"/>
            <a:ext cx="10911535" cy="457200"/>
          </a:xfrm>
          <a:prstGeom prst="rect">
            <a:avLst/>
          </a:prstGeom>
          <a:noFill/>
          <a:ln/>
        </p:spPr>
        <p:txBody>
          <a:bodyPr wrap="square" lIns="0" tIns="0" rIns="0" bIns="0" rtlCol="0" anchor="ctr"/>
          <a:lstStyle/>
          <a:p>
            <a:pPr algn="ctr" indent="0" marL="0">
              <a:buNone/>
            </a:pPr>
            <a:r>
              <a:rPr lang="en-US" sz="1600" dirty="0">
                <a:solidFill>
                  <a:srgbClr val="C9D1E0"/>
                </a:solidFill>
                <a:latin typeface="Calibri" pitchFamily="34" charset="0"/>
                <a:ea typeface="Calibri" pitchFamily="34" charset="-122"/>
                <a:cs typeface="Calibri" pitchFamily="34" charset="-120"/>
              </a:rPr>
              <a:t>Levanten la mano. La respuesta, en unos minutos.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Una sensación contra otra</a:t>
            </a:r>
            <a:endParaRPr lang="en-US" sz="3200" dirty="0"/>
          </a:p>
        </p:txBody>
      </p:sp>
      <p:sp>
        <p:nvSpPr>
          <p:cNvPr id="3" name="Shape 1"/>
          <p:cNvSpPr/>
          <p:nvPr/>
        </p:nvSpPr>
        <p:spPr>
          <a:xfrm>
            <a:off x="548640" y="1463040"/>
            <a:ext cx="5394960" cy="4206240"/>
          </a:xfrm>
          <a:prstGeom prst="roundRect">
            <a:avLst>
              <a:gd name="adj" fmla="val 2609"/>
            </a:avLst>
          </a:prstGeom>
          <a:solidFill>
            <a:srgbClr val="F3F5F9"/>
          </a:solidFill>
          <a:ln w="12700">
            <a:solidFill>
              <a:srgbClr val="F3F5F9"/>
            </a:solidFill>
            <a:prstDash val="solid"/>
          </a:ln>
        </p:spPr>
      </p:sp>
      <p:pic>
        <p:nvPicPr>
          <p:cNvPr id="4" name="Image 0" descr="preencoded.png">    </p:cNvPr>
          <p:cNvPicPr>
            <a:picLocks noChangeAspect="1"/>
          </p:cNvPicPr>
          <p:nvPr/>
        </p:nvPicPr>
        <p:blipFill>
          <a:blip r:embed="rId1"/>
          <a:stretch>
            <a:fillRect/>
          </a:stretch>
        </p:blipFill>
        <p:spPr>
          <a:xfrm>
            <a:off x="868680" y="1783080"/>
            <a:ext cx="548640" cy="548640"/>
          </a:xfrm>
          <a:prstGeom prst="rect">
            <a:avLst/>
          </a:prstGeom>
        </p:spPr>
      </p:pic>
      <p:sp>
        <p:nvSpPr>
          <p:cNvPr id="5" name="Text 2"/>
          <p:cNvSpPr txBox="1"/>
          <p:nvPr/>
        </p:nvSpPr>
        <p:spPr>
          <a:xfrm>
            <a:off x="1600200" y="1783080"/>
            <a:ext cx="4114800" cy="548640"/>
          </a:xfrm>
          <a:prstGeom prst="rect">
            <a:avLst/>
          </a:prstGeom>
          <a:noFill/>
          <a:ln/>
        </p:spPr>
        <p:txBody>
          <a:bodyPr wrap="square" lIns="0" tIns="0" rIns="0" bIns="0" rtlCol="0" anchor="ctr"/>
          <a:lstStyle/>
          <a:p>
            <a:pPr indent="0" marL="0">
              <a:buNone/>
            </a:pPr>
            <a:r>
              <a:rPr lang="en-US" sz="1800" b="1" dirty="0">
                <a:solidFill>
                  <a:srgbClr val="5B6475"/>
                </a:solidFill>
                <a:latin typeface="Calibri" pitchFamily="34" charset="0"/>
                <a:ea typeface="Calibri" pitchFamily="34" charset="-122"/>
                <a:cs typeface="Calibri" pitchFamily="34" charset="-120"/>
              </a:rPr>
              <a:t>Lo que se oye en la calle</a:t>
            </a:r>
            <a:endParaRPr lang="en-US" sz="1800" dirty="0"/>
          </a:p>
        </p:txBody>
      </p:sp>
      <p:sp>
        <p:nvSpPr>
          <p:cNvPr id="6" name="Text 3"/>
          <p:cNvSpPr txBox="1"/>
          <p:nvPr/>
        </p:nvSpPr>
        <p:spPr>
          <a:xfrm>
            <a:off x="868680" y="2651760"/>
            <a:ext cx="4846320" cy="1828800"/>
          </a:xfrm>
          <a:prstGeom prst="rect">
            <a:avLst/>
          </a:prstGeom>
          <a:noFill/>
          <a:ln/>
        </p:spPr>
        <p:txBody>
          <a:bodyPr wrap="square" lIns="0" tIns="0" rIns="0" bIns="0" rtlCol="0" anchor="ctr"/>
          <a:lstStyle/>
          <a:p>
            <a:pPr indent="0" marL="0">
              <a:buNone/>
            </a:pPr>
            <a:r>
              <a:rPr lang="en-US" sz="3400" i="1" dirty="0">
                <a:solidFill>
                  <a:srgbClr val="1B2333"/>
                </a:solidFill>
                <a:latin typeface="Cambria" pitchFamily="34" charset="0"/>
                <a:ea typeface="Cambria" pitchFamily="34" charset="-122"/>
                <a:cs typeface="Cambria" pitchFamily="34" charset="-120"/>
              </a:rPr>
              <a:t>"El catalán se está muriendo."</a:t>
            </a:r>
            <a:endParaRPr lang="en-US" sz="3400" dirty="0"/>
          </a:p>
        </p:txBody>
      </p:sp>
      <p:sp>
        <p:nvSpPr>
          <p:cNvPr id="7" name="Text 4"/>
          <p:cNvSpPr txBox="1"/>
          <p:nvPr/>
        </p:nvSpPr>
        <p:spPr>
          <a:xfrm>
            <a:off x="868680" y="4754880"/>
            <a:ext cx="4846320" cy="640080"/>
          </a:xfrm>
          <a:prstGeom prst="rect">
            <a:avLst/>
          </a:prstGeom>
          <a:noFill/>
          <a:ln/>
        </p:spPr>
        <p:txBody>
          <a:bodyPr wrap="square" lIns="0" tIns="0" rIns="0" bIns="0" rtlCol="0" anchor="ctr"/>
          <a:lstStyle/>
          <a:p>
            <a:pPr indent="0" marL="0">
              <a:buNone/>
            </a:pPr>
            <a:r>
              <a:rPr lang="en-US" sz="1400" dirty="0">
                <a:solidFill>
                  <a:srgbClr val="5B6475"/>
                </a:solidFill>
                <a:latin typeface="Calibri" pitchFamily="34" charset="0"/>
                <a:ea typeface="Calibri" pitchFamily="34" charset="-122"/>
                <a:cs typeface="Calibri" pitchFamily="34" charset="-120"/>
              </a:rPr>
              <a:t>Una afirmación frecuente en conversaciones y medios.</a:t>
            </a:r>
            <a:endParaRPr lang="en-US" sz="1400" dirty="0"/>
          </a:p>
        </p:txBody>
      </p:sp>
      <p:sp>
        <p:nvSpPr>
          <p:cNvPr id="8" name="Shape 5"/>
          <p:cNvSpPr/>
          <p:nvPr/>
        </p:nvSpPr>
        <p:spPr>
          <a:xfrm>
            <a:off x="6263640" y="1463040"/>
            <a:ext cx="5394960" cy="4206240"/>
          </a:xfrm>
          <a:prstGeom prst="roundRect">
            <a:avLst>
              <a:gd name="adj" fmla="val 2609"/>
            </a:avLst>
          </a:prstGeom>
          <a:solidFill>
            <a:srgbClr val="14213D"/>
          </a:solidFill>
          <a:ln w="12700">
            <a:solidFill>
              <a:srgbClr val="14213D"/>
            </a:solidFill>
            <a:prstDash val="solid"/>
          </a:ln>
        </p:spPr>
      </p:sp>
      <p:pic>
        <p:nvPicPr>
          <p:cNvPr id="9" name="Image 1" descr="preencoded.png">    </p:cNvPr>
          <p:cNvPicPr>
            <a:picLocks noChangeAspect="1"/>
          </p:cNvPicPr>
          <p:nvPr/>
        </p:nvPicPr>
        <p:blipFill>
          <a:blip r:embed="rId2"/>
          <a:stretch>
            <a:fillRect/>
          </a:stretch>
        </p:blipFill>
        <p:spPr>
          <a:xfrm>
            <a:off x="6583680" y="1783080"/>
            <a:ext cx="548640" cy="548640"/>
          </a:xfrm>
          <a:prstGeom prst="rect">
            <a:avLst/>
          </a:prstGeom>
        </p:spPr>
      </p:pic>
      <p:sp>
        <p:nvSpPr>
          <p:cNvPr id="10" name="Text 6"/>
          <p:cNvSpPr txBox="1"/>
          <p:nvPr/>
        </p:nvSpPr>
        <p:spPr>
          <a:xfrm>
            <a:off x="7315200" y="1783080"/>
            <a:ext cx="4114800" cy="548640"/>
          </a:xfrm>
          <a:prstGeom prst="rect">
            <a:avLst/>
          </a:prstGeom>
          <a:noFill/>
          <a:ln/>
        </p:spPr>
        <p:txBody>
          <a:bodyPr wrap="square" lIns="0" tIns="0" rIns="0" bIns="0" rtlCol="0" anchor="ctr"/>
          <a:lstStyle/>
          <a:p>
            <a:pPr indent="0" marL="0">
              <a:buNone/>
            </a:pPr>
            <a:r>
              <a:rPr lang="en-US" sz="1800" b="1" dirty="0">
                <a:solidFill>
                  <a:srgbClr val="F2A93B"/>
                </a:solidFill>
                <a:latin typeface="Calibri" pitchFamily="34" charset="0"/>
                <a:ea typeface="Calibri" pitchFamily="34" charset="-122"/>
                <a:cs typeface="Calibri" pitchFamily="34" charset="-120"/>
              </a:rPr>
              <a:t>Lo que yo veo al aprenderlo</a:t>
            </a:r>
            <a:endParaRPr lang="en-US" sz="1800" dirty="0"/>
          </a:p>
        </p:txBody>
      </p:sp>
      <p:sp>
        <p:nvSpPr>
          <p:cNvPr id="11" name="Text 7"/>
          <p:cNvSpPr txBox="1"/>
          <p:nvPr/>
        </p:nvSpPr>
        <p:spPr>
          <a:xfrm>
            <a:off x="6583680" y="2651760"/>
            <a:ext cx="4846320" cy="2011680"/>
          </a:xfrm>
          <a:prstGeom prst="rect">
            <a:avLst/>
          </a:prstGeom>
          <a:noFill/>
          <a:ln/>
        </p:spPr>
        <p:txBody>
          <a:bodyPr wrap="square" lIns="0" tIns="0" rIns="0" bIns="0" rtlCol="0" anchor="ctr"/>
          <a:lstStyle/>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Cursos llenos de gente de todas partes</a:t>
            </a:r>
            <a:endParaRPr lang="en-US" sz="2000" dirty="0"/>
          </a:p>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Contenido en catalán en 3Cat y en la calle</a:t>
            </a:r>
            <a:endParaRPr lang="en-US" sz="2000" dirty="0"/>
          </a:p>
          <a:p>
            <a:pPr marL="342900" indent="-3429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Ganas de aprenderlo, no de abandonarlo</a:t>
            </a:r>
            <a:endParaRPr lang="en-US" sz="2000" dirty="0"/>
          </a:p>
        </p:txBody>
      </p:sp>
      <p:sp>
        <p:nvSpPr>
          <p:cNvPr id="12" name="Text 8"/>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600" b="1" dirty="0">
                <a:solidFill>
                  <a:srgbClr val="1F4E8C"/>
                </a:solidFill>
                <a:latin typeface="Calibri" pitchFamily="34" charset="0"/>
                <a:ea typeface="Calibri" pitchFamily="34" charset="-122"/>
                <a:cs typeface="Calibri" pitchFamily="34" charset="-120"/>
              </a:rPr>
              <a:t>¿Quién tiene razón? Pregunta de investigación: sensación frente a realidad.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Si el catalán se estuviera apagando, veríamos cuatro cosas</a:t>
            </a:r>
            <a:endParaRPr lang="en-US" sz="3200" dirty="0"/>
          </a:p>
        </p:txBody>
      </p:sp>
      <p:sp>
        <p:nvSpPr>
          <p:cNvPr id="3" name="Shape 1"/>
          <p:cNvSpPr/>
          <p:nvPr/>
        </p:nvSpPr>
        <p:spPr>
          <a:xfrm>
            <a:off x="548640" y="1508760"/>
            <a:ext cx="5394960" cy="1737360"/>
          </a:xfrm>
          <a:prstGeom prst="roundRect">
            <a:avLst>
              <a:gd name="adj" fmla="val 6316"/>
            </a:avLst>
          </a:prstGeom>
          <a:solidFill>
            <a:srgbClr val="F3F5F9"/>
          </a:solidFill>
          <a:ln w="12700">
            <a:solidFill>
              <a:srgbClr val="F3F5F9"/>
            </a:solidFill>
            <a:prstDash val="solid"/>
          </a:ln>
        </p:spPr>
      </p:sp>
      <p:sp>
        <p:nvSpPr>
          <p:cNvPr id="4" name="Shape 2"/>
          <p:cNvSpPr/>
          <p:nvPr/>
        </p:nvSpPr>
        <p:spPr>
          <a:xfrm>
            <a:off x="868680" y="1828800"/>
            <a:ext cx="566928" cy="566928"/>
          </a:xfrm>
          <a:prstGeom prst="ellipse">
            <a:avLst/>
          </a:prstGeom>
          <a:solidFill>
            <a:srgbClr val="F2A93B"/>
          </a:solidFill>
          <a:ln w="12700">
            <a:solidFill>
              <a:srgbClr val="F2A93B"/>
            </a:solidFill>
            <a:prstDash val="solid"/>
          </a:ln>
        </p:spPr>
      </p:sp>
      <p:sp>
        <p:nvSpPr>
          <p:cNvPr id="5" name="Text 3"/>
          <p:cNvSpPr txBox="1"/>
          <p:nvPr/>
        </p:nvSpPr>
        <p:spPr>
          <a:xfrm>
            <a:off x="868680" y="182880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645920" y="1737360"/>
            <a:ext cx="4023360" cy="914400"/>
          </a:xfrm>
          <a:prstGeom prst="rect">
            <a:avLst/>
          </a:prstGeom>
          <a:noFill/>
          <a:ln/>
        </p:spPr>
        <p:txBody>
          <a:bodyPr wrap="square" lIns="0" tIns="0" rIns="0" bIns="0" rtlCol="0" anchor="ctr"/>
          <a:lstStyle/>
          <a:p>
            <a:pPr indent="0" marL="0">
              <a:buNone/>
            </a:pPr>
            <a:r>
              <a:rPr lang="en-US" sz="2100" b="1" dirty="0">
                <a:solidFill>
                  <a:srgbClr val="1B2333"/>
                </a:solidFill>
                <a:latin typeface="Cambria" pitchFamily="34" charset="0"/>
                <a:ea typeface="Cambria" pitchFamily="34" charset="-122"/>
                <a:cs typeface="Cambria" pitchFamily="34" charset="-120"/>
              </a:rPr>
              <a:t>¿Cada vez menos personas saben catalán?</a:t>
            </a:r>
            <a:endParaRPr lang="en-US" sz="2100" dirty="0"/>
          </a:p>
        </p:txBody>
      </p:sp>
      <p:sp>
        <p:nvSpPr>
          <p:cNvPr id="7" name="Text 5"/>
          <p:cNvSpPr txBox="1"/>
          <p:nvPr/>
        </p:nvSpPr>
        <p:spPr>
          <a:xfrm>
            <a:off x="1645920" y="2651760"/>
            <a:ext cx="4023360" cy="36576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Saber</a:t>
            </a:r>
            <a:endParaRPr lang="en-US" sz="1300" dirty="0"/>
          </a:p>
        </p:txBody>
      </p:sp>
      <p:sp>
        <p:nvSpPr>
          <p:cNvPr id="8" name="Shape 6"/>
          <p:cNvSpPr/>
          <p:nvPr/>
        </p:nvSpPr>
        <p:spPr>
          <a:xfrm>
            <a:off x="6263640" y="1508760"/>
            <a:ext cx="5394960" cy="1737360"/>
          </a:xfrm>
          <a:prstGeom prst="roundRect">
            <a:avLst>
              <a:gd name="adj" fmla="val 6316"/>
            </a:avLst>
          </a:prstGeom>
          <a:solidFill>
            <a:srgbClr val="F3F5F9"/>
          </a:solidFill>
          <a:ln w="12700">
            <a:solidFill>
              <a:srgbClr val="F3F5F9"/>
            </a:solidFill>
            <a:prstDash val="solid"/>
          </a:ln>
        </p:spPr>
      </p:sp>
      <p:sp>
        <p:nvSpPr>
          <p:cNvPr id="9" name="Shape 7"/>
          <p:cNvSpPr/>
          <p:nvPr/>
        </p:nvSpPr>
        <p:spPr>
          <a:xfrm>
            <a:off x="6583680" y="1828800"/>
            <a:ext cx="566928" cy="566928"/>
          </a:xfrm>
          <a:prstGeom prst="ellipse">
            <a:avLst/>
          </a:prstGeom>
          <a:solidFill>
            <a:srgbClr val="F2A93B"/>
          </a:solidFill>
          <a:ln w="12700">
            <a:solidFill>
              <a:srgbClr val="F2A93B"/>
            </a:solidFill>
            <a:prstDash val="solid"/>
          </a:ln>
        </p:spPr>
      </p:sp>
      <p:sp>
        <p:nvSpPr>
          <p:cNvPr id="10" name="Text 8"/>
          <p:cNvSpPr txBox="1"/>
          <p:nvPr/>
        </p:nvSpPr>
        <p:spPr>
          <a:xfrm>
            <a:off x="6583680" y="182880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7360920" y="1737360"/>
            <a:ext cx="4023360" cy="914400"/>
          </a:xfrm>
          <a:prstGeom prst="rect">
            <a:avLst/>
          </a:prstGeom>
          <a:noFill/>
          <a:ln/>
        </p:spPr>
        <p:txBody>
          <a:bodyPr wrap="square" lIns="0" tIns="0" rIns="0" bIns="0" rtlCol="0" anchor="ctr"/>
          <a:lstStyle/>
          <a:p>
            <a:pPr indent="0" marL="0">
              <a:buNone/>
            </a:pPr>
            <a:r>
              <a:rPr lang="en-US" sz="2100" b="1" dirty="0">
                <a:solidFill>
                  <a:srgbClr val="1B2333"/>
                </a:solidFill>
                <a:latin typeface="Cambria" pitchFamily="34" charset="0"/>
                <a:ea typeface="Cambria" pitchFamily="34" charset="-122"/>
                <a:cs typeface="Cambria" pitchFamily="34" charset="-120"/>
              </a:rPr>
              <a:t>¿Los jóvenes ya no lo saben?</a:t>
            </a:r>
            <a:endParaRPr lang="en-US" sz="2100" dirty="0"/>
          </a:p>
        </p:txBody>
      </p:sp>
      <p:sp>
        <p:nvSpPr>
          <p:cNvPr id="12" name="Text 10"/>
          <p:cNvSpPr txBox="1"/>
          <p:nvPr/>
        </p:nvSpPr>
        <p:spPr>
          <a:xfrm>
            <a:off x="7360920" y="2651760"/>
            <a:ext cx="4023360" cy="36576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Saber</a:t>
            </a:r>
            <a:endParaRPr lang="en-US" sz="1300" dirty="0"/>
          </a:p>
        </p:txBody>
      </p:sp>
      <p:sp>
        <p:nvSpPr>
          <p:cNvPr id="13" name="Shape 11"/>
          <p:cNvSpPr/>
          <p:nvPr/>
        </p:nvSpPr>
        <p:spPr>
          <a:xfrm>
            <a:off x="548640" y="3520440"/>
            <a:ext cx="5394960" cy="1737360"/>
          </a:xfrm>
          <a:prstGeom prst="roundRect">
            <a:avLst>
              <a:gd name="adj" fmla="val 6316"/>
            </a:avLst>
          </a:prstGeom>
          <a:solidFill>
            <a:srgbClr val="F3F5F9"/>
          </a:solidFill>
          <a:ln w="12700">
            <a:solidFill>
              <a:srgbClr val="F3F5F9"/>
            </a:solidFill>
            <a:prstDash val="solid"/>
          </a:ln>
        </p:spPr>
      </p:sp>
      <p:sp>
        <p:nvSpPr>
          <p:cNvPr id="14" name="Shape 12"/>
          <p:cNvSpPr/>
          <p:nvPr/>
        </p:nvSpPr>
        <p:spPr>
          <a:xfrm>
            <a:off x="868680" y="3840480"/>
            <a:ext cx="566928" cy="566928"/>
          </a:xfrm>
          <a:prstGeom prst="ellipse">
            <a:avLst/>
          </a:prstGeom>
          <a:solidFill>
            <a:srgbClr val="F2A93B"/>
          </a:solidFill>
          <a:ln w="12700">
            <a:solidFill>
              <a:srgbClr val="F2A93B"/>
            </a:solidFill>
            <a:prstDash val="solid"/>
          </a:ln>
        </p:spPr>
      </p:sp>
      <p:sp>
        <p:nvSpPr>
          <p:cNvPr id="15" name="Text 13"/>
          <p:cNvSpPr txBox="1"/>
          <p:nvPr/>
        </p:nvSpPr>
        <p:spPr>
          <a:xfrm>
            <a:off x="868680" y="384048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1645920" y="3749040"/>
            <a:ext cx="4023360" cy="914400"/>
          </a:xfrm>
          <a:prstGeom prst="rect">
            <a:avLst/>
          </a:prstGeom>
          <a:noFill/>
          <a:ln/>
        </p:spPr>
        <p:txBody>
          <a:bodyPr wrap="square" lIns="0" tIns="0" rIns="0" bIns="0" rtlCol="0" anchor="ctr"/>
          <a:lstStyle/>
          <a:p>
            <a:pPr indent="0" marL="0">
              <a:buNone/>
            </a:pPr>
            <a:r>
              <a:rPr lang="en-US" sz="2100" b="1" dirty="0">
                <a:solidFill>
                  <a:srgbClr val="1B2333"/>
                </a:solidFill>
                <a:latin typeface="Cambria" pitchFamily="34" charset="0"/>
                <a:ea typeface="Cambria" pitchFamily="34" charset="-122"/>
                <a:cs typeface="Cambria" pitchFamily="34" charset="-120"/>
              </a:rPr>
              <a:t>¿Ya casi nadie lo aprende?</a:t>
            </a:r>
            <a:endParaRPr lang="en-US" sz="2100" dirty="0"/>
          </a:p>
        </p:txBody>
      </p:sp>
      <p:sp>
        <p:nvSpPr>
          <p:cNvPr id="17" name="Text 15"/>
          <p:cNvSpPr txBox="1"/>
          <p:nvPr/>
        </p:nvSpPr>
        <p:spPr>
          <a:xfrm>
            <a:off x="1645920" y="4663440"/>
            <a:ext cx="4023360" cy="36576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Aprender</a:t>
            </a:r>
            <a:endParaRPr lang="en-US" sz="1300" dirty="0"/>
          </a:p>
        </p:txBody>
      </p:sp>
      <p:sp>
        <p:nvSpPr>
          <p:cNvPr id="18" name="Shape 16"/>
          <p:cNvSpPr/>
          <p:nvPr/>
        </p:nvSpPr>
        <p:spPr>
          <a:xfrm>
            <a:off x="6263640" y="3520440"/>
            <a:ext cx="5394960" cy="1737360"/>
          </a:xfrm>
          <a:prstGeom prst="roundRect">
            <a:avLst>
              <a:gd name="adj" fmla="val 6316"/>
            </a:avLst>
          </a:prstGeom>
          <a:solidFill>
            <a:srgbClr val="F3F5F9"/>
          </a:solidFill>
          <a:ln w="12700">
            <a:solidFill>
              <a:srgbClr val="F3F5F9"/>
            </a:solidFill>
            <a:prstDash val="solid"/>
          </a:ln>
        </p:spPr>
      </p:sp>
      <p:sp>
        <p:nvSpPr>
          <p:cNvPr id="19" name="Shape 17"/>
          <p:cNvSpPr/>
          <p:nvPr/>
        </p:nvSpPr>
        <p:spPr>
          <a:xfrm>
            <a:off x="6583680" y="3840480"/>
            <a:ext cx="566928" cy="566928"/>
          </a:xfrm>
          <a:prstGeom prst="ellipse">
            <a:avLst/>
          </a:prstGeom>
          <a:solidFill>
            <a:srgbClr val="F2A93B"/>
          </a:solidFill>
          <a:ln w="12700">
            <a:solidFill>
              <a:srgbClr val="F2A93B"/>
            </a:solidFill>
            <a:prstDash val="solid"/>
          </a:ln>
        </p:spPr>
      </p:sp>
      <p:sp>
        <p:nvSpPr>
          <p:cNvPr id="20" name="Text 18"/>
          <p:cNvSpPr txBox="1"/>
          <p:nvPr/>
        </p:nvSpPr>
        <p:spPr>
          <a:xfrm>
            <a:off x="6583680" y="384048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7360920" y="3749040"/>
            <a:ext cx="4023360" cy="914400"/>
          </a:xfrm>
          <a:prstGeom prst="rect">
            <a:avLst/>
          </a:prstGeom>
          <a:noFill/>
          <a:ln/>
        </p:spPr>
        <p:txBody>
          <a:bodyPr wrap="square" lIns="0" tIns="0" rIns="0" bIns="0" rtlCol="0" anchor="ctr"/>
          <a:lstStyle/>
          <a:p>
            <a:pPr indent="0" marL="0">
              <a:buNone/>
            </a:pPr>
            <a:r>
              <a:rPr lang="en-US" sz="2100" b="1" dirty="0">
                <a:solidFill>
                  <a:srgbClr val="1B2333"/>
                </a:solidFill>
                <a:latin typeface="Cambria" pitchFamily="34" charset="0"/>
                <a:ea typeface="Cambria" pitchFamily="34" charset="-122"/>
                <a:cs typeface="Cambria" pitchFamily="34" charset="-120"/>
              </a:rPr>
              <a:t>¿Cada vez menos gente lo usa en su día a día?</a:t>
            </a:r>
            <a:endParaRPr lang="en-US" sz="2100" dirty="0"/>
          </a:p>
        </p:txBody>
      </p:sp>
      <p:sp>
        <p:nvSpPr>
          <p:cNvPr id="22" name="Text 20"/>
          <p:cNvSpPr txBox="1"/>
          <p:nvPr/>
        </p:nvSpPr>
        <p:spPr>
          <a:xfrm>
            <a:off x="7360920" y="4663440"/>
            <a:ext cx="4023360" cy="36576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Usar</a:t>
            </a:r>
            <a:endParaRPr lang="en-US" sz="1300" dirty="0"/>
          </a:p>
        </p:txBody>
      </p:sp>
      <p:sp>
        <p:nvSpPr>
          <p:cNvPr id="23" name="Text 21"/>
          <p:cNvSpPr txBox="1"/>
          <p:nvPr/>
        </p:nvSpPr>
        <p:spPr>
          <a:xfrm>
            <a:off x="548640" y="5715000"/>
            <a:ext cx="11094415" cy="457200"/>
          </a:xfrm>
          <a:prstGeom prst="rect">
            <a:avLst/>
          </a:prstGeom>
          <a:noFill/>
          <a:ln/>
        </p:spPr>
        <p:txBody>
          <a:bodyPr wrap="square" lIns="0" tIns="0" rIns="0" bIns="0" rtlCol="0" anchor="ctr"/>
          <a:lstStyle/>
          <a:p>
            <a:pPr algn="ctr" indent="0" marL="0">
              <a:buNone/>
            </a:pPr>
            <a:r>
              <a:rPr lang="en-US" sz="1800" i="1" dirty="0">
                <a:solidFill>
                  <a:srgbClr val="B8862B"/>
                </a:solidFill>
                <a:latin typeface="Calibri" pitchFamily="34" charset="0"/>
                <a:ea typeface="Calibri" pitchFamily="34" charset="-122"/>
                <a:cs typeface="Calibri" pitchFamily="34" charset="-120"/>
              </a:rPr>
              <a:t>¿Mito o realidad? Piénsenlo: las vemos una por una.</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Tres fuentes oficiales, tres relojes distintos</a:t>
            </a:r>
            <a:endParaRPr lang="en-US" sz="3200" dirty="0"/>
          </a:p>
        </p:txBody>
      </p:sp>
      <p:sp>
        <p:nvSpPr>
          <p:cNvPr id="3" name="Shape 1"/>
          <p:cNvSpPr/>
          <p:nvPr/>
        </p:nvSpPr>
        <p:spPr>
          <a:xfrm>
            <a:off x="548640" y="1371600"/>
            <a:ext cx="11091672" cy="1417320"/>
          </a:xfrm>
          <a:prstGeom prst="roundRect">
            <a:avLst>
              <a:gd name="adj" fmla="val 7742"/>
            </a:avLst>
          </a:prstGeom>
          <a:solidFill>
            <a:srgbClr val="F3F5F9"/>
          </a:solidFill>
          <a:ln w="12700">
            <a:solidFill>
              <a:srgbClr val="F3F5F9"/>
            </a:solidFill>
            <a:prstDash val="solid"/>
          </a:ln>
        </p:spPr>
      </p:sp>
      <p:pic>
        <p:nvPicPr>
          <p:cNvPr id="4" name="Image 0" descr="preencoded.png">    </p:cNvPr>
          <p:cNvPicPr>
            <a:picLocks noChangeAspect="1"/>
          </p:cNvPicPr>
          <p:nvPr/>
        </p:nvPicPr>
        <p:blipFill>
          <a:blip r:embed="rId1"/>
          <a:stretch>
            <a:fillRect/>
          </a:stretch>
        </p:blipFill>
        <p:spPr>
          <a:xfrm>
            <a:off x="777240" y="1554480"/>
            <a:ext cx="411480" cy="411480"/>
          </a:xfrm>
          <a:prstGeom prst="rect">
            <a:avLst/>
          </a:prstGeom>
        </p:spPr>
      </p:pic>
      <p:sp>
        <p:nvSpPr>
          <p:cNvPr id="5" name="Text 2"/>
          <p:cNvSpPr txBox="1"/>
          <p:nvPr/>
        </p:nvSpPr>
        <p:spPr>
          <a:xfrm>
            <a:off x="1280160" y="1508760"/>
            <a:ext cx="2377440" cy="502920"/>
          </a:xfrm>
          <a:prstGeom prst="rect">
            <a:avLst/>
          </a:prstGeom>
          <a:noFill/>
          <a:ln/>
        </p:spPr>
        <p:txBody>
          <a:bodyPr wrap="square" lIns="0" tIns="0" rIns="0" bIns="0" rtlCol="0" anchor="ctr"/>
          <a:lstStyle/>
          <a:p>
            <a:pPr indent="0" marL="0">
              <a:buNone/>
            </a:pPr>
            <a:r>
              <a:rPr lang="en-US" sz="2200" b="1" dirty="0">
                <a:solidFill>
                  <a:srgbClr val="1F4E8C"/>
                </a:solidFill>
                <a:latin typeface="Cambria" pitchFamily="34" charset="0"/>
                <a:ea typeface="Cambria" pitchFamily="34" charset="-122"/>
                <a:cs typeface="Cambria" pitchFamily="34" charset="-120"/>
              </a:rPr>
              <a:t>Saber</a:t>
            </a:r>
            <a:endParaRPr lang="en-US" sz="2200" dirty="0"/>
          </a:p>
        </p:txBody>
      </p:sp>
      <p:sp>
        <p:nvSpPr>
          <p:cNvPr id="6" name="Text 3"/>
          <p:cNvSpPr txBox="1"/>
          <p:nvPr/>
        </p:nvSpPr>
        <p:spPr>
          <a:xfrm>
            <a:off x="777240" y="2057400"/>
            <a:ext cx="3063240" cy="640080"/>
          </a:xfrm>
          <a:prstGeom prst="rect">
            <a:avLst/>
          </a:prstGeom>
          <a:noFill/>
          <a:ln/>
        </p:spPr>
        <p:txBody>
          <a:bodyPr wrap="square" lIns="0" tIns="0" rIns="0" bIns="0" rtlCol="0" anchor="t"/>
          <a:lstStyle/>
          <a:p>
            <a:pPr indent="0" marL="0">
              <a:buNone/>
            </a:pPr>
            <a:r>
              <a:rPr lang="en-US" sz="1200" b="1" dirty="0">
                <a:solidFill>
                  <a:srgbClr val="1B2333"/>
                </a:solidFill>
                <a:latin typeface="Calibri" pitchFamily="34" charset="0"/>
                <a:ea typeface="Calibri" pitchFamily="34" charset="-122"/>
                <a:cs typeface="Calibri" pitchFamily="34" charset="-120"/>
              </a:rPr>
              <a:t>Censos lingüísticos y ECEPOV-2021</a:t>
            </a:r>
            <a:endParaRPr lang="en-US" sz="1200" dirty="0"/>
          </a:p>
          <a:p>
            <a:pPr indent="0" marL="0">
              <a:buNone/>
            </a:pPr>
            <a:r>
              <a:rPr lang="en-US" sz="1100" dirty="0">
                <a:solidFill>
                  <a:srgbClr val="5B6475"/>
                </a:solidFill>
                <a:latin typeface="Calibri" pitchFamily="34" charset="0"/>
                <a:ea typeface="Calibri" pitchFamily="34" charset="-122"/>
                <a:cs typeface="Calibri" pitchFamily="34" charset="-120"/>
              </a:rPr>
              <a:t>Cifra: población de 2 años o más</a:t>
            </a:r>
            <a:endParaRPr lang="en-US" sz="1200" dirty="0"/>
          </a:p>
        </p:txBody>
      </p:sp>
      <p:sp>
        <p:nvSpPr>
          <p:cNvPr id="7" name="Shape 4"/>
          <p:cNvSpPr/>
          <p:nvPr/>
        </p:nvSpPr>
        <p:spPr>
          <a:xfrm>
            <a:off x="3977640" y="2121408"/>
            <a:ext cx="7406640" cy="0"/>
          </a:xfrm>
          <a:prstGeom prst="line">
            <a:avLst/>
          </a:prstGeom>
          <a:noFill/>
          <a:ln w="19050">
            <a:solidFill>
              <a:srgbClr val="C9D1E0"/>
            </a:solidFill>
            <a:prstDash val="solid"/>
          </a:ln>
        </p:spPr>
      </p:sp>
      <p:sp>
        <p:nvSpPr>
          <p:cNvPr id="8" name="Shape 5"/>
          <p:cNvSpPr/>
          <p:nvPr/>
        </p:nvSpPr>
        <p:spPr>
          <a:xfrm>
            <a:off x="4220068" y="2002536"/>
            <a:ext cx="237744" cy="237744"/>
          </a:xfrm>
          <a:prstGeom prst="ellipse">
            <a:avLst/>
          </a:prstGeom>
          <a:solidFill>
            <a:srgbClr val="1F4E8C"/>
          </a:solidFill>
          <a:ln w="25400">
            <a:solidFill>
              <a:srgbClr val="1F4E8C"/>
            </a:solidFill>
            <a:prstDash val="solid"/>
          </a:ln>
        </p:spPr>
      </p:sp>
      <p:sp>
        <p:nvSpPr>
          <p:cNvPr id="9" name="Text 6"/>
          <p:cNvSpPr txBox="1"/>
          <p:nvPr/>
        </p:nvSpPr>
        <p:spPr>
          <a:xfrm>
            <a:off x="3927460" y="16642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1986</a:t>
            </a:r>
            <a:endParaRPr lang="en-US" sz="1100" dirty="0"/>
          </a:p>
        </p:txBody>
      </p:sp>
      <p:sp>
        <p:nvSpPr>
          <p:cNvPr id="10" name="Text 7"/>
          <p:cNvSpPr txBox="1"/>
          <p:nvPr/>
        </p:nvSpPr>
        <p:spPr>
          <a:xfrm>
            <a:off x="3744580" y="23042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5,8 M</a:t>
            </a:r>
            <a:endParaRPr lang="en-US" sz="1200" dirty="0"/>
          </a:p>
        </p:txBody>
      </p:sp>
      <p:sp>
        <p:nvSpPr>
          <p:cNvPr id="11" name="Shape 8"/>
          <p:cNvSpPr/>
          <p:nvPr/>
        </p:nvSpPr>
        <p:spPr>
          <a:xfrm>
            <a:off x="5123316" y="2002536"/>
            <a:ext cx="237744" cy="237744"/>
          </a:xfrm>
          <a:prstGeom prst="ellipse">
            <a:avLst/>
          </a:prstGeom>
          <a:solidFill>
            <a:srgbClr val="1F4E8C"/>
          </a:solidFill>
          <a:ln w="25400">
            <a:solidFill>
              <a:srgbClr val="1F4E8C"/>
            </a:solidFill>
            <a:prstDash val="solid"/>
          </a:ln>
        </p:spPr>
      </p:sp>
      <p:sp>
        <p:nvSpPr>
          <p:cNvPr id="12" name="Text 9"/>
          <p:cNvSpPr txBox="1"/>
          <p:nvPr/>
        </p:nvSpPr>
        <p:spPr>
          <a:xfrm>
            <a:off x="4830708" y="16642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1991</a:t>
            </a:r>
            <a:endParaRPr lang="en-US" sz="1100" dirty="0"/>
          </a:p>
        </p:txBody>
      </p:sp>
      <p:sp>
        <p:nvSpPr>
          <p:cNvPr id="13" name="Text 10"/>
          <p:cNvSpPr txBox="1"/>
          <p:nvPr/>
        </p:nvSpPr>
        <p:spPr>
          <a:xfrm>
            <a:off x="4647828" y="23042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5,9 M</a:t>
            </a:r>
            <a:endParaRPr lang="en-US" sz="1200" dirty="0"/>
          </a:p>
        </p:txBody>
      </p:sp>
      <p:sp>
        <p:nvSpPr>
          <p:cNvPr id="14" name="Shape 11"/>
          <p:cNvSpPr/>
          <p:nvPr/>
        </p:nvSpPr>
        <p:spPr>
          <a:xfrm>
            <a:off x="6026565" y="2002536"/>
            <a:ext cx="237744" cy="237744"/>
          </a:xfrm>
          <a:prstGeom prst="ellipse">
            <a:avLst/>
          </a:prstGeom>
          <a:solidFill>
            <a:srgbClr val="1F4E8C"/>
          </a:solidFill>
          <a:ln w="25400">
            <a:solidFill>
              <a:srgbClr val="1F4E8C"/>
            </a:solidFill>
            <a:prstDash val="solid"/>
          </a:ln>
        </p:spPr>
      </p:sp>
      <p:sp>
        <p:nvSpPr>
          <p:cNvPr id="15" name="Text 12"/>
          <p:cNvSpPr txBox="1"/>
          <p:nvPr/>
        </p:nvSpPr>
        <p:spPr>
          <a:xfrm>
            <a:off x="5733957" y="16642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1996</a:t>
            </a:r>
            <a:endParaRPr lang="en-US" sz="1100" dirty="0"/>
          </a:p>
        </p:txBody>
      </p:sp>
      <p:sp>
        <p:nvSpPr>
          <p:cNvPr id="16" name="Text 13"/>
          <p:cNvSpPr txBox="1"/>
          <p:nvPr/>
        </p:nvSpPr>
        <p:spPr>
          <a:xfrm>
            <a:off x="5551077" y="23042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6,0 M</a:t>
            </a:r>
            <a:endParaRPr lang="en-US" sz="1200" dirty="0"/>
          </a:p>
        </p:txBody>
      </p:sp>
      <p:sp>
        <p:nvSpPr>
          <p:cNvPr id="17" name="Shape 14"/>
          <p:cNvSpPr/>
          <p:nvPr/>
        </p:nvSpPr>
        <p:spPr>
          <a:xfrm>
            <a:off x="6929814" y="2002536"/>
            <a:ext cx="237744" cy="237744"/>
          </a:xfrm>
          <a:prstGeom prst="ellipse">
            <a:avLst/>
          </a:prstGeom>
          <a:solidFill>
            <a:srgbClr val="1F4E8C"/>
          </a:solidFill>
          <a:ln w="25400">
            <a:solidFill>
              <a:srgbClr val="1F4E8C"/>
            </a:solidFill>
            <a:prstDash val="solid"/>
          </a:ln>
        </p:spPr>
      </p:sp>
      <p:sp>
        <p:nvSpPr>
          <p:cNvPr id="18" name="Text 15"/>
          <p:cNvSpPr txBox="1"/>
          <p:nvPr/>
        </p:nvSpPr>
        <p:spPr>
          <a:xfrm>
            <a:off x="6637206" y="16642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2001</a:t>
            </a:r>
            <a:endParaRPr lang="en-US" sz="1100" dirty="0"/>
          </a:p>
        </p:txBody>
      </p:sp>
      <p:sp>
        <p:nvSpPr>
          <p:cNvPr id="19" name="Text 16"/>
          <p:cNvSpPr txBox="1"/>
          <p:nvPr/>
        </p:nvSpPr>
        <p:spPr>
          <a:xfrm>
            <a:off x="6454326" y="23042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6,2 M</a:t>
            </a:r>
            <a:endParaRPr lang="en-US" sz="1200" dirty="0"/>
          </a:p>
        </p:txBody>
      </p:sp>
      <p:sp>
        <p:nvSpPr>
          <p:cNvPr id="20" name="Shape 17"/>
          <p:cNvSpPr/>
          <p:nvPr/>
        </p:nvSpPr>
        <p:spPr>
          <a:xfrm>
            <a:off x="8736311" y="2002536"/>
            <a:ext cx="237744" cy="237744"/>
          </a:xfrm>
          <a:prstGeom prst="ellipse">
            <a:avLst/>
          </a:prstGeom>
          <a:solidFill>
            <a:srgbClr val="1F4E8C"/>
          </a:solidFill>
          <a:ln w="25400">
            <a:solidFill>
              <a:srgbClr val="1F4E8C"/>
            </a:solidFill>
            <a:prstDash val="solid"/>
          </a:ln>
        </p:spPr>
      </p:sp>
      <p:sp>
        <p:nvSpPr>
          <p:cNvPr id="21" name="Text 18"/>
          <p:cNvSpPr txBox="1"/>
          <p:nvPr/>
        </p:nvSpPr>
        <p:spPr>
          <a:xfrm>
            <a:off x="8443703" y="16642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2011</a:t>
            </a:r>
            <a:endParaRPr lang="en-US" sz="1100" dirty="0"/>
          </a:p>
        </p:txBody>
      </p:sp>
      <p:sp>
        <p:nvSpPr>
          <p:cNvPr id="22" name="Text 19"/>
          <p:cNvSpPr txBox="1"/>
          <p:nvPr/>
        </p:nvSpPr>
        <p:spPr>
          <a:xfrm>
            <a:off x="8260823" y="23042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7,3 M*</a:t>
            </a:r>
            <a:endParaRPr lang="en-US" sz="1200" dirty="0"/>
          </a:p>
        </p:txBody>
      </p:sp>
      <p:sp>
        <p:nvSpPr>
          <p:cNvPr id="23" name="Shape 20"/>
          <p:cNvSpPr/>
          <p:nvPr/>
        </p:nvSpPr>
        <p:spPr>
          <a:xfrm>
            <a:off x="10542809" y="2002536"/>
            <a:ext cx="237744" cy="237744"/>
          </a:xfrm>
          <a:prstGeom prst="ellipse">
            <a:avLst/>
          </a:prstGeom>
          <a:solidFill>
            <a:srgbClr val="FFFFFF"/>
          </a:solidFill>
          <a:ln w="25400">
            <a:solidFill>
              <a:srgbClr val="8A93A6"/>
            </a:solidFill>
            <a:prstDash val="solid"/>
          </a:ln>
        </p:spPr>
      </p:sp>
      <p:sp>
        <p:nvSpPr>
          <p:cNvPr id="24" name="Text 21"/>
          <p:cNvSpPr txBox="1"/>
          <p:nvPr/>
        </p:nvSpPr>
        <p:spPr>
          <a:xfrm>
            <a:off x="10250201" y="16642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2021</a:t>
            </a:r>
            <a:endParaRPr lang="en-US" sz="1100" dirty="0"/>
          </a:p>
        </p:txBody>
      </p:sp>
      <p:sp>
        <p:nvSpPr>
          <p:cNvPr id="25" name="Text 22"/>
          <p:cNvSpPr txBox="1"/>
          <p:nvPr/>
        </p:nvSpPr>
        <p:spPr>
          <a:xfrm>
            <a:off x="10067321" y="2304288"/>
            <a:ext cx="1188720" cy="320040"/>
          </a:xfrm>
          <a:prstGeom prst="rect">
            <a:avLst/>
          </a:prstGeom>
          <a:noFill/>
          <a:ln/>
        </p:spPr>
        <p:txBody>
          <a:bodyPr wrap="square" lIns="0" tIns="0" rIns="0" bIns="0" rtlCol="0" anchor="ctr"/>
          <a:lstStyle/>
          <a:p>
            <a:pPr algn="ctr" indent="0" marL="0">
              <a:buNone/>
            </a:pPr>
            <a:r>
              <a:rPr lang="en-US" sz="1200" i="1" dirty="0">
                <a:solidFill>
                  <a:srgbClr val="8A93A6"/>
                </a:solidFill>
                <a:latin typeface="Calibri" pitchFamily="34" charset="0"/>
                <a:ea typeface="Calibri" pitchFamily="34" charset="-122"/>
                <a:cs typeface="Calibri" pitchFamily="34" charset="-120"/>
              </a:rPr>
              <a:t>otra pregunta</a:t>
            </a:r>
            <a:endParaRPr lang="en-US" sz="1200" dirty="0"/>
          </a:p>
        </p:txBody>
      </p:sp>
      <p:sp>
        <p:nvSpPr>
          <p:cNvPr id="26" name="Shape 23"/>
          <p:cNvSpPr/>
          <p:nvPr/>
        </p:nvSpPr>
        <p:spPr>
          <a:xfrm>
            <a:off x="548640" y="2971800"/>
            <a:ext cx="11091672" cy="1417320"/>
          </a:xfrm>
          <a:prstGeom prst="roundRect">
            <a:avLst>
              <a:gd name="adj" fmla="val 7742"/>
            </a:avLst>
          </a:prstGeom>
          <a:solidFill>
            <a:srgbClr val="F3F5F9"/>
          </a:solidFill>
          <a:ln w="12700">
            <a:solidFill>
              <a:srgbClr val="F3F5F9"/>
            </a:solidFill>
            <a:prstDash val="solid"/>
          </a:ln>
        </p:spPr>
      </p:sp>
      <p:pic>
        <p:nvPicPr>
          <p:cNvPr id="27" name="Image 1" descr="preencoded.png">    </p:cNvPr>
          <p:cNvPicPr>
            <a:picLocks noChangeAspect="1"/>
          </p:cNvPicPr>
          <p:nvPr/>
        </p:nvPicPr>
        <p:blipFill>
          <a:blip r:embed="rId2"/>
          <a:stretch>
            <a:fillRect/>
          </a:stretch>
        </p:blipFill>
        <p:spPr>
          <a:xfrm>
            <a:off x="777240" y="3154680"/>
            <a:ext cx="411480" cy="411480"/>
          </a:xfrm>
          <a:prstGeom prst="rect">
            <a:avLst/>
          </a:prstGeom>
        </p:spPr>
      </p:pic>
      <p:sp>
        <p:nvSpPr>
          <p:cNvPr id="28" name="Text 24"/>
          <p:cNvSpPr txBox="1"/>
          <p:nvPr/>
        </p:nvSpPr>
        <p:spPr>
          <a:xfrm>
            <a:off x="1280160" y="3108960"/>
            <a:ext cx="2377440" cy="502920"/>
          </a:xfrm>
          <a:prstGeom prst="rect">
            <a:avLst/>
          </a:prstGeom>
          <a:noFill/>
          <a:ln/>
        </p:spPr>
        <p:txBody>
          <a:bodyPr wrap="square" lIns="0" tIns="0" rIns="0" bIns="0" rtlCol="0" anchor="ctr"/>
          <a:lstStyle/>
          <a:p>
            <a:pPr indent="0" marL="0">
              <a:buNone/>
            </a:pPr>
            <a:r>
              <a:rPr lang="en-US" sz="2200" b="1" dirty="0">
                <a:solidFill>
                  <a:srgbClr val="1F4E8C"/>
                </a:solidFill>
                <a:latin typeface="Cambria" pitchFamily="34" charset="0"/>
                <a:ea typeface="Cambria" pitchFamily="34" charset="-122"/>
                <a:cs typeface="Cambria" pitchFamily="34" charset="-120"/>
              </a:rPr>
              <a:t>Usar</a:t>
            </a:r>
            <a:endParaRPr lang="en-US" sz="2200" dirty="0"/>
          </a:p>
        </p:txBody>
      </p:sp>
      <p:sp>
        <p:nvSpPr>
          <p:cNvPr id="29" name="Text 25"/>
          <p:cNvSpPr txBox="1"/>
          <p:nvPr/>
        </p:nvSpPr>
        <p:spPr>
          <a:xfrm>
            <a:off x="777240" y="3657600"/>
            <a:ext cx="3063240" cy="640080"/>
          </a:xfrm>
          <a:prstGeom prst="rect">
            <a:avLst/>
          </a:prstGeom>
          <a:noFill/>
          <a:ln/>
        </p:spPr>
        <p:txBody>
          <a:bodyPr wrap="square" lIns="0" tIns="0" rIns="0" bIns="0" rtlCol="0" anchor="t"/>
          <a:lstStyle/>
          <a:p>
            <a:pPr indent="0" marL="0">
              <a:buNone/>
            </a:pPr>
            <a:r>
              <a:rPr lang="en-US" sz="1200" b="1" dirty="0">
                <a:solidFill>
                  <a:srgbClr val="1B2333"/>
                </a:solidFill>
                <a:latin typeface="Calibri" pitchFamily="34" charset="0"/>
                <a:ea typeface="Calibri" pitchFamily="34" charset="-122"/>
                <a:cs typeface="Calibri" pitchFamily="34" charset="-120"/>
              </a:rPr>
              <a:t>Encuesta de usos lingüísticos (EULP)</a:t>
            </a:r>
            <a:endParaRPr lang="en-US" sz="1200" dirty="0"/>
          </a:p>
          <a:p>
            <a:pPr indent="0" marL="0">
              <a:buNone/>
            </a:pPr>
            <a:r>
              <a:rPr lang="en-US" sz="1100" dirty="0">
                <a:solidFill>
                  <a:srgbClr val="5B6475"/>
                </a:solidFill>
                <a:latin typeface="Calibri" pitchFamily="34" charset="0"/>
                <a:ea typeface="Calibri" pitchFamily="34" charset="-122"/>
                <a:cs typeface="Calibri" pitchFamily="34" charset="-120"/>
              </a:rPr>
              <a:t>Cifra: entrevistas (población de 15+ años)</a:t>
            </a:r>
            <a:endParaRPr lang="en-US" sz="1200" dirty="0"/>
          </a:p>
        </p:txBody>
      </p:sp>
      <p:sp>
        <p:nvSpPr>
          <p:cNvPr id="30" name="Shape 26"/>
          <p:cNvSpPr/>
          <p:nvPr/>
        </p:nvSpPr>
        <p:spPr>
          <a:xfrm>
            <a:off x="3977640" y="3721608"/>
            <a:ext cx="7406640" cy="0"/>
          </a:xfrm>
          <a:prstGeom prst="line">
            <a:avLst/>
          </a:prstGeom>
          <a:noFill/>
          <a:ln w="19050">
            <a:solidFill>
              <a:srgbClr val="C9D1E0"/>
            </a:solidFill>
            <a:prstDash val="solid"/>
          </a:ln>
        </p:spPr>
      </p:sp>
      <p:sp>
        <p:nvSpPr>
          <p:cNvPr id="31" name="Shape 27"/>
          <p:cNvSpPr/>
          <p:nvPr/>
        </p:nvSpPr>
        <p:spPr>
          <a:xfrm>
            <a:off x="7291113" y="3602736"/>
            <a:ext cx="237744" cy="237744"/>
          </a:xfrm>
          <a:prstGeom prst="ellipse">
            <a:avLst/>
          </a:prstGeom>
          <a:solidFill>
            <a:srgbClr val="FFFFFF"/>
          </a:solidFill>
          <a:ln w="25400">
            <a:solidFill>
              <a:srgbClr val="8A93A6"/>
            </a:solidFill>
            <a:prstDash val="solid"/>
          </a:ln>
        </p:spPr>
      </p:sp>
      <p:sp>
        <p:nvSpPr>
          <p:cNvPr id="32" name="Text 28"/>
          <p:cNvSpPr txBox="1"/>
          <p:nvPr/>
        </p:nvSpPr>
        <p:spPr>
          <a:xfrm>
            <a:off x="6998505" y="32644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2003</a:t>
            </a:r>
            <a:endParaRPr lang="en-US" sz="1100" dirty="0"/>
          </a:p>
        </p:txBody>
      </p:sp>
      <p:sp>
        <p:nvSpPr>
          <p:cNvPr id="33" name="Text 29"/>
          <p:cNvSpPr txBox="1"/>
          <p:nvPr/>
        </p:nvSpPr>
        <p:spPr>
          <a:xfrm>
            <a:off x="6815625" y="3904488"/>
            <a:ext cx="1188720" cy="320040"/>
          </a:xfrm>
          <a:prstGeom prst="rect">
            <a:avLst/>
          </a:prstGeom>
          <a:noFill/>
          <a:ln/>
        </p:spPr>
        <p:txBody>
          <a:bodyPr wrap="square" lIns="0" tIns="0" rIns="0" bIns="0" rtlCol="0" anchor="ctr"/>
          <a:lstStyle/>
          <a:p>
            <a:pPr algn="ctr" indent="0" marL="0">
              <a:buNone/>
            </a:pPr>
            <a:r>
              <a:rPr lang="en-US" sz="1200" i="1" dirty="0">
                <a:solidFill>
                  <a:srgbClr val="8A93A6"/>
                </a:solidFill>
                <a:latin typeface="Calibri" pitchFamily="34" charset="0"/>
                <a:ea typeface="Calibri" pitchFamily="34" charset="-122"/>
                <a:cs typeface="Calibri" pitchFamily="34" charset="-120"/>
              </a:rPr>
              <a:t>7.257 (ref.)</a:t>
            </a:r>
            <a:endParaRPr lang="en-US" sz="1200" dirty="0"/>
          </a:p>
        </p:txBody>
      </p:sp>
      <p:sp>
        <p:nvSpPr>
          <p:cNvPr id="34" name="Shape 30"/>
          <p:cNvSpPr/>
          <p:nvPr/>
        </p:nvSpPr>
        <p:spPr>
          <a:xfrm>
            <a:off x="8194362" y="3602736"/>
            <a:ext cx="237744" cy="237744"/>
          </a:xfrm>
          <a:prstGeom prst="ellipse">
            <a:avLst/>
          </a:prstGeom>
          <a:solidFill>
            <a:srgbClr val="1F4E8C"/>
          </a:solidFill>
          <a:ln w="25400">
            <a:solidFill>
              <a:srgbClr val="1F4E8C"/>
            </a:solidFill>
            <a:prstDash val="solid"/>
          </a:ln>
        </p:spPr>
      </p:sp>
      <p:sp>
        <p:nvSpPr>
          <p:cNvPr id="35" name="Text 31"/>
          <p:cNvSpPr txBox="1"/>
          <p:nvPr/>
        </p:nvSpPr>
        <p:spPr>
          <a:xfrm>
            <a:off x="7901754" y="32644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2008</a:t>
            </a:r>
            <a:endParaRPr lang="en-US" sz="1100" dirty="0"/>
          </a:p>
        </p:txBody>
      </p:sp>
      <p:sp>
        <p:nvSpPr>
          <p:cNvPr id="36" name="Text 32"/>
          <p:cNvSpPr txBox="1"/>
          <p:nvPr/>
        </p:nvSpPr>
        <p:spPr>
          <a:xfrm>
            <a:off x="7718874" y="39044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7.140</a:t>
            </a:r>
            <a:endParaRPr lang="en-US" sz="1200" dirty="0"/>
          </a:p>
        </p:txBody>
      </p:sp>
      <p:sp>
        <p:nvSpPr>
          <p:cNvPr id="37" name="Shape 33"/>
          <p:cNvSpPr/>
          <p:nvPr/>
        </p:nvSpPr>
        <p:spPr>
          <a:xfrm>
            <a:off x="9097611" y="3602736"/>
            <a:ext cx="237744" cy="237744"/>
          </a:xfrm>
          <a:prstGeom prst="ellipse">
            <a:avLst/>
          </a:prstGeom>
          <a:solidFill>
            <a:srgbClr val="1F4E8C"/>
          </a:solidFill>
          <a:ln w="25400">
            <a:solidFill>
              <a:srgbClr val="1F4E8C"/>
            </a:solidFill>
            <a:prstDash val="solid"/>
          </a:ln>
        </p:spPr>
      </p:sp>
      <p:sp>
        <p:nvSpPr>
          <p:cNvPr id="38" name="Text 34"/>
          <p:cNvSpPr txBox="1"/>
          <p:nvPr/>
        </p:nvSpPr>
        <p:spPr>
          <a:xfrm>
            <a:off x="8805003" y="32644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2013</a:t>
            </a:r>
            <a:endParaRPr lang="en-US" sz="1100" dirty="0"/>
          </a:p>
        </p:txBody>
      </p:sp>
      <p:sp>
        <p:nvSpPr>
          <p:cNvPr id="39" name="Text 35"/>
          <p:cNvSpPr txBox="1"/>
          <p:nvPr/>
        </p:nvSpPr>
        <p:spPr>
          <a:xfrm>
            <a:off x="8622123" y="39044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7.255</a:t>
            </a:r>
            <a:endParaRPr lang="en-US" sz="1200" dirty="0"/>
          </a:p>
        </p:txBody>
      </p:sp>
      <p:sp>
        <p:nvSpPr>
          <p:cNvPr id="40" name="Shape 36"/>
          <p:cNvSpPr/>
          <p:nvPr/>
        </p:nvSpPr>
        <p:spPr>
          <a:xfrm>
            <a:off x="10000860" y="3602736"/>
            <a:ext cx="237744" cy="237744"/>
          </a:xfrm>
          <a:prstGeom prst="ellipse">
            <a:avLst/>
          </a:prstGeom>
          <a:solidFill>
            <a:srgbClr val="1F4E8C"/>
          </a:solidFill>
          <a:ln w="25400">
            <a:solidFill>
              <a:srgbClr val="1F4E8C"/>
            </a:solidFill>
            <a:prstDash val="solid"/>
          </a:ln>
        </p:spPr>
      </p:sp>
      <p:sp>
        <p:nvSpPr>
          <p:cNvPr id="41" name="Text 37"/>
          <p:cNvSpPr txBox="1"/>
          <p:nvPr/>
        </p:nvSpPr>
        <p:spPr>
          <a:xfrm>
            <a:off x="9708252" y="32644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2018</a:t>
            </a:r>
            <a:endParaRPr lang="en-US" sz="1100" dirty="0"/>
          </a:p>
        </p:txBody>
      </p:sp>
      <p:sp>
        <p:nvSpPr>
          <p:cNvPr id="42" name="Text 38"/>
          <p:cNvSpPr txBox="1"/>
          <p:nvPr/>
        </p:nvSpPr>
        <p:spPr>
          <a:xfrm>
            <a:off x="9525372" y="39044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8.780</a:t>
            </a:r>
            <a:endParaRPr lang="en-US" sz="1200" dirty="0"/>
          </a:p>
        </p:txBody>
      </p:sp>
      <p:sp>
        <p:nvSpPr>
          <p:cNvPr id="43" name="Shape 39"/>
          <p:cNvSpPr/>
          <p:nvPr/>
        </p:nvSpPr>
        <p:spPr>
          <a:xfrm>
            <a:off x="10904108" y="3602736"/>
            <a:ext cx="237744" cy="237744"/>
          </a:xfrm>
          <a:prstGeom prst="ellipse">
            <a:avLst/>
          </a:prstGeom>
          <a:solidFill>
            <a:srgbClr val="1F4E8C"/>
          </a:solidFill>
          <a:ln w="25400">
            <a:solidFill>
              <a:srgbClr val="1F4E8C"/>
            </a:solidFill>
            <a:prstDash val="solid"/>
          </a:ln>
        </p:spPr>
      </p:sp>
      <p:sp>
        <p:nvSpPr>
          <p:cNvPr id="44" name="Text 40"/>
          <p:cNvSpPr txBox="1"/>
          <p:nvPr/>
        </p:nvSpPr>
        <p:spPr>
          <a:xfrm>
            <a:off x="10611500" y="3264408"/>
            <a:ext cx="82296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2023</a:t>
            </a:r>
            <a:endParaRPr lang="en-US" sz="1100" dirty="0"/>
          </a:p>
        </p:txBody>
      </p:sp>
      <p:sp>
        <p:nvSpPr>
          <p:cNvPr id="45" name="Text 41"/>
          <p:cNvSpPr txBox="1"/>
          <p:nvPr/>
        </p:nvSpPr>
        <p:spPr>
          <a:xfrm>
            <a:off x="10428620" y="3904488"/>
            <a:ext cx="1188720" cy="320040"/>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8.682</a:t>
            </a:r>
            <a:endParaRPr lang="en-US" sz="1200" dirty="0"/>
          </a:p>
        </p:txBody>
      </p:sp>
      <p:sp>
        <p:nvSpPr>
          <p:cNvPr id="46" name="Shape 42"/>
          <p:cNvSpPr/>
          <p:nvPr/>
        </p:nvSpPr>
        <p:spPr>
          <a:xfrm>
            <a:off x="548640" y="4572000"/>
            <a:ext cx="11091672" cy="1417320"/>
          </a:xfrm>
          <a:prstGeom prst="roundRect">
            <a:avLst>
              <a:gd name="adj" fmla="val 7742"/>
            </a:avLst>
          </a:prstGeom>
          <a:solidFill>
            <a:srgbClr val="F3F5F9"/>
          </a:solidFill>
          <a:ln w="12700">
            <a:solidFill>
              <a:srgbClr val="F3F5F9"/>
            </a:solidFill>
            <a:prstDash val="solid"/>
          </a:ln>
        </p:spPr>
      </p:sp>
      <p:pic>
        <p:nvPicPr>
          <p:cNvPr id="47" name="Image 2" descr="preencoded.png">    </p:cNvPr>
          <p:cNvPicPr>
            <a:picLocks noChangeAspect="1"/>
          </p:cNvPicPr>
          <p:nvPr/>
        </p:nvPicPr>
        <p:blipFill>
          <a:blip r:embed="rId3"/>
          <a:stretch>
            <a:fillRect/>
          </a:stretch>
        </p:blipFill>
        <p:spPr>
          <a:xfrm>
            <a:off x="777240" y="4754880"/>
            <a:ext cx="411480" cy="411480"/>
          </a:xfrm>
          <a:prstGeom prst="rect">
            <a:avLst/>
          </a:prstGeom>
        </p:spPr>
      </p:pic>
      <p:sp>
        <p:nvSpPr>
          <p:cNvPr id="48" name="Text 43"/>
          <p:cNvSpPr txBox="1"/>
          <p:nvPr/>
        </p:nvSpPr>
        <p:spPr>
          <a:xfrm>
            <a:off x="1280160" y="4709160"/>
            <a:ext cx="2377440" cy="502920"/>
          </a:xfrm>
          <a:prstGeom prst="rect">
            <a:avLst/>
          </a:prstGeom>
          <a:noFill/>
          <a:ln/>
        </p:spPr>
        <p:txBody>
          <a:bodyPr wrap="square" lIns="0" tIns="0" rIns="0" bIns="0" rtlCol="0" anchor="ctr"/>
          <a:lstStyle/>
          <a:p>
            <a:pPr indent="0" marL="0">
              <a:buNone/>
            </a:pPr>
            <a:r>
              <a:rPr lang="en-US" sz="2200" b="1" dirty="0">
                <a:solidFill>
                  <a:srgbClr val="1F4E8C"/>
                </a:solidFill>
                <a:latin typeface="Cambria" pitchFamily="34" charset="0"/>
                <a:ea typeface="Cambria" pitchFamily="34" charset="-122"/>
                <a:cs typeface="Cambria" pitchFamily="34" charset="-120"/>
              </a:rPr>
              <a:t>Aprender</a:t>
            </a:r>
            <a:endParaRPr lang="en-US" sz="2200" dirty="0"/>
          </a:p>
        </p:txBody>
      </p:sp>
      <p:sp>
        <p:nvSpPr>
          <p:cNvPr id="49" name="Text 44"/>
          <p:cNvSpPr txBox="1"/>
          <p:nvPr/>
        </p:nvSpPr>
        <p:spPr>
          <a:xfrm>
            <a:off x="777240" y="5257800"/>
            <a:ext cx="3063240" cy="640080"/>
          </a:xfrm>
          <a:prstGeom prst="rect">
            <a:avLst/>
          </a:prstGeom>
          <a:noFill/>
          <a:ln/>
        </p:spPr>
        <p:txBody>
          <a:bodyPr wrap="square" lIns="0" tIns="0" rIns="0" bIns="0" rtlCol="0" anchor="t"/>
          <a:lstStyle/>
          <a:p>
            <a:pPr indent="0" marL="0">
              <a:buNone/>
            </a:pPr>
            <a:r>
              <a:rPr lang="en-US" sz="1200" b="1" dirty="0">
                <a:solidFill>
                  <a:srgbClr val="1B2333"/>
                </a:solidFill>
                <a:latin typeface="Calibri" pitchFamily="34" charset="0"/>
                <a:ea typeface="Calibri" pitchFamily="34" charset="-122"/>
                <a:cs typeface="Calibri" pitchFamily="34" charset="-120"/>
              </a:rPr>
              <a:t>Inscripciones al CPNL</a:t>
            </a:r>
            <a:endParaRPr lang="en-US" sz="1200" dirty="0"/>
          </a:p>
          <a:p>
            <a:pPr indent="0" marL="0">
              <a:buNone/>
            </a:pPr>
            <a:r>
              <a:rPr lang="en-US" sz="1100" dirty="0">
                <a:solidFill>
                  <a:srgbClr val="5B6475"/>
                </a:solidFill>
                <a:latin typeface="Calibri" pitchFamily="34" charset="0"/>
                <a:ea typeface="Calibri" pitchFamily="34" charset="-122"/>
                <a:cs typeface="Calibri" pitchFamily="34" charset="-120"/>
              </a:rPr>
              <a:t>Cifra: inscripciones al año (no personas)</a:t>
            </a:r>
            <a:endParaRPr lang="en-US" sz="1200" dirty="0"/>
          </a:p>
        </p:txBody>
      </p:sp>
      <p:sp>
        <p:nvSpPr>
          <p:cNvPr id="50" name="Shape 45"/>
          <p:cNvSpPr/>
          <p:nvPr/>
        </p:nvSpPr>
        <p:spPr>
          <a:xfrm>
            <a:off x="3977640" y="5321808"/>
            <a:ext cx="7406640" cy="0"/>
          </a:xfrm>
          <a:prstGeom prst="line">
            <a:avLst/>
          </a:prstGeom>
          <a:noFill/>
          <a:ln w="19050">
            <a:solidFill>
              <a:srgbClr val="C9D1E0"/>
            </a:solidFill>
            <a:prstDash val="solid"/>
          </a:ln>
        </p:spPr>
      </p:sp>
      <p:sp>
        <p:nvSpPr>
          <p:cNvPr id="51" name="Shape 46"/>
          <p:cNvSpPr/>
          <p:nvPr/>
        </p:nvSpPr>
        <p:spPr>
          <a:xfrm>
            <a:off x="8763743" y="5212080"/>
            <a:ext cx="2350677" cy="219456"/>
          </a:xfrm>
          <a:prstGeom prst="roundRect">
            <a:avLst>
              <a:gd name="adj" fmla="val 50000"/>
            </a:avLst>
          </a:prstGeom>
          <a:solidFill>
            <a:srgbClr val="1F4E8C"/>
          </a:solidFill>
          <a:ln w="12700">
            <a:solidFill>
              <a:srgbClr val="1F4E8C"/>
            </a:solidFill>
            <a:prstDash val="solid"/>
          </a:ln>
        </p:spPr>
      </p:sp>
      <p:sp>
        <p:nvSpPr>
          <p:cNvPr id="52" name="Text 47"/>
          <p:cNvSpPr txBox="1"/>
          <p:nvPr/>
        </p:nvSpPr>
        <p:spPr>
          <a:xfrm>
            <a:off x="8489423" y="4818888"/>
            <a:ext cx="73152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2011</a:t>
            </a:r>
            <a:endParaRPr lang="en-US" sz="1100" dirty="0"/>
          </a:p>
        </p:txBody>
      </p:sp>
      <p:sp>
        <p:nvSpPr>
          <p:cNvPr id="53" name="Text 48"/>
          <p:cNvSpPr txBox="1"/>
          <p:nvPr/>
        </p:nvSpPr>
        <p:spPr>
          <a:xfrm>
            <a:off x="10657220" y="4818888"/>
            <a:ext cx="731520" cy="274320"/>
          </a:xfrm>
          <a:prstGeom prst="rect">
            <a:avLst/>
          </a:prstGeom>
          <a:noFill/>
          <a:ln/>
        </p:spPr>
        <p:txBody>
          <a:bodyPr wrap="square" lIns="0" tIns="0" rIns="0" bIns="0" rtlCol="0" anchor="ctr"/>
          <a:lstStyle/>
          <a:p>
            <a:pPr algn="ctr" indent="0" marL="0">
              <a:buNone/>
            </a:pPr>
            <a:r>
              <a:rPr lang="en-US" sz="1100" dirty="0">
                <a:solidFill>
                  <a:srgbClr val="5B6475"/>
                </a:solidFill>
                <a:latin typeface="Calibri" pitchFamily="34" charset="0"/>
                <a:ea typeface="Calibri" pitchFamily="34" charset="-122"/>
                <a:cs typeface="Calibri" pitchFamily="34" charset="-120"/>
              </a:rPr>
              <a:t>2023</a:t>
            </a:r>
            <a:endParaRPr lang="en-US" sz="1100" dirty="0"/>
          </a:p>
        </p:txBody>
      </p:sp>
      <p:sp>
        <p:nvSpPr>
          <p:cNvPr id="54" name="Text 49"/>
          <p:cNvSpPr txBox="1"/>
          <p:nvPr/>
        </p:nvSpPr>
        <p:spPr>
          <a:xfrm>
            <a:off x="3977640" y="5504688"/>
            <a:ext cx="7498080" cy="320040"/>
          </a:xfrm>
          <a:prstGeom prst="rect">
            <a:avLst/>
          </a:prstGeom>
          <a:noFill/>
          <a:ln/>
        </p:spPr>
        <p:txBody>
          <a:bodyPr wrap="square" lIns="0" tIns="0" rIns="0" bIns="0" rtlCol="0" anchor="ctr"/>
          <a:lstStyle/>
          <a:p>
            <a:pPr algn="r" indent="0" marL="0">
              <a:buNone/>
            </a:pPr>
            <a:r>
              <a:rPr lang="en-US" sz="1200" b="1" dirty="0">
                <a:solidFill>
                  <a:srgbClr val="1B2333"/>
                </a:solidFill>
                <a:latin typeface="Calibri" pitchFamily="34" charset="0"/>
                <a:ea typeface="Calibri" pitchFamily="34" charset="-122"/>
                <a:cs typeface="Calibri" pitchFamily="34" charset="-120"/>
              </a:rPr>
              <a:t>cada año, de 51.705 a 105.605 · 1.012.989 en total</a:t>
            </a:r>
            <a:endParaRPr lang="en-US" sz="1200" dirty="0"/>
          </a:p>
        </p:txBody>
      </p:sp>
      <p:sp>
        <p:nvSpPr>
          <p:cNvPr id="55" name="Text 50"/>
          <p:cNvSpPr txBox="1"/>
          <p:nvPr/>
        </p:nvSpPr>
        <p:spPr>
          <a:xfrm>
            <a:off x="548640" y="6053328"/>
            <a:ext cx="11094415" cy="320040"/>
          </a:xfrm>
          <a:prstGeom prst="rect">
            <a:avLst/>
          </a:prstGeom>
          <a:noFill/>
          <a:ln/>
        </p:spPr>
        <p:txBody>
          <a:bodyPr wrap="square" lIns="0" tIns="0" rIns="0" bIns="0" rtlCol="0" anchor="ctr"/>
          <a:lstStyle/>
          <a:p>
            <a:pPr indent="0" marL="0">
              <a:buNone/>
            </a:pPr>
            <a:r>
              <a:rPr lang="en-US" sz="1400" b="1" dirty="0">
                <a:solidFill>
                  <a:srgbClr val="1B2333"/>
                </a:solidFill>
                <a:latin typeface="Calibri" pitchFamily="34" charset="0"/>
                <a:ea typeface="Calibri" pitchFamily="34" charset="-122"/>
                <a:cs typeface="Calibri" pitchFamily="34" charset="-120"/>
              </a:rPr>
              <a:t>No se unen: miden cosas distintas, en poblaciones distintas y en años distintos.</a:t>
            </a:r>
            <a:endParaRPr lang="en-US" sz="1400" dirty="0"/>
          </a:p>
        </p:txBody>
      </p:sp>
      <p:sp>
        <p:nvSpPr>
          <p:cNvPr id="56" name="Text 51"/>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 2011: registros y muestra de ~9%. Círculos vacíos: no comparables con su serie (2003: el cuestionario cambió en 2008; 2021: pregunta con grados).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Antes de analizar, limpiar: los datos oficiales también fallan</a:t>
            </a:r>
            <a:endParaRPr lang="en-US" sz="3200" dirty="0"/>
          </a:p>
        </p:txBody>
      </p:sp>
      <p:sp>
        <p:nvSpPr>
          <p:cNvPr id="3" name="Text 1"/>
          <p:cNvSpPr txBox="1"/>
          <p:nvPr/>
        </p:nvSpPr>
        <p:spPr>
          <a:xfrm>
            <a:off x="548640" y="1371600"/>
            <a:ext cx="2926080" cy="1188720"/>
          </a:xfrm>
          <a:prstGeom prst="rect">
            <a:avLst/>
          </a:prstGeom>
          <a:noFill/>
          <a:ln/>
        </p:spPr>
        <p:txBody>
          <a:bodyPr wrap="square" lIns="0" tIns="0" rIns="0" bIns="0" rtlCol="0" anchor="b"/>
          <a:lstStyle/>
          <a:p>
            <a:pPr indent="0" marL="0">
              <a:buNone/>
            </a:pPr>
            <a:r>
              <a:rPr lang="en-US" sz="7200" b="1" dirty="0">
                <a:solidFill>
                  <a:srgbClr val="F2A93B"/>
                </a:solidFill>
                <a:latin typeface="Cambria" pitchFamily="34" charset="0"/>
                <a:ea typeface="Cambria" pitchFamily="34" charset="-122"/>
                <a:cs typeface="Cambria" pitchFamily="34" charset="-120"/>
              </a:rPr>
              <a:t>30+</a:t>
            </a:r>
            <a:endParaRPr lang="en-US" sz="7200" dirty="0"/>
          </a:p>
        </p:txBody>
      </p:sp>
      <p:sp>
        <p:nvSpPr>
          <p:cNvPr id="4" name="Text 2"/>
          <p:cNvSpPr txBox="1"/>
          <p:nvPr/>
        </p:nvSpPr>
        <p:spPr>
          <a:xfrm>
            <a:off x="548640" y="2606040"/>
            <a:ext cx="3017520" cy="822960"/>
          </a:xfrm>
          <a:prstGeom prst="rect">
            <a:avLst/>
          </a:prstGeom>
          <a:noFill/>
          <a:ln/>
        </p:spPr>
        <p:txBody>
          <a:bodyPr wrap="square" lIns="0" tIns="0" rIns="0" bIns="0" rtlCol="0" anchor="t"/>
          <a:lstStyle/>
          <a:p>
            <a:pPr indent="0" marL="0">
              <a:buNone/>
            </a:pPr>
            <a:r>
              <a:rPr lang="en-US" sz="1600" dirty="0">
                <a:solidFill>
                  <a:srgbClr val="1B2333"/>
                </a:solidFill>
                <a:latin typeface="Calibri" pitchFamily="34" charset="0"/>
                <a:ea typeface="Calibri" pitchFamily="34" charset="-122"/>
                <a:cs typeface="Calibri" pitchFamily="34" charset="-120"/>
              </a:rPr>
              <a:t>incidencias detectadas, corregidas y documentadas</a:t>
            </a:r>
            <a:endParaRPr lang="en-US" sz="1600" dirty="0"/>
          </a:p>
        </p:txBody>
      </p:sp>
      <p:sp>
        <p:nvSpPr>
          <p:cNvPr id="5" name="Shape 3"/>
          <p:cNvSpPr/>
          <p:nvPr/>
        </p:nvSpPr>
        <p:spPr>
          <a:xfrm>
            <a:off x="3931920" y="1417320"/>
            <a:ext cx="7708392" cy="731520"/>
          </a:xfrm>
          <a:prstGeom prst="roundRect">
            <a:avLst>
              <a:gd name="adj" fmla="val 15000"/>
            </a:avLst>
          </a:prstGeom>
          <a:solidFill>
            <a:srgbClr val="F3F5F9"/>
          </a:solidFill>
          <a:ln w="12700">
            <a:solidFill>
              <a:srgbClr val="F3F5F9"/>
            </a:solidFill>
            <a:prstDash val="solid"/>
          </a:ln>
        </p:spPr>
      </p:sp>
      <p:sp>
        <p:nvSpPr>
          <p:cNvPr id="6" name="Text 4"/>
          <p:cNvSpPr txBox="1"/>
          <p:nvPr/>
        </p:nvSpPr>
        <p:spPr>
          <a:xfrm>
            <a:off x="4114800" y="1417320"/>
            <a:ext cx="1463040" cy="731520"/>
          </a:xfrm>
          <a:prstGeom prst="rect">
            <a:avLst/>
          </a:prstGeom>
          <a:noFill/>
          <a:ln/>
        </p:spPr>
        <p:txBody>
          <a:bodyPr wrap="square" lIns="0" tIns="0" rIns="0" bIns="0" rtlCol="0" anchor="ctr"/>
          <a:lstStyle/>
          <a:p>
            <a:pPr indent="0" marL="0">
              <a:buNone/>
            </a:pPr>
            <a:r>
              <a:rPr lang="en-US" sz="1800" b="1" dirty="0">
                <a:solidFill>
                  <a:srgbClr val="1F4E8C"/>
                </a:solidFill>
                <a:latin typeface="Cambria" pitchFamily="34" charset="0"/>
                <a:ea typeface="Cambria" pitchFamily="34" charset="-122"/>
                <a:cs typeface="Cambria" pitchFamily="34" charset="-120"/>
              </a:rPr>
              <a:t>9999999</a:t>
            </a:r>
            <a:endParaRPr lang="en-US" sz="1800" dirty="0"/>
          </a:p>
        </p:txBody>
      </p:sp>
      <p:sp>
        <p:nvSpPr>
          <p:cNvPr id="7" name="Text 5"/>
          <p:cNvSpPr txBox="1"/>
          <p:nvPr/>
        </p:nvSpPr>
        <p:spPr>
          <a:xfrm>
            <a:off x="5623560" y="1417320"/>
            <a:ext cx="5897880" cy="73152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Código de "dato no disponible": leído como dato, sumaba casi 10.000 millones de personas</a:t>
            </a:r>
            <a:endParaRPr lang="en-US" sz="1400" dirty="0"/>
          </a:p>
        </p:txBody>
      </p:sp>
      <p:sp>
        <p:nvSpPr>
          <p:cNvPr id="8" name="Shape 6"/>
          <p:cNvSpPr/>
          <p:nvPr/>
        </p:nvSpPr>
        <p:spPr>
          <a:xfrm>
            <a:off x="3931920" y="2286000"/>
            <a:ext cx="7708392" cy="731520"/>
          </a:xfrm>
          <a:prstGeom prst="roundRect">
            <a:avLst>
              <a:gd name="adj" fmla="val 15000"/>
            </a:avLst>
          </a:prstGeom>
          <a:solidFill>
            <a:srgbClr val="F3F5F9"/>
          </a:solidFill>
          <a:ln w="12700">
            <a:solidFill>
              <a:srgbClr val="F3F5F9"/>
            </a:solidFill>
            <a:prstDash val="solid"/>
          </a:ln>
        </p:spPr>
      </p:sp>
      <p:sp>
        <p:nvSpPr>
          <p:cNvPr id="9" name="Text 7"/>
          <p:cNvSpPr txBox="1"/>
          <p:nvPr/>
        </p:nvSpPr>
        <p:spPr>
          <a:xfrm>
            <a:off x="4114800" y="2286000"/>
            <a:ext cx="1463040" cy="731520"/>
          </a:xfrm>
          <a:prstGeom prst="rect">
            <a:avLst/>
          </a:prstGeom>
          <a:noFill/>
          <a:ln/>
        </p:spPr>
        <p:txBody>
          <a:bodyPr wrap="square" lIns="0" tIns="0" rIns="0" bIns="0" rtlCol="0" anchor="ctr"/>
          <a:lstStyle/>
          <a:p>
            <a:pPr indent="0" marL="0">
              <a:buNone/>
            </a:pPr>
            <a:r>
              <a:rPr lang="en-US" sz="1800" b="1" dirty="0">
                <a:solidFill>
                  <a:srgbClr val="1F4E8C"/>
                </a:solidFill>
                <a:latin typeface="Cambria" pitchFamily="34" charset="0"/>
                <a:ea typeface="Cambria" pitchFamily="34" charset="-122"/>
                <a:cs typeface="Cambria" pitchFamily="34" charset="-120"/>
              </a:rPr>
              <a:t>38%</a:t>
            </a:r>
            <a:endParaRPr lang="en-US" sz="1800" dirty="0"/>
          </a:p>
        </p:txBody>
      </p:sp>
      <p:sp>
        <p:nvSpPr>
          <p:cNvPr id="10" name="Text 8"/>
          <p:cNvSpPr txBox="1"/>
          <p:nvPr/>
        </p:nvSpPr>
        <p:spPr>
          <a:xfrm>
            <a:off x="5623560" y="2286000"/>
            <a:ext cx="5897880" cy="73152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Inscripciones sin origen en 2021: los % se calculan solo con origen conocido</a:t>
            </a:r>
            <a:endParaRPr lang="en-US" sz="1400" dirty="0"/>
          </a:p>
        </p:txBody>
      </p:sp>
      <p:sp>
        <p:nvSpPr>
          <p:cNvPr id="11" name="Shape 9"/>
          <p:cNvSpPr/>
          <p:nvPr/>
        </p:nvSpPr>
        <p:spPr>
          <a:xfrm>
            <a:off x="3931920" y="3154680"/>
            <a:ext cx="7708392" cy="731520"/>
          </a:xfrm>
          <a:prstGeom prst="roundRect">
            <a:avLst>
              <a:gd name="adj" fmla="val 15000"/>
            </a:avLst>
          </a:prstGeom>
          <a:solidFill>
            <a:srgbClr val="F3F5F9"/>
          </a:solidFill>
          <a:ln w="12700">
            <a:solidFill>
              <a:srgbClr val="F3F5F9"/>
            </a:solidFill>
            <a:prstDash val="solid"/>
          </a:ln>
        </p:spPr>
      </p:sp>
      <p:sp>
        <p:nvSpPr>
          <p:cNvPr id="12" name="Text 10"/>
          <p:cNvSpPr txBox="1"/>
          <p:nvPr/>
        </p:nvSpPr>
        <p:spPr>
          <a:xfrm>
            <a:off x="4114800" y="3154680"/>
            <a:ext cx="1463040" cy="731520"/>
          </a:xfrm>
          <a:prstGeom prst="rect">
            <a:avLst/>
          </a:prstGeom>
          <a:noFill/>
          <a:ln/>
        </p:spPr>
        <p:txBody>
          <a:bodyPr wrap="square" lIns="0" tIns="0" rIns="0" bIns="0" rtlCol="0" anchor="ctr"/>
          <a:lstStyle/>
          <a:p>
            <a:pPr indent="0" marL="0">
              <a:buNone/>
            </a:pPr>
            <a:r>
              <a:rPr lang="en-US" sz="1800" b="1" dirty="0">
                <a:solidFill>
                  <a:srgbClr val="1F4E8C"/>
                </a:solidFill>
                <a:latin typeface="Cambria" pitchFamily="34" charset="0"/>
                <a:ea typeface="Cambria" pitchFamily="34" charset="-122"/>
                <a:cs typeface="Cambria" pitchFamily="34" charset="-120"/>
              </a:rPr>
              <a:t>2003</a:t>
            </a:r>
            <a:endParaRPr lang="en-US" sz="1800" dirty="0"/>
          </a:p>
        </p:txBody>
      </p:sp>
      <p:sp>
        <p:nvSpPr>
          <p:cNvPr id="13" name="Text 11"/>
          <p:cNvSpPr txBox="1"/>
          <p:nvPr/>
        </p:nvSpPr>
        <p:spPr>
          <a:xfrm>
            <a:off x="5623560" y="3154680"/>
            <a:ext cx="5897880" cy="73152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No comparable: en 2008 cambió el cuestionario y el modo de entrevista</a:t>
            </a:r>
            <a:endParaRPr lang="en-US" sz="1400" dirty="0"/>
          </a:p>
        </p:txBody>
      </p:sp>
      <p:sp>
        <p:nvSpPr>
          <p:cNvPr id="14" name="Shape 12"/>
          <p:cNvSpPr/>
          <p:nvPr/>
        </p:nvSpPr>
        <p:spPr>
          <a:xfrm>
            <a:off x="3931920" y="4023360"/>
            <a:ext cx="7708392" cy="731520"/>
          </a:xfrm>
          <a:prstGeom prst="roundRect">
            <a:avLst>
              <a:gd name="adj" fmla="val 15000"/>
            </a:avLst>
          </a:prstGeom>
          <a:solidFill>
            <a:srgbClr val="F3F5F9"/>
          </a:solidFill>
          <a:ln w="12700">
            <a:solidFill>
              <a:srgbClr val="F3F5F9"/>
            </a:solidFill>
            <a:prstDash val="solid"/>
          </a:ln>
        </p:spPr>
      </p:sp>
      <p:sp>
        <p:nvSpPr>
          <p:cNvPr id="15" name="Text 13"/>
          <p:cNvSpPr txBox="1"/>
          <p:nvPr/>
        </p:nvSpPr>
        <p:spPr>
          <a:xfrm>
            <a:off x="4114800" y="4023360"/>
            <a:ext cx="1463040" cy="731520"/>
          </a:xfrm>
          <a:prstGeom prst="rect">
            <a:avLst/>
          </a:prstGeom>
          <a:noFill/>
          <a:ln/>
        </p:spPr>
        <p:txBody>
          <a:bodyPr wrap="square" lIns="0" tIns="0" rIns="0" bIns="0" rtlCol="0" anchor="ctr"/>
          <a:lstStyle/>
          <a:p>
            <a:pPr indent="0" marL="0">
              <a:buNone/>
            </a:pPr>
            <a:r>
              <a:rPr lang="en-US" sz="1800" b="1" dirty="0">
                <a:solidFill>
                  <a:srgbClr val="1F4E8C"/>
                </a:solidFill>
                <a:latin typeface="Cambria" pitchFamily="34" charset="0"/>
                <a:ea typeface="Cambria" pitchFamily="34" charset="-122"/>
                <a:cs typeface="Cambria" pitchFamily="34" charset="-120"/>
              </a:rPr>
              <a:t>Códigos</a:t>
            </a:r>
            <a:endParaRPr lang="en-US" sz="1800" dirty="0"/>
          </a:p>
        </p:txBody>
      </p:sp>
      <p:sp>
        <p:nvSpPr>
          <p:cNvPr id="16" name="Text 14"/>
          <p:cNvSpPr txBox="1"/>
          <p:nvPr/>
        </p:nvSpPr>
        <p:spPr>
          <a:xfrm>
            <a:off x="5623560" y="4023360"/>
            <a:ext cx="5897880" cy="731520"/>
          </a:xfrm>
          <a:prstGeom prst="rect">
            <a:avLst/>
          </a:prstGeom>
          <a:noFill/>
          <a:ln/>
        </p:spPr>
        <p:txBody>
          <a:bodyPr wrap="square" lIns="0" tIns="0" rIns="0" bIns="0" rtlCol="0" anchor="ctr"/>
          <a:lstStyle/>
          <a:p>
            <a:pPr indent="0" marL="0">
              <a:buNone/>
            </a:pPr>
            <a:r>
              <a:rPr lang="en-US" sz="1400" dirty="0">
                <a:solidFill>
                  <a:srgbClr val="1B2333"/>
                </a:solidFill>
                <a:latin typeface="Calibri" pitchFamily="34" charset="0"/>
                <a:ea typeface="Calibri" pitchFamily="34" charset="-122"/>
                <a:cs typeface="Calibri" pitchFamily="34" charset="-120"/>
              </a:rPr>
              <a:t>Municipios con el código de otro (Alfarràs, Perafort): códigos corregidos; se relaciona siempre por código, nunca por nombre</a:t>
            </a:r>
            <a:endParaRPr lang="en-US" sz="1400" dirty="0"/>
          </a:p>
        </p:txBody>
      </p:sp>
      <p:sp>
        <p:nvSpPr>
          <p:cNvPr id="17" name="Shape 15"/>
          <p:cNvSpPr/>
          <p:nvPr/>
        </p:nvSpPr>
        <p:spPr>
          <a:xfrm>
            <a:off x="548640" y="5074920"/>
            <a:ext cx="2514600" cy="1005840"/>
          </a:xfrm>
          <a:prstGeom prst="roundRect">
            <a:avLst>
              <a:gd name="adj" fmla="val 10909"/>
            </a:avLst>
          </a:prstGeom>
          <a:solidFill>
            <a:srgbClr val="14213D"/>
          </a:solidFill>
          <a:ln w="12700">
            <a:solidFill>
              <a:srgbClr val="14213D"/>
            </a:solidFill>
            <a:prstDash val="solid"/>
          </a:ln>
        </p:spPr>
      </p:sp>
      <p:pic>
        <p:nvPicPr>
          <p:cNvPr id="18" name="Image 0" descr="preencoded.png">    </p:cNvPr>
          <p:cNvPicPr>
            <a:picLocks noChangeAspect="1"/>
          </p:cNvPicPr>
          <p:nvPr/>
        </p:nvPicPr>
        <p:blipFill>
          <a:blip r:embed="rId1"/>
          <a:stretch>
            <a:fillRect/>
          </a:stretch>
        </p:blipFill>
        <p:spPr>
          <a:xfrm>
            <a:off x="731520" y="5303520"/>
            <a:ext cx="502920" cy="502920"/>
          </a:xfrm>
          <a:prstGeom prst="rect">
            <a:avLst/>
          </a:prstGeom>
        </p:spPr>
      </p:pic>
      <p:sp>
        <p:nvSpPr>
          <p:cNvPr id="19" name="Text 16"/>
          <p:cNvSpPr txBox="1"/>
          <p:nvPr/>
        </p:nvSpPr>
        <p:spPr>
          <a:xfrm>
            <a:off x="1325880" y="5120640"/>
            <a:ext cx="16916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Fuentes oficiales</a:t>
            </a:r>
            <a:endParaRPr lang="en-US" sz="1400" dirty="0"/>
          </a:p>
          <a:p>
            <a:pPr indent="0" marL="0">
              <a:buNone/>
            </a:pPr>
            <a:r>
              <a:rPr lang="en-US" sz="1100" dirty="0">
                <a:solidFill>
                  <a:srgbClr val="C9D1E0"/>
                </a:solidFill>
                <a:latin typeface="Calibri" pitchFamily="34" charset="0"/>
                <a:ea typeface="Calibri" pitchFamily="34" charset="-122"/>
                <a:cs typeface="Calibri" pitchFamily="34" charset="-120"/>
              </a:rPr>
              <a:t>Idescat · INE · CPNL</a:t>
            </a:r>
            <a:endParaRPr lang="en-US" sz="1400" dirty="0"/>
          </a:p>
        </p:txBody>
      </p:sp>
      <p:sp>
        <p:nvSpPr>
          <p:cNvPr id="20" name="Shape 17"/>
          <p:cNvSpPr/>
          <p:nvPr/>
        </p:nvSpPr>
        <p:spPr>
          <a:xfrm>
            <a:off x="3108960" y="5440680"/>
            <a:ext cx="301752" cy="274320"/>
          </a:xfrm>
          <a:prstGeom prst="rightArrow">
            <a:avLst/>
          </a:prstGeom>
          <a:solidFill>
            <a:srgbClr val="F2A93B"/>
          </a:solidFill>
          <a:ln w="12700">
            <a:solidFill>
              <a:srgbClr val="F2A93B"/>
            </a:solidFill>
            <a:prstDash val="solid"/>
          </a:ln>
        </p:spPr>
      </p:sp>
      <p:sp>
        <p:nvSpPr>
          <p:cNvPr id="21" name="Shape 18"/>
          <p:cNvSpPr/>
          <p:nvPr/>
        </p:nvSpPr>
        <p:spPr>
          <a:xfrm>
            <a:off x="3456432" y="5074920"/>
            <a:ext cx="2514600" cy="1005840"/>
          </a:xfrm>
          <a:prstGeom prst="roundRect">
            <a:avLst>
              <a:gd name="adj" fmla="val 10909"/>
            </a:avLst>
          </a:prstGeom>
          <a:solidFill>
            <a:srgbClr val="14213D"/>
          </a:solidFill>
          <a:ln w="12700">
            <a:solidFill>
              <a:srgbClr val="14213D"/>
            </a:solidFill>
            <a:prstDash val="solid"/>
          </a:ln>
        </p:spPr>
      </p:sp>
      <p:pic>
        <p:nvPicPr>
          <p:cNvPr id="22" name="Image 1" descr="preencoded.png">    </p:cNvPr>
          <p:cNvPicPr>
            <a:picLocks noChangeAspect="1"/>
          </p:cNvPicPr>
          <p:nvPr/>
        </p:nvPicPr>
        <p:blipFill>
          <a:blip r:embed="rId2"/>
          <a:stretch>
            <a:fillRect/>
          </a:stretch>
        </p:blipFill>
        <p:spPr>
          <a:xfrm>
            <a:off x="3639312" y="5303520"/>
            <a:ext cx="502920" cy="502920"/>
          </a:xfrm>
          <a:prstGeom prst="rect">
            <a:avLst/>
          </a:prstGeom>
        </p:spPr>
      </p:pic>
      <p:sp>
        <p:nvSpPr>
          <p:cNvPr id="23" name="Text 19"/>
          <p:cNvSpPr txBox="1"/>
          <p:nvPr/>
        </p:nvSpPr>
        <p:spPr>
          <a:xfrm>
            <a:off x="4233672" y="5120640"/>
            <a:ext cx="16916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Limpieza en Python</a:t>
            </a:r>
            <a:endParaRPr lang="en-US" sz="1400" dirty="0"/>
          </a:p>
          <a:p>
            <a:pPr indent="0" marL="0">
              <a:buNone/>
            </a:pPr>
            <a:r>
              <a:rPr lang="en-US" sz="1100" dirty="0">
                <a:solidFill>
                  <a:srgbClr val="C9D1E0"/>
                </a:solidFill>
                <a:latin typeface="Calibri" pitchFamily="34" charset="0"/>
                <a:ea typeface="Calibri" pitchFamily="34" charset="-122"/>
                <a:cs typeface="Calibri" pitchFamily="34" charset="-120"/>
              </a:rPr>
              <a:t>pandas · scripts reproducibles</a:t>
            </a:r>
            <a:endParaRPr lang="en-US" sz="1400" dirty="0"/>
          </a:p>
        </p:txBody>
      </p:sp>
      <p:sp>
        <p:nvSpPr>
          <p:cNvPr id="24" name="Shape 20"/>
          <p:cNvSpPr/>
          <p:nvPr/>
        </p:nvSpPr>
        <p:spPr>
          <a:xfrm>
            <a:off x="6016752" y="5440680"/>
            <a:ext cx="301752" cy="274320"/>
          </a:xfrm>
          <a:prstGeom prst="rightArrow">
            <a:avLst/>
          </a:prstGeom>
          <a:solidFill>
            <a:srgbClr val="F2A93B"/>
          </a:solidFill>
          <a:ln w="12700">
            <a:solidFill>
              <a:srgbClr val="F2A93B"/>
            </a:solidFill>
            <a:prstDash val="solid"/>
          </a:ln>
        </p:spPr>
      </p:sp>
      <p:sp>
        <p:nvSpPr>
          <p:cNvPr id="25" name="Shape 21"/>
          <p:cNvSpPr/>
          <p:nvPr/>
        </p:nvSpPr>
        <p:spPr>
          <a:xfrm>
            <a:off x="6364224" y="5074920"/>
            <a:ext cx="2514600" cy="1005840"/>
          </a:xfrm>
          <a:prstGeom prst="roundRect">
            <a:avLst>
              <a:gd name="adj" fmla="val 10909"/>
            </a:avLst>
          </a:prstGeom>
          <a:solidFill>
            <a:srgbClr val="14213D"/>
          </a:solidFill>
          <a:ln w="12700">
            <a:solidFill>
              <a:srgbClr val="14213D"/>
            </a:solidFill>
            <a:prstDash val="solid"/>
          </a:ln>
        </p:spPr>
      </p:sp>
      <p:pic>
        <p:nvPicPr>
          <p:cNvPr id="26" name="Image 2" descr="preencoded.png">    </p:cNvPr>
          <p:cNvPicPr>
            <a:picLocks noChangeAspect="1"/>
          </p:cNvPicPr>
          <p:nvPr/>
        </p:nvPicPr>
        <p:blipFill>
          <a:blip r:embed="rId3"/>
          <a:stretch>
            <a:fillRect/>
          </a:stretch>
        </p:blipFill>
        <p:spPr>
          <a:xfrm>
            <a:off x="6547104" y="5303520"/>
            <a:ext cx="502920" cy="502920"/>
          </a:xfrm>
          <a:prstGeom prst="rect">
            <a:avLst/>
          </a:prstGeom>
        </p:spPr>
      </p:pic>
      <p:sp>
        <p:nvSpPr>
          <p:cNvPr id="27" name="Text 22"/>
          <p:cNvSpPr txBox="1"/>
          <p:nvPr/>
        </p:nvSpPr>
        <p:spPr>
          <a:xfrm>
            <a:off x="7141464" y="5120640"/>
            <a:ext cx="16916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Dashboard</a:t>
            </a:r>
            <a:endParaRPr lang="en-US" sz="1400" dirty="0"/>
          </a:p>
          <a:p>
            <a:pPr indent="0" marL="0">
              <a:buNone/>
            </a:pPr>
            <a:r>
              <a:rPr lang="en-US" sz="1100" dirty="0">
                <a:solidFill>
                  <a:srgbClr val="C9D1E0"/>
                </a:solidFill>
                <a:latin typeface="Calibri" pitchFamily="34" charset="0"/>
                <a:ea typeface="Calibri" pitchFamily="34" charset="-122"/>
                <a:cs typeface="Calibri" pitchFamily="34" charset="-120"/>
              </a:rPr>
              <a:t>Streamlit + Altair</a:t>
            </a:r>
            <a:endParaRPr lang="en-US" sz="1400" dirty="0"/>
          </a:p>
        </p:txBody>
      </p:sp>
      <p:sp>
        <p:nvSpPr>
          <p:cNvPr id="28" name="Shape 23"/>
          <p:cNvSpPr/>
          <p:nvPr/>
        </p:nvSpPr>
        <p:spPr>
          <a:xfrm>
            <a:off x="8924544" y="5440680"/>
            <a:ext cx="301752" cy="274320"/>
          </a:xfrm>
          <a:prstGeom prst="rightArrow">
            <a:avLst/>
          </a:prstGeom>
          <a:solidFill>
            <a:srgbClr val="F2A93B"/>
          </a:solidFill>
          <a:ln w="12700">
            <a:solidFill>
              <a:srgbClr val="F2A93B"/>
            </a:solidFill>
            <a:prstDash val="solid"/>
          </a:ln>
        </p:spPr>
      </p:sp>
      <p:sp>
        <p:nvSpPr>
          <p:cNvPr id="29" name="Shape 24"/>
          <p:cNvSpPr/>
          <p:nvPr/>
        </p:nvSpPr>
        <p:spPr>
          <a:xfrm>
            <a:off x="9272016" y="5074920"/>
            <a:ext cx="2514600" cy="1005840"/>
          </a:xfrm>
          <a:prstGeom prst="roundRect">
            <a:avLst>
              <a:gd name="adj" fmla="val 10909"/>
            </a:avLst>
          </a:prstGeom>
          <a:solidFill>
            <a:srgbClr val="14213D"/>
          </a:solidFill>
          <a:ln w="12700">
            <a:solidFill>
              <a:srgbClr val="14213D"/>
            </a:solidFill>
            <a:prstDash val="solid"/>
          </a:ln>
        </p:spPr>
      </p:sp>
      <p:pic>
        <p:nvPicPr>
          <p:cNvPr id="30" name="Image 3" descr="preencoded.png">    </p:cNvPr>
          <p:cNvPicPr>
            <a:picLocks noChangeAspect="1"/>
          </p:cNvPicPr>
          <p:nvPr/>
        </p:nvPicPr>
        <p:blipFill>
          <a:blip r:embed="rId4"/>
          <a:stretch>
            <a:fillRect/>
          </a:stretch>
        </p:blipFill>
        <p:spPr>
          <a:xfrm>
            <a:off x="9454896" y="5303520"/>
            <a:ext cx="502920" cy="502920"/>
          </a:xfrm>
          <a:prstGeom prst="rect">
            <a:avLst/>
          </a:prstGeom>
        </p:spPr>
      </p:pic>
      <p:sp>
        <p:nvSpPr>
          <p:cNvPr id="31" name="Text 25"/>
          <p:cNvSpPr txBox="1"/>
          <p:nvPr/>
        </p:nvSpPr>
        <p:spPr>
          <a:xfrm>
            <a:off x="10049256" y="5120640"/>
            <a:ext cx="16916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Repositorio</a:t>
            </a:r>
            <a:endParaRPr lang="en-US" sz="1400" dirty="0"/>
          </a:p>
          <a:p>
            <a:pPr indent="0" marL="0">
              <a:buNone/>
            </a:pPr>
            <a:r>
              <a:rPr lang="en-US" sz="1100" dirty="0">
                <a:solidFill>
                  <a:srgbClr val="C9D1E0"/>
                </a:solidFill>
                <a:latin typeface="Calibri" pitchFamily="34" charset="0"/>
                <a:ea typeface="Calibri" pitchFamily="34" charset="-122"/>
                <a:cs typeface="Calibri" pitchFamily="34" charset="-120"/>
              </a:rPr>
              <a:t>GitHub</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2A93B"/>
          </a:solidFill>
          <a:ln w="12700">
            <a:solidFill>
              <a:srgbClr val="F2A93B"/>
            </a:solidFill>
            <a:prstDash val="solid"/>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1</a:t>
            </a:r>
            <a:endParaRPr lang="en-US" sz="2000" dirty="0"/>
          </a:p>
        </p:txBody>
      </p:sp>
      <p:sp>
        <p:nvSpPr>
          <p:cNvPr id="4" name="Text 2"/>
          <p:cNvSpPr txBox="1"/>
          <p:nvPr/>
        </p:nvSpPr>
        <p:spPr>
          <a:xfrm>
            <a:off x="1280160" y="365760"/>
            <a:ext cx="8503920" cy="822960"/>
          </a:xfrm>
          <a:prstGeom prst="rect">
            <a:avLst/>
          </a:prstGeom>
          <a:noFill/>
          <a:ln/>
        </p:spPr>
        <p:txBody>
          <a:bodyPr wrap="square" lIns="0" tIns="0" rIns="0" bIns="0" rtlCol="0" anchor="ctr"/>
          <a:lstStyle/>
          <a:p>
            <a:pPr indent="0" marL="0">
              <a:buNone/>
            </a:pPr>
            <a:r>
              <a:rPr lang="en-US" sz="3000" b="1" dirty="0">
                <a:solidFill>
                  <a:srgbClr val="1B2333"/>
                </a:solidFill>
                <a:latin typeface="Cambria" pitchFamily="34" charset="0"/>
                <a:ea typeface="Cambria" pitchFamily="34" charset="-122"/>
                <a:cs typeface="Cambria" pitchFamily="34" charset="-120"/>
              </a:rPr>
              <a:t>¿Cada vez menos personas saben catalán?</a:t>
            </a:r>
            <a:endParaRPr lang="en-US" sz="3000" dirty="0"/>
          </a:p>
        </p:txBody>
      </p:sp>
      <p:sp>
        <p:nvSpPr>
          <p:cNvPr id="5" name="Shape 3"/>
          <p:cNvSpPr/>
          <p:nvPr/>
        </p:nvSpPr>
        <p:spPr>
          <a:xfrm>
            <a:off x="10177272" y="566928"/>
            <a:ext cx="1463040" cy="420624"/>
          </a:xfrm>
          <a:prstGeom prst="roundRect">
            <a:avLst>
              <a:gd name="adj" fmla="val 50000"/>
            </a:avLst>
          </a:prstGeom>
          <a:solidFill>
            <a:srgbClr val="F2A93B"/>
          </a:solidFill>
          <a:ln w="12700">
            <a:solidFill>
              <a:srgbClr val="F2A93B"/>
            </a:solidFill>
            <a:prstDash val="solid"/>
          </a:ln>
        </p:spPr>
      </p:sp>
      <p:sp>
        <p:nvSpPr>
          <p:cNvPr id="6" name="Text 4"/>
          <p:cNvSpPr txBox="1"/>
          <p:nvPr/>
        </p:nvSpPr>
        <p:spPr>
          <a:xfrm>
            <a:off x="10177272" y="566928"/>
            <a:ext cx="1463040" cy="420624"/>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MITO</a:t>
            </a:r>
            <a:endParaRPr lang="en-US" sz="1400" dirty="0"/>
          </a:p>
        </p:txBody>
      </p:sp>
      <p:sp>
        <p:nvSpPr>
          <p:cNvPr id="7" name="Text 5"/>
          <p:cNvSpPr txBox="1"/>
          <p:nvPr/>
        </p:nvSpPr>
        <p:spPr>
          <a:xfrm>
            <a:off x="548640" y="1325880"/>
            <a:ext cx="7132320" cy="36576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Personas que saben hablar catalán (millones) · dentro, % de la población de 2 años o más</a:t>
            </a:r>
            <a:endParaRPr lang="en-US" sz="1300" dirty="0"/>
          </a:p>
        </p:txBody>
      </p:sp>
      <p:sp>
        <p:nvSpPr>
          <p:cNvPr id="8" name="Shape 6"/>
          <p:cNvSpPr/>
          <p:nvPr/>
        </p:nvSpPr>
        <p:spPr>
          <a:xfrm>
            <a:off x="548640" y="5577840"/>
            <a:ext cx="6949440" cy="0"/>
          </a:xfrm>
          <a:prstGeom prst="line">
            <a:avLst/>
          </a:prstGeom>
          <a:noFill/>
          <a:ln w="12700">
            <a:solidFill>
              <a:srgbClr val="C9D1E0"/>
            </a:solidFill>
            <a:prstDash val="solid"/>
          </a:ln>
        </p:spPr>
      </p:sp>
      <p:sp>
        <p:nvSpPr>
          <p:cNvPr id="9" name="Shape 7"/>
          <p:cNvSpPr/>
          <p:nvPr/>
        </p:nvSpPr>
        <p:spPr>
          <a:xfrm>
            <a:off x="786384" y="3463290"/>
            <a:ext cx="914400" cy="2114550"/>
          </a:xfrm>
          <a:prstGeom prst="rect">
            <a:avLst/>
          </a:prstGeom>
          <a:solidFill>
            <a:srgbClr val="1F4E8C"/>
          </a:solidFill>
          <a:ln w="12700">
            <a:solidFill>
              <a:srgbClr val="1F4E8C"/>
            </a:solidFill>
            <a:prstDash val="solid"/>
          </a:ln>
        </p:spPr>
      </p:sp>
      <p:sp>
        <p:nvSpPr>
          <p:cNvPr id="10" name="Text 8"/>
          <p:cNvSpPr txBox="1"/>
          <p:nvPr/>
        </p:nvSpPr>
        <p:spPr>
          <a:xfrm>
            <a:off x="512064" y="3079242"/>
            <a:ext cx="1463040" cy="347472"/>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3,75 M</a:t>
            </a:r>
            <a:endParaRPr lang="en-US" sz="1500" dirty="0"/>
          </a:p>
        </p:txBody>
      </p:sp>
      <p:sp>
        <p:nvSpPr>
          <p:cNvPr id="11" name="Text 9"/>
          <p:cNvSpPr txBox="1"/>
          <p:nvPr/>
        </p:nvSpPr>
        <p:spPr>
          <a:xfrm>
            <a:off x="786384" y="3573018"/>
            <a:ext cx="914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64,0%</a:t>
            </a:r>
            <a:endParaRPr lang="en-US" sz="1300" dirty="0"/>
          </a:p>
        </p:txBody>
      </p:sp>
      <p:sp>
        <p:nvSpPr>
          <p:cNvPr id="12" name="Text 10"/>
          <p:cNvSpPr txBox="1"/>
          <p:nvPr/>
        </p:nvSpPr>
        <p:spPr>
          <a:xfrm>
            <a:off x="786384" y="5650992"/>
            <a:ext cx="91440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1986</a:t>
            </a:r>
            <a:endParaRPr lang="en-US" sz="1400" dirty="0"/>
          </a:p>
        </p:txBody>
      </p:sp>
      <p:sp>
        <p:nvSpPr>
          <p:cNvPr id="13" name="Shape 11"/>
          <p:cNvSpPr/>
          <p:nvPr/>
        </p:nvSpPr>
        <p:spPr>
          <a:xfrm>
            <a:off x="2176272" y="3282848"/>
            <a:ext cx="914400" cy="2294992"/>
          </a:xfrm>
          <a:prstGeom prst="rect">
            <a:avLst/>
          </a:prstGeom>
          <a:solidFill>
            <a:srgbClr val="1F4E8C"/>
          </a:solidFill>
          <a:ln w="12700">
            <a:solidFill>
              <a:srgbClr val="1F4E8C"/>
            </a:solidFill>
            <a:prstDash val="solid"/>
          </a:ln>
        </p:spPr>
      </p:sp>
      <p:sp>
        <p:nvSpPr>
          <p:cNvPr id="14" name="Text 12"/>
          <p:cNvSpPr txBox="1"/>
          <p:nvPr/>
        </p:nvSpPr>
        <p:spPr>
          <a:xfrm>
            <a:off x="1901952" y="2898800"/>
            <a:ext cx="1463040" cy="347472"/>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4,07 M</a:t>
            </a:r>
            <a:endParaRPr lang="en-US" sz="1500" dirty="0"/>
          </a:p>
        </p:txBody>
      </p:sp>
      <p:sp>
        <p:nvSpPr>
          <p:cNvPr id="15" name="Text 13"/>
          <p:cNvSpPr txBox="1"/>
          <p:nvPr/>
        </p:nvSpPr>
        <p:spPr>
          <a:xfrm>
            <a:off x="2176272" y="3392576"/>
            <a:ext cx="914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68,3%</a:t>
            </a:r>
            <a:endParaRPr lang="en-US" sz="1300" dirty="0"/>
          </a:p>
        </p:txBody>
      </p:sp>
      <p:sp>
        <p:nvSpPr>
          <p:cNvPr id="16" name="Text 14"/>
          <p:cNvSpPr txBox="1"/>
          <p:nvPr/>
        </p:nvSpPr>
        <p:spPr>
          <a:xfrm>
            <a:off x="2176272" y="5650992"/>
            <a:ext cx="91440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1991</a:t>
            </a:r>
            <a:endParaRPr lang="en-US" sz="1400" dirty="0"/>
          </a:p>
        </p:txBody>
      </p:sp>
      <p:sp>
        <p:nvSpPr>
          <p:cNvPr id="17" name="Shape 15"/>
          <p:cNvSpPr/>
          <p:nvPr/>
        </p:nvSpPr>
        <p:spPr>
          <a:xfrm>
            <a:off x="3566160" y="3034741"/>
            <a:ext cx="914400" cy="2543099"/>
          </a:xfrm>
          <a:prstGeom prst="rect">
            <a:avLst/>
          </a:prstGeom>
          <a:solidFill>
            <a:srgbClr val="1F4E8C"/>
          </a:solidFill>
          <a:ln w="12700">
            <a:solidFill>
              <a:srgbClr val="1F4E8C"/>
            </a:solidFill>
            <a:prstDash val="solid"/>
          </a:ln>
        </p:spPr>
      </p:sp>
      <p:sp>
        <p:nvSpPr>
          <p:cNvPr id="18" name="Text 16"/>
          <p:cNvSpPr txBox="1"/>
          <p:nvPr/>
        </p:nvSpPr>
        <p:spPr>
          <a:xfrm>
            <a:off x="3291840" y="2650693"/>
            <a:ext cx="1463040" cy="347472"/>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4,51 M</a:t>
            </a:r>
            <a:endParaRPr lang="en-US" sz="1500" dirty="0"/>
          </a:p>
        </p:txBody>
      </p:sp>
      <p:sp>
        <p:nvSpPr>
          <p:cNvPr id="19" name="Text 17"/>
          <p:cNvSpPr txBox="1"/>
          <p:nvPr/>
        </p:nvSpPr>
        <p:spPr>
          <a:xfrm>
            <a:off x="3566160" y="3144469"/>
            <a:ext cx="914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75,3%</a:t>
            </a:r>
            <a:endParaRPr lang="en-US" sz="1300" dirty="0"/>
          </a:p>
        </p:txBody>
      </p:sp>
      <p:sp>
        <p:nvSpPr>
          <p:cNvPr id="20" name="Text 18"/>
          <p:cNvSpPr txBox="1"/>
          <p:nvPr/>
        </p:nvSpPr>
        <p:spPr>
          <a:xfrm>
            <a:off x="3566160" y="5650992"/>
            <a:ext cx="91440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1996</a:t>
            </a:r>
            <a:endParaRPr lang="en-US" sz="1400" dirty="0"/>
          </a:p>
        </p:txBody>
      </p:sp>
      <p:sp>
        <p:nvSpPr>
          <p:cNvPr id="21" name="Shape 19"/>
          <p:cNvSpPr/>
          <p:nvPr/>
        </p:nvSpPr>
        <p:spPr>
          <a:xfrm>
            <a:off x="4956048" y="2983992"/>
            <a:ext cx="914400" cy="2593848"/>
          </a:xfrm>
          <a:prstGeom prst="rect">
            <a:avLst/>
          </a:prstGeom>
          <a:solidFill>
            <a:srgbClr val="1F4E8C"/>
          </a:solidFill>
          <a:ln w="12700">
            <a:solidFill>
              <a:srgbClr val="1F4E8C"/>
            </a:solidFill>
            <a:prstDash val="solid"/>
          </a:ln>
        </p:spPr>
      </p:sp>
      <p:sp>
        <p:nvSpPr>
          <p:cNvPr id="22" name="Text 20"/>
          <p:cNvSpPr txBox="1"/>
          <p:nvPr/>
        </p:nvSpPr>
        <p:spPr>
          <a:xfrm>
            <a:off x="4681728" y="2599944"/>
            <a:ext cx="1463040" cy="347472"/>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4,60 M</a:t>
            </a:r>
            <a:endParaRPr lang="en-US" sz="1500" dirty="0"/>
          </a:p>
        </p:txBody>
      </p:sp>
      <p:sp>
        <p:nvSpPr>
          <p:cNvPr id="23" name="Text 21"/>
          <p:cNvSpPr txBox="1"/>
          <p:nvPr/>
        </p:nvSpPr>
        <p:spPr>
          <a:xfrm>
            <a:off x="4956048" y="3093720"/>
            <a:ext cx="914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74,5%</a:t>
            </a:r>
            <a:endParaRPr lang="en-US" sz="1300" dirty="0"/>
          </a:p>
        </p:txBody>
      </p:sp>
      <p:sp>
        <p:nvSpPr>
          <p:cNvPr id="24" name="Text 22"/>
          <p:cNvSpPr txBox="1"/>
          <p:nvPr/>
        </p:nvSpPr>
        <p:spPr>
          <a:xfrm>
            <a:off x="4956048" y="5650992"/>
            <a:ext cx="91440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2001</a:t>
            </a:r>
            <a:endParaRPr lang="en-US" sz="1400" dirty="0"/>
          </a:p>
        </p:txBody>
      </p:sp>
      <p:sp>
        <p:nvSpPr>
          <p:cNvPr id="25" name="Shape 23"/>
          <p:cNvSpPr/>
          <p:nvPr/>
        </p:nvSpPr>
        <p:spPr>
          <a:xfrm>
            <a:off x="6345936" y="2561082"/>
            <a:ext cx="914400" cy="3016758"/>
          </a:xfrm>
          <a:prstGeom prst="rect">
            <a:avLst/>
          </a:prstGeom>
          <a:solidFill>
            <a:srgbClr val="1F4E8C"/>
          </a:solidFill>
          <a:ln w="12700">
            <a:solidFill>
              <a:srgbClr val="1F4E8C"/>
            </a:solidFill>
            <a:prstDash val="solid"/>
          </a:ln>
        </p:spPr>
      </p:sp>
      <p:sp>
        <p:nvSpPr>
          <p:cNvPr id="26" name="Text 24"/>
          <p:cNvSpPr txBox="1"/>
          <p:nvPr/>
        </p:nvSpPr>
        <p:spPr>
          <a:xfrm>
            <a:off x="6071616" y="2177034"/>
            <a:ext cx="1463040" cy="347472"/>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5,35 M</a:t>
            </a:r>
            <a:endParaRPr lang="en-US" sz="1500" dirty="0"/>
          </a:p>
        </p:txBody>
      </p:sp>
      <p:sp>
        <p:nvSpPr>
          <p:cNvPr id="27" name="Text 25"/>
          <p:cNvSpPr txBox="1"/>
          <p:nvPr/>
        </p:nvSpPr>
        <p:spPr>
          <a:xfrm>
            <a:off x="6345936" y="2670810"/>
            <a:ext cx="91440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73,2%</a:t>
            </a:r>
            <a:endParaRPr lang="en-US" sz="1300" dirty="0"/>
          </a:p>
        </p:txBody>
      </p:sp>
      <p:sp>
        <p:nvSpPr>
          <p:cNvPr id="28" name="Text 26"/>
          <p:cNvSpPr txBox="1"/>
          <p:nvPr/>
        </p:nvSpPr>
        <p:spPr>
          <a:xfrm>
            <a:off x="6345936" y="5650992"/>
            <a:ext cx="91440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2011</a:t>
            </a:r>
            <a:endParaRPr lang="en-US" sz="1400" dirty="0"/>
          </a:p>
        </p:txBody>
      </p:sp>
      <p:sp>
        <p:nvSpPr>
          <p:cNvPr id="29" name="Text 27"/>
          <p:cNvSpPr txBox="1"/>
          <p:nvPr/>
        </p:nvSpPr>
        <p:spPr>
          <a:xfrm>
            <a:off x="7955280" y="1554480"/>
            <a:ext cx="3657600" cy="731520"/>
          </a:xfrm>
          <a:prstGeom prst="rect">
            <a:avLst/>
          </a:prstGeom>
          <a:noFill/>
          <a:ln/>
        </p:spPr>
        <p:txBody>
          <a:bodyPr wrap="square" lIns="0" tIns="0" rIns="0" bIns="0" rtlCol="0" anchor="b"/>
          <a:lstStyle/>
          <a:p>
            <a:pPr indent="0" marL="0">
              <a:buNone/>
            </a:pPr>
            <a:r>
              <a:rPr lang="en-US" sz="4000" b="1" dirty="0">
                <a:solidFill>
                  <a:srgbClr val="1F4E8C"/>
                </a:solidFill>
                <a:latin typeface="Cambria" pitchFamily="34" charset="0"/>
                <a:ea typeface="Cambria" pitchFamily="34" charset="-122"/>
                <a:cs typeface="Cambria" pitchFamily="34" charset="-120"/>
              </a:rPr>
              <a:t>+42,6%</a:t>
            </a:r>
            <a:endParaRPr lang="en-US" sz="4000" dirty="0"/>
          </a:p>
        </p:txBody>
      </p:sp>
      <p:sp>
        <p:nvSpPr>
          <p:cNvPr id="30" name="Text 28"/>
          <p:cNvSpPr txBox="1"/>
          <p:nvPr/>
        </p:nvSpPr>
        <p:spPr>
          <a:xfrm>
            <a:off x="7955280" y="2331720"/>
            <a:ext cx="36576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personas que saben hablarlo entre 1986 y 2011 (de 3,75 a 5,35 millones)</a:t>
            </a:r>
            <a:endParaRPr lang="en-US" sz="1300" dirty="0"/>
          </a:p>
        </p:txBody>
      </p:sp>
      <p:sp>
        <p:nvSpPr>
          <p:cNvPr id="31" name="Text 29"/>
          <p:cNvSpPr txBox="1"/>
          <p:nvPr/>
        </p:nvSpPr>
        <p:spPr>
          <a:xfrm>
            <a:off x="7955280" y="3154680"/>
            <a:ext cx="3657600" cy="731520"/>
          </a:xfrm>
          <a:prstGeom prst="rect">
            <a:avLst/>
          </a:prstGeom>
          <a:noFill/>
          <a:ln/>
        </p:spPr>
        <p:txBody>
          <a:bodyPr wrap="square" lIns="0" tIns="0" rIns="0" bIns="0" rtlCol="0" anchor="b"/>
          <a:lstStyle/>
          <a:p>
            <a:pPr indent="0" marL="0">
              <a:buNone/>
            </a:pPr>
            <a:r>
              <a:rPr lang="en-US" sz="3400" b="1" dirty="0">
                <a:solidFill>
                  <a:srgbClr val="1F4E8C"/>
                </a:solidFill>
                <a:latin typeface="Cambria" pitchFamily="34" charset="0"/>
                <a:ea typeface="Cambria" pitchFamily="34" charset="-122"/>
                <a:cs typeface="Cambria" pitchFamily="34" charset="-120"/>
              </a:rPr>
              <a:t>+9,2 pp</a:t>
            </a:r>
            <a:endParaRPr lang="en-US" sz="3400" dirty="0"/>
          </a:p>
        </p:txBody>
      </p:sp>
      <p:sp>
        <p:nvSpPr>
          <p:cNvPr id="32" name="Text 30"/>
          <p:cNvSpPr txBox="1"/>
          <p:nvPr/>
        </p:nvSpPr>
        <p:spPr>
          <a:xfrm>
            <a:off x="7955280" y="3931920"/>
            <a:ext cx="36576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puntos más de población que sabe hablarlo: del 64,0% en 1986 al 73,2% en 2011</a:t>
            </a:r>
            <a:endParaRPr lang="en-US" sz="1300" dirty="0"/>
          </a:p>
        </p:txBody>
      </p:sp>
      <p:sp>
        <p:nvSpPr>
          <p:cNvPr id="33" name="Text 31"/>
          <p:cNvSpPr txBox="1"/>
          <p:nvPr/>
        </p:nvSpPr>
        <p:spPr>
          <a:xfrm>
            <a:off x="7955280" y="4754880"/>
            <a:ext cx="3657600" cy="731520"/>
          </a:xfrm>
          <a:prstGeom prst="rect">
            <a:avLst/>
          </a:prstGeom>
          <a:noFill/>
          <a:ln/>
        </p:spPr>
        <p:txBody>
          <a:bodyPr wrap="square" lIns="0" tIns="0" rIns="0" bIns="0" rtlCol="0" anchor="b"/>
          <a:lstStyle/>
          <a:p>
            <a:pPr indent="0" marL="0">
              <a:buNone/>
            </a:pPr>
            <a:r>
              <a:rPr lang="en-US" sz="3200" b="1" dirty="0">
                <a:solidFill>
                  <a:srgbClr val="5B6475"/>
                </a:solidFill>
                <a:latin typeface="Cambria" pitchFamily="34" charset="0"/>
                <a:ea typeface="Cambria" pitchFamily="34" charset="-122"/>
                <a:cs typeface="Cambria" pitchFamily="34" charset="-120"/>
              </a:rPr>
              <a:t>89,6%</a:t>
            </a:r>
            <a:endParaRPr lang="en-US" sz="3200" dirty="0"/>
          </a:p>
        </p:txBody>
      </p:sp>
      <p:sp>
        <p:nvSpPr>
          <p:cNvPr id="34" name="Text 32"/>
          <p:cNvSpPr txBox="1"/>
          <p:nvPr/>
        </p:nvSpPr>
        <p:spPr>
          <a:xfrm>
            <a:off x="7955280" y="5532120"/>
            <a:ext cx="36576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en 2021 (ECEPOV): pregunta distinta, no se une a la serie</a:t>
            </a:r>
            <a:endParaRPr lang="en-US" sz="1300" dirty="0"/>
          </a:p>
        </p:txBody>
      </p:sp>
      <p:sp>
        <p:nvSpPr>
          <p:cNvPr id="35" name="Text 33"/>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Fuentes: Idescat, censos lingüísticos (1986–2011) · ECEPOV-2021 (INE)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2A93B"/>
          </a:solidFill>
          <a:ln w="12700">
            <a:solidFill>
              <a:srgbClr val="F2A93B"/>
            </a:solidFill>
            <a:prstDash val="solid"/>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2</a:t>
            </a:r>
            <a:endParaRPr lang="en-US" sz="2000" dirty="0"/>
          </a:p>
        </p:txBody>
      </p:sp>
      <p:sp>
        <p:nvSpPr>
          <p:cNvPr id="4" name="Text 2"/>
          <p:cNvSpPr txBox="1"/>
          <p:nvPr/>
        </p:nvSpPr>
        <p:spPr>
          <a:xfrm>
            <a:off x="1280160" y="365760"/>
            <a:ext cx="8503920" cy="822960"/>
          </a:xfrm>
          <a:prstGeom prst="rect">
            <a:avLst/>
          </a:prstGeom>
          <a:noFill/>
          <a:ln/>
        </p:spPr>
        <p:txBody>
          <a:bodyPr wrap="square" lIns="0" tIns="0" rIns="0" bIns="0" rtlCol="0" anchor="ctr"/>
          <a:lstStyle/>
          <a:p>
            <a:pPr indent="0" marL="0">
              <a:buNone/>
            </a:pPr>
            <a:r>
              <a:rPr lang="en-US" sz="3000" b="1" dirty="0">
                <a:solidFill>
                  <a:srgbClr val="1B2333"/>
                </a:solidFill>
                <a:latin typeface="Cambria" pitchFamily="34" charset="0"/>
                <a:ea typeface="Cambria" pitchFamily="34" charset="-122"/>
                <a:cs typeface="Cambria" pitchFamily="34" charset="-120"/>
              </a:rPr>
              <a:t>¿Los jóvenes ya no lo saben?</a:t>
            </a:r>
            <a:endParaRPr lang="en-US" sz="3000" dirty="0"/>
          </a:p>
        </p:txBody>
      </p:sp>
      <p:sp>
        <p:nvSpPr>
          <p:cNvPr id="5" name="Shape 3"/>
          <p:cNvSpPr/>
          <p:nvPr/>
        </p:nvSpPr>
        <p:spPr>
          <a:xfrm>
            <a:off x="10177272" y="566928"/>
            <a:ext cx="1463040" cy="420624"/>
          </a:xfrm>
          <a:prstGeom prst="roundRect">
            <a:avLst>
              <a:gd name="adj" fmla="val 50000"/>
            </a:avLst>
          </a:prstGeom>
          <a:solidFill>
            <a:srgbClr val="F2A93B"/>
          </a:solidFill>
          <a:ln w="12700">
            <a:solidFill>
              <a:srgbClr val="F2A93B"/>
            </a:solidFill>
            <a:prstDash val="solid"/>
          </a:ln>
        </p:spPr>
      </p:sp>
      <p:sp>
        <p:nvSpPr>
          <p:cNvPr id="6" name="Text 4"/>
          <p:cNvSpPr txBox="1"/>
          <p:nvPr/>
        </p:nvSpPr>
        <p:spPr>
          <a:xfrm>
            <a:off x="10177272" y="566928"/>
            <a:ext cx="1463040" cy="420624"/>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MITO</a:t>
            </a:r>
            <a:endParaRPr lang="en-US" sz="1400" dirty="0"/>
          </a:p>
        </p:txBody>
      </p:sp>
      <p:graphicFrame>
        <p:nvGraphicFramePr>
          <p:cNvPr id="7" name="Chart 0" descr=""/>
          <p:cNvGraphicFramePr/>
          <p:nvPr/>
        </p:nvGraphicFramePr>
        <p:xfrm>
          <a:off x="548640" y="1417320"/>
          <a:ext cx="7406640" cy="4663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321040" y="1554480"/>
            <a:ext cx="3319272" cy="4480560"/>
          </a:xfrm>
          <a:prstGeom prst="roundRect">
            <a:avLst>
              <a:gd name="adj" fmla="val 3306"/>
            </a:avLst>
          </a:prstGeom>
          <a:solidFill>
            <a:srgbClr val="F3F5F9"/>
          </a:solidFill>
          <a:ln w="12700">
            <a:solidFill>
              <a:srgbClr val="F3F5F9"/>
            </a:solidFill>
            <a:prstDash val="solid"/>
          </a:ln>
        </p:spPr>
      </p:sp>
      <p:sp>
        <p:nvSpPr>
          <p:cNvPr id="9" name="Text 6"/>
          <p:cNvSpPr txBox="1"/>
          <p:nvPr/>
        </p:nvSpPr>
        <p:spPr>
          <a:xfrm>
            <a:off x="8549640" y="1737360"/>
            <a:ext cx="2880360" cy="914400"/>
          </a:xfrm>
          <a:prstGeom prst="rect">
            <a:avLst/>
          </a:prstGeom>
          <a:noFill/>
          <a:ln/>
        </p:spPr>
        <p:txBody>
          <a:bodyPr wrap="square" lIns="0" tIns="0" rIns="0" bIns="0" rtlCol="0" anchor="t"/>
          <a:lstStyle/>
          <a:p>
            <a:pPr indent="0" marL="0">
              <a:buNone/>
            </a:pPr>
            <a:r>
              <a:rPr lang="en-US" sz="1900" b="1" dirty="0">
                <a:solidFill>
                  <a:srgbClr val="1F4E8C"/>
                </a:solidFill>
                <a:latin typeface="Cambria" pitchFamily="34" charset="0"/>
                <a:ea typeface="Cambria" pitchFamily="34" charset="-122"/>
                <a:cs typeface="Cambria" pitchFamily="34" charset="-120"/>
              </a:rPr>
              <a:t>Los que más lo saben son los más jóvenes</a:t>
            </a:r>
            <a:endParaRPr lang="en-US" sz="1900" dirty="0"/>
          </a:p>
        </p:txBody>
      </p:sp>
      <p:sp>
        <p:nvSpPr>
          <p:cNvPr id="10" name="Text 7"/>
          <p:cNvSpPr txBox="1"/>
          <p:nvPr/>
        </p:nvSpPr>
        <p:spPr>
          <a:xfrm>
            <a:off x="8549640" y="274320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333"/>
                </a:solidFill>
                <a:latin typeface="Calibri" pitchFamily="34" charset="0"/>
                <a:ea typeface="Calibri" pitchFamily="34" charset="-122"/>
                <a:cs typeface="Calibri" pitchFamily="34" charset="-120"/>
              </a:rPr>
              <a:t>95% de 2 a 29 años</a:t>
            </a:r>
            <a:endParaRPr lang="en-US" sz="1400" dirty="0"/>
          </a:p>
          <a:p>
            <a:pPr marL="342900" indent="-342900">
              <a:spcAft>
                <a:spcPts val="800"/>
              </a:spcAft>
              <a:buSzPct val="100000"/>
              <a:buChar char="•"/>
            </a:pPr>
            <a:r>
              <a:rPr lang="en-US" sz="1400" dirty="0">
                <a:solidFill>
                  <a:srgbClr val="1B2333"/>
                </a:solidFill>
                <a:latin typeface="Calibri" pitchFamily="34" charset="0"/>
                <a:ea typeface="Calibri" pitchFamily="34" charset="-122"/>
                <a:cs typeface="Calibri" pitchFamily="34" charset="-120"/>
              </a:rPr>
              <a:t>Es la única fuente con niños de 2 a 14: se ve el efecto de la escuela</a:t>
            </a:r>
            <a:endParaRPr lang="en-US" sz="1400" dirty="0"/>
          </a:p>
          <a:p>
            <a:pPr marL="342900" indent="-342900">
              <a:spcAft>
                <a:spcPts val="800"/>
              </a:spcAft>
              <a:buSzPct val="100000"/>
              <a:buChar char="•"/>
            </a:pPr>
            <a:r>
              <a:rPr lang="en-US" sz="1400" dirty="0">
                <a:solidFill>
                  <a:srgbClr val="1B2333"/>
                </a:solidFill>
                <a:latin typeface="Calibri" pitchFamily="34" charset="0"/>
                <a:ea typeface="Calibri" pitchFamily="34" charset="-122"/>
                <a:cs typeface="Calibri" pitchFamily="34" charset="-120"/>
              </a:rPr>
              <a:t>Los que menos: los mayores de 75 (78,1% de 75 a 84 y 75,1% de 85 o más)</a:t>
            </a:r>
            <a:endParaRPr lang="en-US" sz="1400" dirty="0"/>
          </a:p>
        </p:txBody>
      </p:sp>
      <p:sp>
        <p:nvSpPr>
          <p:cNvPr id="11" name="Text 8"/>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Idescat a partir del INE, ECEPOV-2021 · población de 2 años o más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2A93B"/>
          </a:solidFill>
          <a:ln w="12700">
            <a:solidFill>
              <a:srgbClr val="F2A93B"/>
            </a:solidFill>
            <a:prstDash val="solid"/>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3</a:t>
            </a:r>
            <a:endParaRPr lang="en-US" sz="2000" dirty="0"/>
          </a:p>
        </p:txBody>
      </p:sp>
      <p:sp>
        <p:nvSpPr>
          <p:cNvPr id="4" name="Text 2"/>
          <p:cNvSpPr txBox="1"/>
          <p:nvPr/>
        </p:nvSpPr>
        <p:spPr>
          <a:xfrm>
            <a:off x="1280160" y="365760"/>
            <a:ext cx="8503920" cy="822960"/>
          </a:xfrm>
          <a:prstGeom prst="rect">
            <a:avLst/>
          </a:prstGeom>
          <a:noFill/>
          <a:ln/>
        </p:spPr>
        <p:txBody>
          <a:bodyPr wrap="square" lIns="0" tIns="0" rIns="0" bIns="0" rtlCol="0" anchor="ctr"/>
          <a:lstStyle/>
          <a:p>
            <a:pPr indent="0" marL="0">
              <a:buNone/>
            </a:pPr>
            <a:r>
              <a:rPr lang="en-US" sz="3000" b="1" dirty="0">
                <a:solidFill>
                  <a:srgbClr val="1B2333"/>
                </a:solidFill>
                <a:latin typeface="Cambria" pitchFamily="34" charset="0"/>
                <a:ea typeface="Cambria" pitchFamily="34" charset="-122"/>
                <a:cs typeface="Cambria" pitchFamily="34" charset="-120"/>
              </a:rPr>
              <a:t>¿Ya casi nadie lo aprende?</a:t>
            </a:r>
            <a:endParaRPr lang="en-US" sz="3000" dirty="0"/>
          </a:p>
        </p:txBody>
      </p:sp>
      <p:sp>
        <p:nvSpPr>
          <p:cNvPr id="5" name="Shape 3"/>
          <p:cNvSpPr/>
          <p:nvPr/>
        </p:nvSpPr>
        <p:spPr>
          <a:xfrm>
            <a:off x="10177272" y="566928"/>
            <a:ext cx="1463040" cy="420624"/>
          </a:xfrm>
          <a:prstGeom prst="roundRect">
            <a:avLst>
              <a:gd name="adj" fmla="val 50000"/>
            </a:avLst>
          </a:prstGeom>
          <a:solidFill>
            <a:srgbClr val="F2A93B"/>
          </a:solidFill>
          <a:ln w="12700">
            <a:solidFill>
              <a:srgbClr val="F2A93B"/>
            </a:solidFill>
            <a:prstDash val="solid"/>
          </a:ln>
        </p:spPr>
      </p:sp>
      <p:sp>
        <p:nvSpPr>
          <p:cNvPr id="6" name="Text 4"/>
          <p:cNvSpPr txBox="1"/>
          <p:nvPr/>
        </p:nvSpPr>
        <p:spPr>
          <a:xfrm>
            <a:off x="10177272" y="566928"/>
            <a:ext cx="1463040" cy="420624"/>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MITO</a:t>
            </a:r>
            <a:endParaRPr lang="en-US" sz="1400" dirty="0"/>
          </a:p>
        </p:txBody>
      </p:sp>
      <p:graphicFrame>
        <p:nvGraphicFramePr>
          <p:cNvPr id="7" name="Chart 0" descr=""/>
          <p:cNvGraphicFramePr/>
          <p:nvPr/>
        </p:nvGraphicFramePr>
        <p:xfrm>
          <a:off x="548640" y="1417320"/>
          <a:ext cx="7589520" cy="4663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503920" y="1463040"/>
            <a:ext cx="3200400" cy="731520"/>
          </a:xfrm>
          <a:prstGeom prst="rect">
            <a:avLst/>
          </a:prstGeom>
          <a:noFill/>
          <a:ln/>
        </p:spPr>
        <p:txBody>
          <a:bodyPr wrap="square" lIns="0" tIns="0" rIns="0" bIns="0" rtlCol="0" anchor="b"/>
          <a:lstStyle/>
          <a:p>
            <a:pPr indent="0" marL="0">
              <a:buNone/>
            </a:pPr>
            <a:r>
              <a:rPr lang="en-US" sz="4000" b="1" dirty="0">
                <a:solidFill>
                  <a:srgbClr val="1F4E8C"/>
                </a:solidFill>
                <a:latin typeface="Cambria" pitchFamily="34" charset="0"/>
                <a:ea typeface="Cambria" pitchFamily="34" charset="-122"/>
                <a:cs typeface="Cambria" pitchFamily="34" charset="-120"/>
              </a:rPr>
              <a:t>+56%</a:t>
            </a:r>
            <a:endParaRPr lang="en-US" sz="4000" dirty="0"/>
          </a:p>
        </p:txBody>
      </p:sp>
      <p:sp>
        <p:nvSpPr>
          <p:cNvPr id="9" name="Text 6"/>
          <p:cNvSpPr txBox="1"/>
          <p:nvPr/>
        </p:nvSpPr>
        <p:spPr>
          <a:xfrm>
            <a:off x="8503920" y="2240280"/>
            <a:ext cx="32004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inscripciones de 2014 a 2023 (de 62.336 a 97.244); 2020, caída por la COVID-19</a:t>
            </a:r>
            <a:endParaRPr lang="en-US" sz="1300" dirty="0"/>
          </a:p>
        </p:txBody>
      </p:sp>
      <p:sp>
        <p:nvSpPr>
          <p:cNvPr id="10" name="Text 7"/>
          <p:cNvSpPr txBox="1"/>
          <p:nvPr/>
        </p:nvSpPr>
        <p:spPr>
          <a:xfrm>
            <a:off x="8503920" y="3017520"/>
            <a:ext cx="3200400" cy="731520"/>
          </a:xfrm>
          <a:prstGeom prst="rect">
            <a:avLst/>
          </a:prstGeom>
          <a:noFill/>
          <a:ln/>
        </p:spPr>
        <p:txBody>
          <a:bodyPr wrap="square" lIns="0" tIns="0" rIns="0" bIns="0" rtlCol="0" anchor="b"/>
          <a:lstStyle/>
          <a:p>
            <a:pPr indent="0" marL="0">
              <a:buNone/>
            </a:pPr>
            <a:r>
              <a:rPr lang="en-US" sz="4000" b="1" dirty="0">
                <a:solidFill>
                  <a:srgbClr val="6B5BA8"/>
                </a:solidFill>
                <a:latin typeface="Cambria" pitchFamily="34" charset="0"/>
                <a:ea typeface="Cambria" pitchFamily="34" charset="-122"/>
                <a:cs typeface="Cambria" pitchFamily="34" charset="-120"/>
              </a:rPr>
              <a:t>73,2%</a:t>
            </a:r>
            <a:endParaRPr lang="en-US" sz="4000" dirty="0"/>
          </a:p>
        </p:txBody>
      </p:sp>
      <p:sp>
        <p:nvSpPr>
          <p:cNvPr id="11" name="Text 8"/>
          <p:cNvSpPr txBox="1"/>
          <p:nvPr/>
        </p:nvSpPr>
        <p:spPr>
          <a:xfrm>
            <a:off x="8503920" y="3794760"/>
            <a:ext cx="32004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de las inscripciones con origen conocido son de personas nacidas en el extranjero (2011–2023)</a:t>
            </a:r>
            <a:endParaRPr lang="en-US" sz="1300" dirty="0"/>
          </a:p>
        </p:txBody>
      </p:sp>
      <p:sp>
        <p:nvSpPr>
          <p:cNvPr id="12" name="Text 9"/>
          <p:cNvSpPr txBox="1"/>
          <p:nvPr/>
        </p:nvSpPr>
        <p:spPr>
          <a:xfrm>
            <a:off x="8503920" y="4572000"/>
            <a:ext cx="3200400" cy="731520"/>
          </a:xfrm>
          <a:prstGeom prst="rect">
            <a:avLst/>
          </a:prstGeom>
          <a:noFill/>
          <a:ln/>
        </p:spPr>
        <p:txBody>
          <a:bodyPr wrap="square" lIns="0" tIns="0" rIns="0" bIns="0" rtlCol="0" anchor="b"/>
          <a:lstStyle/>
          <a:p>
            <a:pPr indent="0" marL="0">
              <a:buNone/>
            </a:pPr>
            <a:r>
              <a:rPr lang="en-US" sz="4000" b="1" dirty="0">
                <a:solidFill>
                  <a:srgbClr val="6B5BA8"/>
                </a:solidFill>
                <a:latin typeface="Cambria" pitchFamily="34" charset="0"/>
                <a:ea typeface="Cambria" pitchFamily="34" charset="-122"/>
                <a:cs typeface="Cambria" pitchFamily="34" charset="-120"/>
              </a:rPr>
              <a:t>55,5%</a:t>
            </a:r>
            <a:endParaRPr lang="en-US" sz="4000" dirty="0"/>
          </a:p>
        </p:txBody>
      </p:sp>
      <p:sp>
        <p:nvSpPr>
          <p:cNvPr id="13" name="Text 10"/>
          <p:cNvSpPr txBox="1"/>
          <p:nvPr/>
        </p:nvSpPr>
        <p:spPr>
          <a:xfrm>
            <a:off x="8503920" y="5349240"/>
            <a:ext cx="32004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de ellas, de personas nacidas en América del Sur y Central (2011–2023)</a:t>
            </a:r>
            <a:endParaRPr lang="en-US" sz="1300" dirty="0"/>
          </a:p>
        </p:txBody>
      </p:sp>
      <p:sp>
        <p:nvSpPr>
          <p:cNvPr id="14" name="Text 11"/>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CPNL, inscripciones a sus cursos (2011–2023) · inscripciones, no personas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2600" b="1" dirty="0">
                <a:solidFill>
                  <a:srgbClr val="1B2333"/>
                </a:solidFill>
                <a:latin typeface="Cambria" pitchFamily="34" charset="0"/>
                <a:ea typeface="Cambria" pitchFamily="34" charset="-122"/>
                <a:cs typeface="Cambria" pitchFamily="34" charset="-120"/>
              </a:rPr>
              <a:t>¿Quién aprende y dónde? Sobre todo, quien llega de fuera</a:t>
            </a:r>
            <a:endParaRPr lang="en-US" sz="2600" dirty="0"/>
          </a:p>
        </p:txBody>
      </p:sp>
      <p:sp>
        <p:nvSpPr>
          <p:cNvPr id="3" name="Shape 1"/>
          <p:cNvSpPr/>
          <p:nvPr/>
        </p:nvSpPr>
        <p:spPr>
          <a:xfrm>
            <a:off x="2880360" y="1316736"/>
            <a:ext cx="146304" cy="146304"/>
          </a:xfrm>
          <a:prstGeom prst="rect">
            <a:avLst/>
          </a:prstGeom>
          <a:solidFill>
            <a:srgbClr val="2E7D5B"/>
          </a:solidFill>
          <a:ln w="12700">
            <a:solidFill>
              <a:srgbClr val="2E7D5B"/>
            </a:solidFill>
            <a:prstDash val="solid"/>
          </a:ln>
        </p:spPr>
      </p:sp>
      <p:sp>
        <p:nvSpPr>
          <p:cNvPr id="4" name="Text 2"/>
          <p:cNvSpPr txBox="1"/>
          <p:nvPr/>
        </p:nvSpPr>
        <p:spPr>
          <a:xfrm>
            <a:off x="3081528" y="1234440"/>
            <a:ext cx="14630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Cataluña</a:t>
            </a:r>
            <a:endParaRPr lang="en-US" sz="1200" dirty="0"/>
          </a:p>
        </p:txBody>
      </p:sp>
      <p:sp>
        <p:nvSpPr>
          <p:cNvPr id="5" name="Shape 3"/>
          <p:cNvSpPr/>
          <p:nvPr/>
        </p:nvSpPr>
        <p:spPr>
          <a:xfrm>
            <a:off x="4315968" y="1316736"/>
            <a:ext cx="146304" cy="146304"/>
          </a:xfrm>
          <a:prstGeom prst="rect">
            <a:avLst/>
          </a:prstGeom>
          <a:solidFill>
            <a:srgbClr val="C4553D"/>
          </a:solidFill>
          <a:ln w="12700">
            <a:solidFill>
              <a:srgbClr val="C4553D"/>
            </a:solidFill>
            <a:prstDash val="solid"/>
          </a:ln>
        </p:spPr>
      </p:sp>
      <p:sp>
        <p:nvSpPr>
          <p:cNvPr id="6" name="Text 4"/>
          <p:cNvSpPr txBox="1"/>
          <p:nvPr/>
        </p:nvSpPr>
        <p:spPr>
          <a:xfrm>
            <a:off x="4517136" y="1234440"/>
            <a:ext cx="14630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Resto de España</a:t>
            </a:r>
            <a:endParaRPr lang="en-US" sz="1200" dirty="0"/>
          </a:p>
        </p:txBody>
      </p:sp>
      <p:sp>
        <p:nvSpPr>
          <p:cNvPr id="7" name="Shape 5"/>
          <p:cNvSpPr/>
          <p:nvPr/>
        </p:nvSpPr>
        <p:spPr>
          <a:xfrm>
            <a:off x="6144768" y="1316736"/>
            <a:ext cx="146304" cy="146304"/>
          </a:xfrm>
          <a:prstGeom prst="rect">
            <a:avLst/>
          </a:prstGeom>
          <a:solidFill>
            <a:srgbClr val="6B5BA8"/>
          </a:solidFill>
          <a:ln w="12700">
            <a:solidFill>
              <a:srgbClr val="6B5BA8"/>
            </a:solidFill>
            <a:prstDash val="solid"/>
          </a:ln>
        </p:spPr>
      </p:sp>
      <p:sp>
        <p:nvSpPr>
          <p:cNvPr id="8" name="Text 6"/>
          <p:cNvSpPr txBox="1"/>
          <p:nvPr/>
        </p:nvSpPr>
        <p:spPr>
          <a:xfrm>
            <a:off x="6345936" y="1234440"/>
            <a:ext cx="14630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Extranjero</a:t>
            </a:r>
            <a:endParaRPr lang="en-US" sz="1200" dirty="0"/>
          </a:p>
        </p:txBody>
      </p:sp>
      <p:sp>
        <p:nvSpPr>
          <p:cNvPr id="9" name="Text 7"/>
          <p:cNvSpPr txBox="1"/>
          <p:nvPr/>
        </p:nvSpPr>
        <p:spPr>
          <a:xfrm>
            <a:off x="7973568" y="1234440"/>
            <a:ext cx="1143000" cy="310896"/>
          </a:xfrm>
          <a:prstGeom prst="rect">
            <a:avLst/>
          </a:prstGeom>
          <a:noFill/>
          <a:ln/>
        </p:spPr>
        <p:txBody>
          <a:bodyPr wrap="square" lIns="0" tIns="0" rIns="0" bIns="0" rtlCol="0" anchor="ctr"/>
          <a:lstStyle/>
          <a:p>
            <a:pPr algn="r" indent="0" marL="0">
              <a:buNone/>
            </a:pPr>
            <a:r>
              <a:rPr lang="en-US" sz="1200" b="1" dirty="0">
                <a:solidFill>
                  <a:srgbClr val="5B6475"/>
                </a:solidFill>
                <a:latin typeface="Calibri" pitchFamily="34" charset="0"/>
                <a:ea typeface="Calibri" pitchFamily="34" charset="-122"/>
                <a:cs typeface="Calibri" pitchFamily="34" charset="-120"/>
              </a:rPr>
              <a:t>Inscripciones</a:t>
            </a:r>
            <a:endParaRPr lang="en-US" sz="1200" dirty="0"/>
          </a:p>
        </p:txBody>
      </p:sp>
      <p:sp>
        <p:nvSpPr>
          <p:cNvPr id="10" name="Text 8"/>
          <p:cNvSpPr txBox="1"/>
          <p:nvPr/>
        </p:nvSpPr>
        <p:spPr>
          <a:xfrm>
            <a:off x="548640" y="1691640"/>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Comarques Centrals</a:t>
            </a:r>
            <a:endParaRPr lang="en-US" sz="1300" dirty="0"/>
          </a:p>
        </p:txBody>
      </p:sp>
      <p:sp>
        <p:nvSpPr>
          <p:cNvPr id="11" name="Shape 9"/>
          <p:cNvSpPr/>
          <p:nvPr/>
        </p:nvSpPr>
        <p:spPr>
          <a:xfrm>
            <a:off x="2880360" y="1691640"/>
            <a:ext cx="480379" cy="338328"/>
          </a:xfrm>
          <a:prstGeom prst="rect">
            <a:avLst/>
          </a:prstGeom>
          <a:solidFill>
            <a:srgbClr val="2E7D5B"/>
          </a:solidFill>
          <a:ln w="9525">
            <a:solidFill>
              <a:srgbClr val="FFFFFF"/>
            </a:solidFill>
            <a:prstDash val="solid"/>
          </a:ln>
        </p:spPr>
        <p:txBody>
          <a:bodyPr/>
          <a:p/>
        </p:txBody>
      </p:sp>
      <p:sp>
        <p:nvSpPr>
          <p:cNvPr id="12" name="Text 10"/>
          <p:cNvSpPr txBox="1"/>
          <p:nvPr/>
        </p:nvSpPr>
        <p:spPr>
          <a:xfrm>
            <a:off x="2880360" y="1691640"/>
            <a:ext cx="480379"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9,5%</a:t>
            </a:r>
            <a:endParaRPr lang="en-US" sz="1100" dirty="0"/>
          </a:p>
        </p:txBody>
      </p:sp>
      <p:sp>
        <p:nvSpPr>
          <p:cNvPr id="13" name="Shape 11"/>
          <p:cNvSpPr/>
          <p:nvPr/>
        </p:nvSpPr>
        <p:spPr>
          <a:xfrm>
            <a:off x="3360739" y="1691640"/>
            <a:ext cx="257888" cy="338328"/>
          </a:xfrm>
          <a:prstGeom prst="rect">
            <a:avLst/>
          </a:prstGeom>
          <a:solidFill>
            <a:srgbClr val="C4553D"/>
          </a:solidFill>
          <a:ln w="9525">
            <a:solidFill>
              <a:srgbClr val="FFFFFF"/>
            </a:solidFill>
            <a:prstDash val="solid"/>
          </a:ln>
        </p:spPr>
        <p:txBody>
          <a:bodyPr/>
          <a:p/>
        </p:txBody>
      </p:sp>
      <p:sp>
        <p:nvSpPr>
          <p:cNvPr id="14" name="Shape 12"/>
          <p:cNvSpPr/>
          <p:nvPr/>
        </p:nvSpPr>
        <p:spPr>
          <a:xfrm>
            <a:off x="3618628" y="1691640"/>
            <a:ext cx="4323420" cy="338328"/>
          </a:xfrm>
          <a:prstGeom prst="rect">
            <a:avLst/>
          </a:prstGeom>
          <a:solidFill>
            <a:srgbClr val="6B5BA8"/>
          </a:solidFill>
          <a:ln w="9525">
            <a:solidFill>
              <a:srgbClr val="FFFFFF"/>
            </a:solidFill>
            <a:prstDash val="solid"/>
          </a:ln>
        </p:spPr>
        <p:txBody>
          <a:bodyPr/>
          <a:p/>
        </p:txBody>
      </p:sp>
      <p:sp>
        <p:nvSpPr>
          <p:cNvPr id="15" name="Text 13"/>
          <p:cNvSpPr txBox="1"/>
          <p:nvPr/>
        </p:nvSpPr>
        <p:spPr>
          <a:xfrm>
            <a:off x="3618628" y="1691640"/>
            <a:ext cx="4323420"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85,5%</a:t>
            </a:r>
            <a:endParaRPr lang="en-US" sz="1100" dirty="0"/>
          </a:p>
        </p:txBody>
      </p:sp>
      <p:sp>
        <p:nvSpPr>
          <p:cNvPr id="16" name="Text 14"/>
          <p:cNvSpPr txBox="1"/>
          <p:nvPr/>
        </p:nvSpPr>
        <p:spPr>
          <a:xfrm>
            <a:off x="7973568" y="1691640"/>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47.560</a:t>
            </a:r>
            <a:endParaRPr lang="en-US" sz="1300" dirty="0"/>
          </a:p>
        </p:txBody>
      </p:sp>
      <p:sp>
        <p:nvSpPr>
          <p:cNvPr id="17" name="Text 15"/>
          <p:cNvSpPr txBox="1"/>
          <p:nvPr/>
        </p:nvSpPr>
        <p:spPr>
          <a:xfrm>
            <a:off x="548640" y="2139696"/>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Comarques Gironines</a:t>
            </a:r>
            <a:endParaRPr lang="en-US" sz="1300" dirty="0"/>
          </a:p>
        </p:txBody>
      </p:sp>
      <p:sp>
        <p:nvSpPr>
          <p:cNvPr id="18" name="Shape 16"/>
          <p:cNvSpPr/>
          <p:nvPr/>
        </p:nvSpPr>
        <p:spPr>
          <a:xfrm>
            <a:off x="2880360" y="2139696"/>
            <a:ext cx="439926" cy="338328"/>
          </a:xfrm>
          <a:prstGeom prst="rect">
            <a:avLst/>
          </a:prstGeom>
          <a:solidFill>
            <a:srgbClr val="2E7D5B"/>
          </a:solidFill>
          <a:ln w="9525">
            <a:solidFill>
              <a:srgbClr val="FFFFFF"/>
            </a:solidFill>
            <a:prstDash val="solid"/>
          </a:ln>
        </p:spPr>
        <p:txBody>
          <a:bodyPr/>
          <a:p/>
        </p:txBody>
      </p:sp>
      <p:sp>
        <p:nvSpPr>
          <p:cNvPr id="19" name="Text 17"/>
          <p:cNvSpPr txBox="1"/>
          <p:nvPr/>
        </p:nvSpPr>
        <p:spPr>
          <a:xfrm>
            <a:off x="2880360" y="2139696"/>
            <a:ext cx="439926"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8,7%</a:t>
            </a:r>
            <a:endParaRPr lang="en-US" sz="1100" dirty="0"/>
          </a:p>
        </p:txBody>
      </p:sp>
      <p:sp>
        <p:nvSpPr>
          <p:cNvPr id="20" name="Shape 18"/>
          <p:cNvSpPr/>
          <p:nvPr/>
        </p:nvSpPr>
        <p:spPr>
          <a:xfrm>
            <a:off x="3320286" y="2139696"/>
            <a:ext cx="419700" cy="338328"/>
          </a:xfrm>
          <a:prstGeom prst="rect">
            <a:avLst/>
          </a:prstGeom>
          <a:solidFill>
            <a:srgbClr val="C4553D"/>
          </a:solidFill>
          <a:ln w="9525">
            <a:solidFill>
              <a:srgbClr val="FFFFFF"/>
            </a:solidFill>
            <a:prstDash val="solid"/>
          </a:ln>
        </p:spPr>
        <p:txBody>
          <a:bodyPr/>
          <a:p/>
        </p:txBody>
      </p:sp>
      <p:sp>
        <p:nvSpPr>
          <p:cNvPr id="21" name="Text 19"/>
          <p:cNvSpPr txBox="1"/>
          <p:nvPr/>
        </p:nvSpPr>
        <p:spPr>
          <a:xfrm>
            <a:off x="3320286" y="2139696"/>
            <a:ext cx="419700"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8,3%</a:t>
            </a:r>
            <a:endParaRPr lang="en-US" sz="1100" dirty="0"/>
          </a:p>
        </p:txBody>
      </p:sp>
      <p:sp>
        <p:nvSpPr>
          <p:cNvPr id="22" name="Shape 20"/>
          <p:cNvSpPr/>
          <p:nvPr/>
        </p:nvSpPr>
        <p:spPr>
          <a:xfrm>
            <a:off x="3739987" y="2139696"/>
            <a:ext cx="4191947" cy="338328"/>
          </a:xfrm>
          <a:prstGeom prst="rect">
            <a:avLst/>
          </a:prstGeom>
          <a:solidFill>
            <a:srgbClr val="6B5BA8"/>
          </a:solidFill>
          <a:ln w="9525">
            <a:solidFill>
              <a:srgbClr val="FFFFFF"/>
            </a:solidFill>
            <a:prstDash val="solid"/>
          </a:ln>
        </p:spPr>
        <p:txBody>
          <a:bodyPr/>
          <a:p/>
        </p:txBody>
      </p:sp>
      <p:sp>
        <p:nvSpPr>
          <p:cNvPr id="23" name="Text 21"/>
          <p:cNvSpPr txBox="1"/>
          <p:nvPr/>
        </p:nvSpPr>
        <p:spPr>
          <a:xfrm>
            <a:off x="3739987" y="2139696"/>
            <a:ext cx="4191947"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82,9%</a:t>
            </a:r>
            <a:endParaRPr lang="en-US" sz="1100" dirty="0"/>
          </a:p>
        </p:txBody>
      </p:sp>
      <p:sp>
        <p:nvSpPr>
          <p:cNvPr id="24" name="Text 22"/>
          <p:cNvSpPr txBox="1"/>
          <p:nvPr/>
        </p:nvSpPr>
        <p:spPr>
          <a:xfrm>
            <a:off x="7973568" y="2139696"/>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111.409</a:t>
            </a:r>
            <a:endParaRPr lang="en-US" sz="1300" dirty="0"/>
          </a:p>
        </p:txBody>
      </p:sp>
      <p:sp>
        <p:nvSpPr>
          <p:cNvPr id="25" name="Text 23"/>
          <p:cNvSpPr txBox="1"/>
          <p:nvPr/>
        </p:nvSpPr>
        <p:spPr>
          <a:xfrm>
            <a:off x="548640" y="2587752"/>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Terres de l'Ebre</a:t>
            </a:r>
            <a:endParaRPr lang="en-US" sz="1300" dirty="0"/>
          </a:p>
        </p:txBody>
      </p:sp>
      <p:sp>
        <p:nvSpPr>
          <p:cNvPr id="26" name="Shape 24"/>
          <p:cNvSpPr/>
          <p:nvPr/>
        </p:nvSpPr>
        <p:spPr>
          <a:xfrm>
            <a:off x="2880360" y="2587752"/>
            <a:ext cx="616909" cy="338328"/>
          </a:xfrm>
          <a:prstGeom prst="rect">
            <a:avLst/>
          </a:prstGeom>
          <a:solidFill>
            <a:srgbClr val="2E7D5B"/>
          </a:solidFill>
          <a:ln w="9525">
            <a:solidFill>
              <a:srgbClr val="FFFFFF"/>
            </a:solidFill>
            <a:prstDash val="solid"/>
          </a:ln>
        </p:spPr>
        <p:txBody>
          <a:bodyPr/>
          <a:p/>
        </p:txBody>
      </p:sp>
      <p:sp>
        <p:nvSpPr>
          <p:cNvPr id="27" name="Text 25"/>
          <p:cNvSpPr txBox="1"/>
          <p:nvPr/>
        </p:nvSpPr>
        <p:spPr>
          <a:xfrm>
            <a:off x="2880360" y="2587752"/>
            <a:ext cx="616909"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12,2%</a:t>
            </a:r>
            <a:endParaRPr lang="en-US" sz="1100" dirty="0"/>
          </a:p>
        </p:txBody>
      </p:sp>
      <p:sp>
        <p:nvSpPr>
          <p:cNvPr id="28" name="Shape 26"/>
          <p:cNvSpPr/>
          <p:nvPr/>
        </p:nvSpPr>
        <p:spPr>
          <a:xfrm>
            <a:off x="3497269" y="2587752"/>
            <a:ext cx="273058" cy="338328"/>
          </a:xfrm>
          <a:prstGeom prst="rect">
            <a:avLst/>
          </a:prstGeom>
          <a:solidFill>
            <a:srgbClr val="C4553D"/>
          </a:solidFill>
          <a:ln w="9525">
            <a:solidFill>
              <a:srgbClr val="FFFFFF"/>
            </a:solidFill>
            <a:prstDash val="solid"/>
          </a:ln>
        </p:spPr>
        <p:txBody>
          <a:bodyPr/>
          <a:p/>
        </p:txBody>
      </p:sp>
      <p:sp>
        <p:nvSpPr>
          <p:cNvPr id="29" name="Text 27"/>
          <p:cNvSpPr txBox="1"/>
          <p:nvPr/>
        </p:nvSpPr>
        <p:spPr>
          <a:xfrm>
            <a:off x="3497269" y="2587752"/>
            <a:ext cx="273058"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r>
            <a:endParaRPr lang="en-US" sz="1100" dirty="0"/>
          </a:p>
        </p:txBody>
      </p:sp>
      <p:sp>
        <p:nvSpPr>
          <p:cNvPr id="30" name="Shape 28"/>
          <p:cNvSpPr/>
          <p:nvPr/>
        </p:nvSpPr>
        <p:spPr>
          <a:xfrm>
            <a:off x="3770327" y="2587752"/>
            <a:ext cx="4166664" cy="338328"/>
          </a:xfrm>
          <a:prstGeom prst="rect">
            <a:avLst/>
          </a:prstGeom>
          <a:solidFill>
            <a:srgbClr val="6B5BA8"/>
          </a:solidFill>
          <a:ln w="9525">
            <a:solidFill>
              <a:srgbClr val="FFFFFF"/>
            </a:solidFill>
            <a:prstDash val="solid"/>
          </a:ln>
        </p:spPr>
        <p:txBody>
          <a:bodyPr/>
          <a:p/>
        </p:txBody>
      </p:sp>
      <p:sp>
        <p:nvSpPr>
          <p:cNvPr id="31" name="Text 29"/>
          <p:cNvSpPr txBox="1"/>
          <p:nvPr/>
        </p:nvSpPr>
        <p:spPr>
          <a:xfrm>
            <a:off x="3770327" y="2587752"/>
            <a:ext cx="4166664"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82,4%</a:t>
            </a:r>
            <a:endParaRPr lang="en-US" sz="1100" dirty="0"/>
          </a:p>
        </p:txBody>
      </p:sp>
      <p:sp>
        <p:nvSpPr>
          <p:cNvPr id="32" name="Text 30"/>
          <p:cNvSpPr txBox="1"/>
          <p:nvPr/>
        </p:nvSpPr>
        <p:spPr>
          <a:xfrm>
            <a:off x="7973568" y="2587752"/>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18.132</a:t>
            </a:r>
            <a:endParaRPr lang="en-US" sz="1300" dirty="0"/>
          </a:p>
        </p:txBody>
      </p:sp>
      <p:sp>
        <p:nvSpPr>
          <p:cNvPr id="33" name="Text 31"/>
          <p:cNvSpPr txBox="1"/>
          <p:nvPr/>
        </p:nvSpPr>
        <p:spPr>
          <a:xfrm>
            <a:off x="548640" y="3035808"/>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Ponent</a:t>
            </a:r>
            <a:endParaRPr lang="en-US" sz="1300" dirty="0"/>
          </a:p>
        </p:txBody>
      </p:sp>
      <p:sp>
        <p:nvSpPr>
          <p:cNvPr id="34" name="Shape 32"/>
          <p:cNvSpPr/>
          <p:nvPr/>
        </p:nvSpPr>
        <p:spPr>
          <a:xfrm>
            <a:off x="2880360" y="3035808"/>
            <a:ext cx="697815" cy="338328"/>
          </a:xfrm>
          <a:prstGeom prst="rect">
            <a:avLst/>
          </a:prstGeom>
          <a:solidFill>
            <a:srgbClr val="2E7D5B"/>
          </a:solidFill>
          <a:ln w="9525">
            <a:solidFill>
              <a:srgbClr val="FFFFFF"/>
            </a:solidFill>
            <a:prstDash val="solid"/>
          </a:ln>
        </p:spPr>
        <p:txBody>
          <a:bodyPr/>
          <a:p/>
        </p:txBody>
      </p:sp>
      <p:sp>
        <p:nvSpPr>
          <p:cNvPr id="35" name="Text 33"/>
          <p:cNvSpPr txBox="1"/>
          <p:nvPr/>
        </p:nvSpPr>
        <p:spPr>
          <a:xfrm>
            <a:off x="2880360" y="3035808"/>
            <a:ext cx="697815"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13,8%</a:t>
            </a:r>
            <a:endParaRPr lang="en-US" sz="1100" dirty="0"/>
          </a:p>
        </p:txBody>
      </p:sp>
      <p:sp>
        <p:nvSpPr>
          <p:cNvPr id="36" name="Shape 34"/>
          <p:cNvSpPr/>
          <p:nvPr/>
        </p:nvSpPr>
        <p:spPr>
          <a:xfrm>
            <a:off x="3578175" y="3035808"/>
            <a:ext cx="495549" cy="338328"/>
          </a:xfrm>
          <a:prstGeom prst="rect">
            <a:avLst/>
          </a:prstGeom>
          <a:solidFill>
            <a:srgbClr val="C4553D"/>
          </a:solidFill>
          <a:ln w="9525">
            <a:solidFill>
              <a:srgbClr val="FFFFFF"/>
            </a:solidFill>
            <a:prstDash val="solid"/>
          </a:ln>
        </p:spPr>
        <p:txBody>
          <a:bodyPr/>
          <a:p/>
        </p:txBody>
      </p:sp>
      <p:sp>
        <p:nvSpPr>
          <p:cNvPr id="37" name="Text 35"/>
          <p:cNvSpPr txBox="1"/>
          <p:nvPr/>
        </p:nvSpPr>
        <p:spPr>
          <a:xfrm>
            <a:off x="3578175" y="3035808"/>
            <a:ext cx="495549"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9,8%</a:t>
            </a:r>
            <a:endParaRPr lang="en-US" sz="1100" dirty="0"/>
          </a:p>
        </p:txBody>
      </p:sp>
      <p:sp>
        <p:nvSpPr>
          <p:cNvPr id="38" name="Shape 36"/>
          <p:cNvSpPr/>
          <p:nvPr/>
        </p:nvSpPr>
        <p:spPr>
          <a:xfrm>
            <a:off x="4073724" y="3035808"/>
            <a:ext cx="3868323" cy="338328"/>
          </a:xfrm>
          <a:prstGeom prst="rect">
            <a:avLst/>
          </a:prstGeom>
          <a:solidFill>
            <a:srgbClr val="6B5BA8"/>
          </a:solidFill>
          <a:ln w="9525">
            <a:solidFill>
              <a:srgbClr val="FFFFFF"/>
            </a:solidFill>
            <a:prstDash val="solid"/>
          </a:ln>
        </p:spPr>
        <p:txBody>
          <a:bodyPr/>
          <a:p/>
        </p:txBody>
      </p:sp>
      <p:sp>
        <p:nvSpPr>
          <p:cNvPr id="39" name="Text 37"/>
          <p:cNvSpPr txBox="1"/>
          <p:nvPr/>
        </p:nvSpPr>
        <p:spPr>
          <a:xfrm>
            <a:off x="4073724" y="3035808"/>
            <a:ext cx="3868323"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76,5%</a:t>
            </a:r>
            <a:endParaRPr lang="en-US" sz="1100" dirty="0"/>
          </a:p>
        </p:txBody>
      </p:sp>
      <p:sp>
        <p:nvSpPr>
          <p:cNvPr id="40" name="Text 38"/>
          <p:cNvSpPr txBox="1"/>
          <p:nvPr/>
        </p:nvSpPr>
        <p:spPr>
          <a:xfrm>
            <a:off x="7973568" y="3035808"/>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28.622</a:t>
            </a:r>
            <a:endParaRPr lang="en-US" sz="1300" dirty="0"/>
          </a:p>
        </p:txBody>
      </p:sp>
      <p:sp>
        <p:nvSpPr>
          <p:cNvPr id="41" name="Text 39"/>
          <p:cNvSpPr txBox="1"/>
          <p:nvPr/>
        </p:nvSpPr>
        <p:spPr>
          <a:xfrm>
            <a:off x="548640" y="3483864"/>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Metropolità</a:t>
            </a:r>
            <a:endParaRPr lang="en-US" sz="1300" dirty="0"/>
          </a:p>
        </p:txBody>
      </p:sp>
      <p:sp>
        <p:nvSpPr>
          <p:cNvPr id="42" name="Shape 40"/>
          <p:cNvSpPr/>
          <p:nvPr/>
        </p:nvSpPr>
        <p:spPr>
          <a:xfrm>
            <a:off x="2880360" y="3483864"/>
            <a:ext cx="682645" cy="338328"/>
          </a:xfrm>
          <a:prstGeom prst="rect">
            <a:avLst/>
          </a:prstGeom>
          <a:solidFill>
            <a:srgbClr val="2E7D5B"/>
          </a:solidFill>
          <a:ln w="9525">
            <a:solidFill>
              <a:srgbClr val="FFFFFF"/>
            </a:solidFill>
            <a:prstDash val="solid"/>
          </a:ln>
        </p:spPr>
        <p:txBody>
          <a:bodyPr/>
          <a:p/>
        </p:txBody>
      </p:sp>
      <p:sp>
        <p:nvSpPr>
          <p:cNvPr id="43" name="Text 41"/>
          <p:cNvSpPr txBox="1"/>
          <p:nvPr/>
        </p:nvSpPr>
        <p:spPr>
          <a:xfrm>
            <a:off x="2880360" y="3483864"/>
            <a:ext cx="682645"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13,5%</a:t>
            </a:r>
            <a:endParaRPr lang="en-US" sz="1100" dirty="0"/>
          </a:p>
        </p:txBody>
      </p:sp>
      <p:sp>
        <p:nvSpPr>
          <p:cNvPr id="44" name="Shape 42"/>
          <p:cNvSpPr/>
          <p:nvPr/>
        </p:nvSpPr>
        <p:spPr>
          <a:xfrm>
            <a:off x="3563005" y="3483864"/>
            <a:ext cx="773664" cy="338328"/>
          </a:xfrm>
          <a:prstGeom prst="rect">
            <a:avLst/>
          </a:prstGeom>
          <a:solidFill>
            <a:srgbClr val="C4553D"/>
          </a:solidFill>
          <a:ln w="9525">
            <a:solidFill>
              <a:srgbClr val="FFFFFF"/>
            </a:solidFill>
            <a:prstDash val="solid"/>
          </a:ln>
        </p:spPr>
        <p:txBody>
          <a:bodyPr/>
          <a:p/>
        </p:txBody>
      </p:sp>
      <p:sp>
        <p:nvSpPr>
          <p:cNvPr id="45" name="Text 43"/>
          <p:cNvSpPr txBox="1"/>
          <p:nvPr/>
        </p:nvSpPr>
        <p:spPr>
          <a:xfrm>
            <a:off x="3563005" y="3483864"/>
            <a:ext cx="773664"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15,3%</a:t>
            </a:r>
            <a:endParaRPr lang="en-US" sz="1100" dirty="0"/>
          </a:p>
        </p:txBody>
      </p:sp>
      <p:sp>
        <p:nvSpPr>
          <p:cNvPr id="46" name="Shape 44"/>
          <p:cNvSpPr/>
          <p:nvPr/>
        </p:nvSpPr>
        <p:spPr>
          <a:xfrm>
            <a:off x="4336670" y="3483864"/>
            <a:ext cx="3600321" cy="338328"/>
          </a:xfrm>
          <a:prstGeom prst="rect">
            <a:avLst/>
          </a:prstGeom>
          <a:solidFill>
            <a:srgbClr val="6B5BA8"/>
          </a:solidFill>
          <a:ln w="9525">
            <a:solidFill>
              <a:srgbClr val="FFFFFF"/>
            </a:solidFill>
            <a:prstDash val="solid"/>
          </a:ln>
        </p:spPr>
        <p:txBody>
          <a:bodyPr/>
          <a:p/>
        </p:txBody>
      </p:sp>
      <p:sp>
        <p:nvSpPr>
          <p:cNvPr id="47" name="Text 45"/>
          <p:cNvSpPr txBox="1"/>
          <p:nvPr/>
        </p:nvSpPr>
        <p:spPr>
          <a:xfrm>
            <a:off x="4336670" y="3483864"/>
            <a:ext cx="3600321"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71,2%</a:t>
            </a:r>
            <a:endParaRPr lang="en-US" sz="1100" dirty="0"/>
          </a:p>
        </p:txBody>
      </p:sp>
      <p:sp>
        <p:nvSpPr>
          <p:cNvPr id="48" name="Text 46"/>
          <p:cNvSpPr txBox="1"/>
          <p:nvPr/>
        </p:nvSpPr>
        <p:spPr>
          <a:xfrm>
            <a:off x="7973568" y="3483864"/>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672.675</a:t>
            </a:r>
            <a:endParaRPr lang="en-US" sz="1300" dirty="0"/>
          </a:p>
        </p:txBody>
      </p:sp>
      <p:sp>
        <p:nvSpPr>
          <p:cNvPr id="49" name="Text 47"/>
          <p:cNvSpPr txBox="1"/>
          <p:nvPr/>
        </p:nvSpPr>
        <p:spPr>
          <a:xfrm>
            <a:off x="548640" y="3931920"/>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Camp de Tarragona</a:t>
            </a:r>
            <a:endParaRPr lang="en-US" sz="1300" dirty="0"/>
          </a:p>
        </p:txBody>
      </p:sp>
      <p:sp>
        <p:nvSpPr>
          <p:cNvPr id="50" name="Shape 48"/>
          <p:cNvSpPr/>
          <p:nvPr/>
        </p:nvSpPr>
        <p:spPr>
          <a:xfrm>
            <a:off x="2880360" y="3931920"/>
            <a:ext cx="738268" cy="338328"/>
          </a:xfrm>
          <a:prstGeom prst="rect">
            <a:avLst/>
          </a:prstGeom>
          <a:solidFill>
            <a:srgbClr val="2E7D5B"/>
          </a:solidFill>
          <a:ln w="9525">
            <a:solidFill>
              <a:srgbClr val="FFFFFF"/>
            </a:solidFill>
            <a:prstDash val="solid"/>
          </a:ln>
        </p:spPr>
        <p:txBody>
          <a:bodyPr/>
          <a:p/>
        </p:txBody>
      </p:sp>
      <p:sp>
        <p:nvSpPr>
          <p:cNvPr id="51" name="Text 49"/>
          <p:cNvSpPr txBox="1"/>
          <p:nvPr/>
        </p:nvSpPr>
        <p:spPr>
          <a:xfrm>
            <a:off x="2880360" y="3931920"/>
            <a:ext cx="738268"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14,6%</a:t>
            </a:r>
            <a:endParaRPr lang="en-US" sz="1100" dirty="0"/>
          </a:p>
        </p:txBody>
      </p:sp>
      <p:sp>
        <p:nvSpPr>
          <p:cNvPr id="52" name="Shape 50"/>
          <p:cNvSpPr/>
          <p:nvPr/>
        </p:nvSpPr>
        <p:spPr>
          <a:xfrm>
            <a:off x="3618628" y="3931920"/>
            <a:ext cx="849514" cy="338328"/>
          </a:xfrm>
          <a:prstGeom prst="rect">
            <a:avLst/>
          </a:prstGeom>
          <a:solidFill>
            <a:srgbClr val="C4553D"/>
          </a:solidFill>
          <a:ln w="9525">
            <a:solidFill>
              <a:srgbClr val="FFFFFF"/>
            </a:solidFill>
            <a:prstDash val="solid"/>
          </a:ln>
        </p:spPr>
        <p:txBody>
          <a:bodyPr/>
          <a:p/>
        </p:txBody>
      </p:sp>
      <p:sp>
        <p:nvSpPr>
          <p:cNvPr id="53" name="Text 51"/>
          <p:cNvSpPr txBox="1"/>
          <p:nvPr/>
        </p:nvSpPr>
        <p:spPr>
          <a:xfrm>
            <a:off x="3618628" y="3931920"/>
            <a:ext cx="849514"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16,8%</a:t>
            </a:r>
            <a:endParaRPr lang="en-US" sz="1100" dirty="0"/>
          </a:p>
        </p:txBody>
      </p:sp>
      <p:sp>
        <p:nvSpPr>
          <p:cNvPr id="54" name="Shape 52"/>
          <p:cNvSpPr/>
          <p:nvPr/>
        </p:nvSpPr>
        <p:spPr>
          <a:xfrm>
            <a:off x="4468142" y="3931920"/>
            <a:ext cx="3468849" cy="338328"/>
          </a:xfrm>
          <a:prstGeom prst="rect">
            <a:avLst/>
          </a:prstGeom>
          <a:solidFill>
            <a:srgbClr val="6B5BA8"/>
          </a:solidFill>
          <a:ln w="9525">
            <a:solidFill>
              <a:srgbClr val="FFFFFF"/>
            </a:solidFill>
            <a:prstDash val="solid"/>
          </a:ln>
        </p:spPr>
        <p:txBody>
          <a:bodyPr/>
          <a:p/>
        </p:txBody>
      </p:sp>
      <p:sp>
        <p:nvSpPr>
          <p:cNvPr id="55" name="Text 53"/>
          <p:cNvSpPr txBox="1"/>
          <p:nvPr/>
        </p:nvSpPr>
        <p:spPr>
          <a:xfrm>
            <a:off x="4468142" y="3931920"/>
            <a:ext cx="3468849"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68,6%</a:t>
            </a:r>
            <a:endParaRPr lang="en-US" sz="1100" dirty="0"/>
          </a:p>
        </p:txBody>
      </p:sp>
      <p:sp>
        <p:nvSpPr>
          <p:cNvPr id="56" name="Text 54"/>
          <p:cNvSpPr txBox="1"/>
          <p:nvPr/>
        </p:nvSpPr>
        <p:spPr>
          <a:xfrm>
            <a:off x="7973568" y="3931920"/>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58.261</a:t>
            </a:r>
            <a:endParaRPr lang="en-US" sz="1300" dirty="0"/>
          </a:p>
        </p:txBody>
      </p:sp>
      <p:sp>
        <p:nvSpPr>
          <p:cNvPr id="57" name="Text 55"/>
          <p:cNvSpPr txBox="1"/>
          <p:nvPr/>
        </p:nvSpPr>
        <p:spPr>
          <a:xfrm>
            <a:off x="548640" y="4379976"/>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Penedès</a:t>
            </a:r>
            <a:endParaRPr lang="en-US" sz="1300" dirty="0"/>
          </a:p>
        </p:txBody>
      </p:sp>
      <p:sp>
        <p:nvSpPr>
          <p:cNvPr id="58" name="Shape 56"/>
          <p:cNvSpPr/>
          <p:nvPr/>
        </p:nvSpPr>
        <p:spPr>
          <a:xfrm>
            <a:off x="2880360" y="4379976"/>
            <a:ext cx="930420" cy="338328"/>
          </a:xfrm>
          <a:prstGeom prst="rect">
            <a:avLst/>
          </a:prstGeom>
          <a:solidFill>
            <a:srgbClr val="2E7D5B"/>
          </a:solidFill>
          <a:ln w="9525">
            <a:solidFill>
              <a:srgbClr val="FFFFFF"/>
            </a:solidFill>
            <a:prstDash val="solid"/>
          </a:ln>
        </p:spPr>
        <p:txBody>
          <a:bodyPr/>
          <a:p/>
        </p:txBody>
      </p:sp>
      <p:sp>
        <p:nvSpPr>
          <p:cNvPr id="59" name="Text 57"/>
          <p:cNvSpPr txBox="1"/>
          <p:nvPr/>
        </p:nvSpPr>
        <p:spPr>
          <a:xfrm>
            <a:off x="2880360" y="4379976"/>
            <a:ext cx="930420"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18,4%</a:t>
            </a:r>
            <a:endParaRPr lang="en-US" sz="1100" dirty="0"/>
          </a:p>
        </p:txBody>
      </p:sp>
      <p:sp>
        <p:nvSpPr>
          <p:cNvPr id="60" name="Shape 58"/>
          <p:cNvSpPr/>
          <p:nvPr/>
        </p:nvSpPr>
        <p:spPr>
          <a:xfrm>
            <a:off x="3810780" y="4379976"/>
            <a:ext cx="687701" cy="338328"/>
          </a:xfrm>
          <a:prstGeom prst="rect">
            <a:avLst/>
          </a:prstGeom>
          <a:solidFill>
            <a:srgbClr val="C4553D"/>
          </a:solidFill>
          <a:ln w="9525">
            <a:solidFill>
              <a:srgbClr val="FFFFFF"/>
            </a:solidFill>
            <a:prstDash val="solid"/>
          </a:ln>
        </p:spPr>
        <p:txBody>
          <a:bodyPr/>
          <a:p/>
        </p:txBody>
      </p:sp>
      <p:sp>
        <p:nvSpPr>
          <p:cNvPr id="61" name="Text 59"/>
          <p:cNvSpPr txBox="1"/>
          <p:nvPr/>
        </p:nvSpPr>
        <p:spPr>
          <a:xfrm>
            <a:off x="3810780" y="4379976"/>
            <a:ext cx="687701"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13,6%</a:t>
            </a:r>
            <a:endParaRPr lang="en-US" sz="1100" dirty="0"/>
          </a:p>
        </p:txBody>
      </p:sp>
      <p:sp>
        <p:nvSpPr>
          <p:cNvPr id="62" name="Shape 60"/>
          <p:cNvSpPr/>
          <p:nvPr/>
        </p:nvSpPr>
        <p:spPr>
          <a:xfrm>
            <a:off x="4498482" y="4379976"/>
            <a:ext cx="3438509" cy="338328"/>
          </a:xfrm>
          <a:prstGeom prst="rect">
            <a:avLst/>
          </a:prstGeom>
          <a:solidFill>
            <a:srgbClr val="6B5BA8"/>
          </a:solidFill>
          <a:ln w="9525">
            <a:solidFill>
              <a:srgbClr val="FFFFFF"/>
            </a:solidFill>
            <a:prstDash val="solid"/>
          </a:ln>
        </p:spPr>
        <p:txBody>
          <a:bodyPr/>
          <a:p/>
        </p:txBody>
      </p:sp>
      <p:sp>
        <p:nvSpPr>
          <p:cNvPr id="63" name="Text 61"/>
          <p:cNvSpPr txBox="1"/>
          <p:nvPr/>
        </p:nvSpPr>
        <p:spPr>
          <a:xfrm>
            <a:off x="4498482" y="4379976"/>
            <a:ext cx="3438509"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68,0%</a:t>
            </a:r>
            <a:endParaRPr lang="en-US" sz="1100" dirty="0"/>
          </a:p>
        </p:txBody>
      </p:sp>
      <p:sp>
        <p:nvSpPr>
          <p:cNvPr id="64" name="Text 62"/>
          <p:cNvSpPr txBox="1"/>
          <p:nvPr/>
        </p:nvSpPr>
        <p:spPr>
          <a:xfrm>
            <a:off x="7973568" y="4379976"/>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44.295</a:t>
            </a:r>
            <a:endParaRPr lang="en-US" sz="1300" dirty="0"/>
          </a:p>
        </p:txBody>
      </p:sp>
      <p:sp>
        <p:nvSpPr>
          <p:cNvPr id="65" name="Text 63"/>
          <p:cNvSpPr txBox="1"/>
          <p:nvPr/>
        </p:nvSpPr>
        <p:spPr>
          <a:xfrm>
            <a:off x="548640" y="4828032"/>
            <a:ext cx="1920240" cy="338328"/>
          </a:xfrm>
          <a:prstGeom prst="rect">
            <a:avLst/>
          </a:prstGeom>
          <a:noFill/>
          <a:ln/>
        </p:spPr>
        <p:txBody>
          <a:bodyPr wrap="square" lIns="0" tIns="0" rIns="0" bIns="0" rtlCol="0" anchor="ctr"/>
          <a:lstStyle/>
          <a:p>
            <a:pPr algn="r" indent="0" marL="0">
              <a:buNone/>
            </a:pPr>
            <a:r>
              <a:rPr lang="en-US" sz="1300" dirty="0">
                <a:solidFill>
                  <a:srgbClr val="1B2333"/>
                </a:solidFill>
                <a:latin typeface="Calibri" pitchFamily="34" charset="0"/>
                <a:ea typeface="Calibri" pitchFamily="34" charset="-122"/>
                <a:cs typeface="Calibri" pitchFamily="34" charset="-120"/>
              </a:rPr>
              <a:t>Alt Pirineu i Aran</a:t>
            </a:r>
            <a:endParaRPr lang="en-US" sz="1300" dirty="0"/>
          </a:p>
        </p:txBody>
      </p:sp>
      <p:sp>
        <p:nvSpPr>
          <p:cNvPr id="66" name="Shape 64"/>
          <p:cNvSpPr/>
          <p:nvPr/>
        </p:nvSpPr>
        <p:spPr>
          <a:xfrm>
            <a:off x="2880360" y="4828032"/>
            <a:ext cx="975930" cy="338328"/>
          </a:xfrm>
          <a:prstGeom prst="rect">
            <a:avLst/>
          </a:prstGeom>
          <a:solidFill>
            <a:srgbClr val="2E7D5B"/>
          </a:solidFill>
          <a:ln w="9525">
            <a:solidFill>
              <a:srgbClr val="FFFFFF"/>
            </a:solidFill>
            <a:prstDash val="solid"/>
          </a:ln>
        </p:spPr>
        <p:txBody>
          <a:bodyPr/>
          <a:p/>
        </p:txBody>
      </p:sp>
      <p:sp>
        <p:nvSpPr>
          <p:cNvPr id="67" name="Text 65"/>
          <p:cNvSpPr txBox="1"/>
          <p:nvPr/>
        </p:nvSpPr>
        <p:spPr>
          <a:xfrm>
            <a:off x="2880360" y="4828032"/>
            <a:ext cx="975930"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19,3%</a:t>
            </a:r>
            <a:endParaRPr lang="en-US" sz="1100" dirty="0"/>
          </a:p>
        </p:txBody>
      </p:sp>
      <p:sp>
        <p:nvSpPr>
          <p:cNvPr id="68" name="Shape 66"/>
          <p:cNvSpPr/>
          <p:nvPr/>
        </p:nvSpPr>
        <p:spPr>
          <a:xfrm>
            <a:off x="3856290" y="4828032"/>
            <a:ext cx="798947" cy="338328"/>
          </a:xfrm>
          <a:prstGeom prst="rect">
            <a:avLst/>
          </a:prstGeom>
          <a:solidFill>
            <a:srgbClr val="C4553D"/>
          </a:solidFill>
          <a:ln w="9525">
            <a:solidFill>
              <a:srgbClr val="FFFFFF"/>
            </a:solidFill>
            <a:prstDash val="solid"/>
          </a:ln>
        </p:spPr>
        <p:txBody>
          <a:bodyPr/>
          <a:p/>
        </p:txBody>
      </p:sp>
      <p:sp>
        <p:nvSpPr>
          <p:cNvPr id="69" name="Text 67"/>
          <p:cNvSpPr txBox="1"/>
          <p:nvPr/>
        </p:nvSpPr>
        <p:spPr>
          <a:xfrm>
            <a:off x="3856290" y="4828032"/>
            <a:ext cx="798947"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15,8%</a:t>
            </a:r>
            <a:endParaRPr lang="en-US" sz="1100" dirty="0"/>
          </a:p>
        </p:txBody>
      </p:sp>
      <p:sp>
        <p:nvSpPr>
          <p:cNvPr id="70" name="Shape 68"/>
          <p:cNvSpPr/>
          <p:nvPr/>
        </p:nvSpPr>
        <p:spPr>
          <a:xfrm>
            <a:off x="4655237" y="4828032"/>
            <a:ext cx="3286810" cy="338328"/>
          </a:xfrm>
          <a:prstGeom prst="rect">
            <a:avLst/>
          </a:prstGeom>
          <a:solidFill>
            <a:srgbClr val="6B5BA8"/>
          </a:solidFill>
          <a:ln w="9525">
            <a:solidFill>
              <a:srgbClr val="FFFFFF"/>
            </a:solidFill>
            <a:prstDash val="solid"/>
          </a:ln>
        </p:spPr>
        <p:txBody>
          <a:bodyPr/>
          <a:p/>
        </p:txBody>
      </p:sp>
      <p:sp>
        <p:nvSpPr>
          <p:cNvPr id="71" name="Text 69"/>
          <p:cNvSpPr txBox="1"/>
          <p:nvPr/>
        </p:nvSpPr>
        <p:spPr>
          <a:xfrm>
            <a:off x="4655237" y="4828032"/>
            <a:ext cx="3286810" cy="3383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65,0%</a:t>
            </a:r>
            <a:endParaRPr lang="en-US" sz="1100" dirty="0"/>
          </a:p>
        </p:txBody>
      </p:sp>
      <p:sp>
        <p:nvSpPr>
          <p:cNvPr id="72" name="Text 70"/>
          <p:cNvSpPr txBox="1"/>
          <p:nvPr/>
        </p:nvSpPr>
        <p:spPr>
          <a:xfrm>
            <a:off x="7973568" y="4828032"/>
            <a:ext cx="1143000" cy="338328"/>
          </a:xfrm>
          <a:prstGeom prst="rect">
            <a:avLst/>
          </a:prstGeom>
          <a:noFill/>
          <a:ln/>
        </p:spPr>
        <p:txBody>
          <a:bodyPr wrap="square" lIns="0" tIns="0" rIns="0" bIns="0" rtlCol="0" anchor="ctr"/>
          <a:lstStyle/>
          <a:p>
            <a:pPr algn="r" indent="0" marL="0">
              <a:buNone/>
            </a:pPr>
            <a:r>
              <a:rPr lang="en-US" sz="1300" b="1" dirty="0">
                <a:solidFill>
                  <a:srgbClr val="1B2333"/>
                </a:solidFill>
                <a:latin typeface="Calibri" pitchFamily="34" charset="0"/>
                <a:ea typeface="Calibri" pitchFamily="34" charset="-122"/>
                <a:cs typeface="Calibri" pitchFamily="34" charset="-120"/>
              </a:rPr>
              <a:t>4.078</a:t>
            </a:r>
            <a:endParaRPr lang="en-US" sz="1300" dirty="0"/>
          </a:p>
        </p:txBody>
      </p:sp>
      <p:sp>
        <p:nvSpPr>
          <p:cNvPr id="73" name="Shape 71"/>
          <p:cNvSpPr/>
          <p:nvPr/>
        </p:nvSpPr>
        <p:spPr>
          <a:xfrm>
            <a:off x="548640" y="5394960"/>
            <a:ext cx="11091672" cy="731520"/>
          </a:xfrm>
          <a:prstGeom prst="roundRect">
            <a:avLst>
              <a:gd name="adj" fmla="val 15000"/>
            </a:avLst>
          </a:prstGeom>
          <a:solidFill>
            <a:srgbClr val="F3F5F9"/>
          </a:solidFill>
          <a:ln w="12700">
            <a:solidFill>
              <a:srgbClr val="F3F5F9"/>
            </a:solidFill>
            <a:prstDash val="solid"/>
          </a:ln>
        </p:spPr>
      </p:sp>
      <p:sp>
        <p:nvSpPr>
          <p:cNvPr id="74" name="Text 72"/>
          <p:cNvSpPr txBox="1"/>
          <p:nvPr/>
        </p:nvSpPr>
        <p:spPr>
          <a:xfrm>
            <a:off x="777240" y="5394960"/>
            <a:ext cx="10698480" cy="731520"/>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En los 8 ámbitos territoriales, al menos el 65% de las inscripciones son de personas nacidas en el extranjero </a:t>
            </a:r>
            <a:pPr indent="0" marL="0">
              <a:buNone/>
            </a:pPr>
            <a:r>
              <a:rPr lang="en-US" sz="1500" dirty="0">
                <a:solidFill>
                  <a:srgbClr val="1B2333"/>
                </a:solidFill>
                <a:latin typeface="Calibri" pitchFamily="34" charset="0"/>
                <a:ea typeface="Calibri" pitchFamily="34" charset="-122"/>
                <a:cs typeface="Calibri" pitchFamily="34" charset="-120"/>
              </a:rPr>
              <a:t>(del 65,0% en Alt Pirineu i Aran al 85,5% en las Comarques Centrals).</a:t>
            </a:r>
            <a:endParaRPr lang="en-US" sz="1500" dirty="0"/>
          </a:p>
        </p:txBody>
      </p:sp>
      <p:sp>
        <p:nvSpPr>
          <p:cNvPr id="75" name="Text 73"/>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CPNL (2011–2023) · % sobre las inscripciones con origen conocido; totales con municipio catalán; inscripciones, no personas</a:t>
            </a:r>
            <a:endParaRPr lang="en-US" sz="1000" dirty="0"/>
          </a:p>
        </p:txBody>
      </p:sp>
      <p:sp>
        <p:nvSpPr>
          <p:cNvPr id="76" name="TextBox 75"/>
          <p:cNvSpPr txBox="1"/>
          <p:nvPr/>
        </p:nvSpPr>
        <p:spPr>
          <a:xfrm>
            <a:off x="548640" y="1234440"/>
            <a:ext cx="2240280" cy="310896"/>
          </a:xfrm>
          <a:prstGeom prst="rect">
            <a:avLst/>
          </a:prstGeom>
          <a:noFill/>
        </p:spPr>
        <p:txBody>
          <a:bodyPr wrap="square" lIns="0" rIns="0" tIns="0" bIns="0" anchor="t">
            <a:spAutoFit/>
          </a:bodyPr>
          <a:lstStyle/>
          <a:p>
            <a:pPr algn="r"/>
            <a:r>
              <a:rPr sz="1200" b="0" i="0">
                <a:solidFill>
                  <a:srgbClr val="5B6475"/>
                </a:solidFill>
                <a:latin typeface="Calibri"/>
              </a:rPr>
              <a:t>Nacidos en:</a:t>
            </a:r>
          </a:p>
        </p:txBody>
      </p:sp>
      <p:sp>
        <p:nvSpPr>
          <p:cNvPr id="77" name="Oval 76"/>
          <p:cNvSpPr/>
          <p:nvPr/>
        </p:nvSpPr>
        <p:spPr>
          <a:xfrm>
            <a:off x="2560320" y="1751076"/>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1</a:t>
            </a:r>
          </a:p>
        </p:txBody>
      </p:sp>
      <p:sp>
        <p:nvSpPr>
          <p:cNvPr id="78" name="Oval 77"/>
          <p:cNvSpPr/>
          <p:nvPr/>
        </p:nvSpPr>
        <p:spPr>
          <a:xfrm>
            <a:off x="2560320" y="2199132"/>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2</a:t>
            </a:r>
          </a:p>
        </p:txBody>
      </p:sp>
      <p:sp>
        <p:nvSpPr>
          <p:cNvPr id="79" name="Oval 78"/>
          <p:cNvSpPr/>
          <p:nvPr/>
        </p:nvSpPr>
        <p:spPr>
          <a:xfrm>
            <a:off x="2560320" y="2647188"/>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3</a:t>
            </a:r>
          </a:p>
        </p:txBody>
      </p:sp>
      <p:sp>
        <p:nvSpPr>
          <p:cNvPr id="80" name="Oval 79"/>
          <p:cNvSpPr/>
          <p:nvPr/>
        </p:nvSpPr>
        <p:spPr>
          <a:xfrm>
            <a:off x="2560320" y="3095244"/>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4</a:t>
            </a:r>
          </a:p>
        </p:txBody>
      </p:sp>
      <p:sp>
        <p:nvSpPr>
          <p:cNvPr id="81" name="Oval 80"/>
          <p:cNvSpPr/>
          <p:nvPr/>
        </p:nvSpPr>
        <p:spPr>
          <a:xfrm>
            <a:off x="2560320" y="3543300"/>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5</a:t>
            </a:r>
          </a:p>
        </p:txBody>
      </p:sp>
      <p:sp>
        <p:nvSpPr>
          <p:cNvPr id="82" name="Oval 81"/>
          <p:cNvSpPr/>
          <p:nvPr/>
        </p:nvSpPr>
        <p:spPr>
          <a:xfrm>
            <a:off x="2560320" y="3991355"/>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6</a:t>
            </a:r>
          </a:p>
        </p:txBody>
      </p:sp>
      <p:sp>
        <p:nvSpPr>
          <p:cNvPr id="83" name="Oval 82"/>
          <p:cNvSpPr/>
          <p:nvPr/>
        </p:nvSpPr>
        <p:spPr>
          <a:xfrm>
            <a:off x="2560320" y="4439412"/>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7</a:t>
            </a:r>
          </a:p>
        </p:txBody>
      </p:sp>
      <p:sp>
        <p:nvSpPr>
          <p:cNvPr id="84" name="Oval 83"/>
          <p:cNvSpPr/>
          <p:nvPr/>
        </p:nvSpPr>
        <p:spPr>
          <a:xfrm>
            <a:off x="2560320" y="4887468"/>
            <a:ext cx="219456" cy="219456"/>
          </a:xfrm>
          <a:prstGeom prst="ellipse">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Calibri"/>
              </a:rPr>
              <a:t>8</a:t>
            </a:r>
          </a:p>
        </p:txBody>
      </p:sp>
      <p:pic>
        <p:nvPicPr>
          <p:cNvPr id="85" name="Picture 84" descr="mapa_ambitos_ref.png"/>
          <p:cNvPicPr>
            <a:picLocks noChangeAspect="1"/>
          </p:cNvPicPr>
          <p:nvPr/>
        </p:nvPicPr>
        <p:blipFill>
          <a:blip r:embed="rId3"/>
          <a:stretch>
            <a:fillRect/>
          </a:stretch>
        </p:blipFill>
        <p:spPr>
          <a:xfrm>
            <a:off x="9326880" y="1572768"/>
            <a:ext cx="2313432" cy="2284777"/>
          </a:xfrm>
          <a:prstGeom prst="rect">
            <a:avLst/>
          </a:prstGeom>
        </p:spPr>
      </p:pic>
      <p:sp>
        <p:nvSpPr>
          <p:cNvPr id="86" name="TextBox 85"/>
          <p:cNvSpPr txBox="1"/>
          <p:nvPr/>
        </p:nvSpPr>
        <p:spPr>
          <a:xfrm>
            <a:off x="9326880" y="1234440"/>
            <a:ext cx="2313432" cy="310896"/>
          </a:xfrm>
          <a:prstGeom prst="rect">
            <a:avLst/>
          </a:prstGeom>
          <a:noFill/>
        </p:spPr>
        <p:txBody>
          <a:bodyPr wrap="square" lIns="0" rIns="0" tIns="0" bIns="0" anchor="t">
            <a:spAutoFit/>
          </a:bodyPr>
          <a:lstStyle/>
          <a:p>
            <a:pPr algn="ctr"/>
            <a:r>
              <a:rPr sz="1200" b="1" i="0">
                <a:solidFill>
                  <a:srgbClr val="5B6475"/>
                </a:solidFill>
                <a:latin typeface="Calibri"/>
              </a:rPr>
              <a:t>Los 8 ámbitos territoriales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ellipse">
            <a:avLst/>
          </a:prstGeom>
          <a:solidFill>
            <a:srgbClr val="F2A93B"/>
          </a:solidFill>
          <a:ln w="12700">
            <a:solidFill>
              <a:srgbClr val="F2A93B"/>
            </a:solidFill>
            <a:prstDash val="solid"/>
          </a:ln>
        </p:spPr>
      </p:sp>
      <p:sp>
        <p:nvSpPr>
          <p:cNvPr id="3"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4</a:t>
            </a:r>
            <a:endParaRPr lang="en-US" sz="2000" dirty="0"/>
          </a:p>
        </p:txBody>
      </p:sp>
      <p:sp>
        <p:nvSpPr>
          <p:cNvPr id="4" name="Text 2"/>
          <p:cNvSpPr txBox="1"/>
          <p:nvPr/>
        </p:nvSpPr>
        <p:spPr>
          <a:xfrm>
            <a:off x="1280160" y="365760"/>
            <a:ext cx="8503920" cy="822960"/>
          </a:xfrm>
          <a:prstGeom prst="rect">
            <a:avLst/>
          </a:prstGeom>
          <a:noFill/>
          <a:ln/>
        </p:spPr>
        <p:txBody>
          <a:bodyPr wrap="square" lIns="0" tIns="0" rIns="0" bIns="0" rtlCol="0" anchor="ctr"/>
          <a:lstStyle/>
          <a:p>
            <a:pPr indent="0" marL="0">
              <a:buNone/>
            </a:pPr>
            <a:r>
              <a:rPr lang="en-US" sz="3000" b="1" dirty="0">
                <a:solidFill>
                  <a:srgbClr val="1B2333"/>
                </a:solidFill>
                <a:latin typeface="Cambria" pitchFamily="34" charset="0"/>
                <a:ea typeface="Cambria" pitchFamily="34" charset="-122"/>
                <a:cs typeface="Cambria" pitchFamily="34" charset="-120"/>
              </a:rPr>
              <a:t>¿Cada vez menos gente lo usa en su día a día?</a:t>
            </a:r>
            <a:endParaRPr lang="en-US" sz="3000" dirty="0"/>
          </a:p>
        </p:txBody>
      </p:sp>
      <p:sp>
        <p:nvSpPr>
          <p:cNvPr id="5" name="Shape 3"/>
          <p:cNvSpPr/>
          <p:nvPr/>
        </p:nvSpPr>
        <p:spPr>
          <a:xfrm>
            <a:off x="9445752" y="566928"/>
            <a:ext cx="2194560" cy="420624"/>
          </a:xfrm>
          <a:prstGeom prst="roundRect">
            <a:avLst>
              <a:gd name="adj" fmla="val 50000"/>
            </a:avLst>
          </a:prstGeom>
          <a:solidFill>
            <a:srgbClr val="8A93A6"/>
          </a:solidFill>
          <a:ln w="12700">
            <a:solidFill>
              <a:srgbClr val="8A93A6"/>
            </a:solidFill>
            <a:prstDash val="solid"/>
          </a:ln>
        </p:spPr>
      </p:sp>
      <p:sp>
        <p:nvSpPr>
          <p:cNvPr id="6" name="Text 4"/>
          <p:cNvSpPr txBox="1"/>
          <p:nvPr/>
        </p:nvSpPr>
        <p:spPr>
          <a:xfrm>
            <a:off x="9445752" y="566928"/>
            <a:ext cx="219456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REALIDAD (en %)</a:t>
            </a:r>
            <a:endParaRPr lang="en-US" sz="1400" dirty="0"/>
          </a:p>
        </p:txBody>
      </p:sp>
      <p:graphicFrame>
        <p:nvGraphicFramePr>
          <p:cNvPr id="7" name="Chart 0" descr=""/>
          <p:cNvGraphicFramePr/>
          <p:nvPr/>
        </p:nvGraphicFramePr>
        <p:xfrm>
          <a:off x="548640" y="1417320"/>
          <a:ext cx="7589520" cy="4663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503920" y="1463040"/>
            <a:ext cx="3200400" cy="731520"/>
          </a:xfrm>
          <a:prstGeom prst="rect">
            <a:avLst/>
          </a:prstGeom>
          <a:noFill/>
          <a:ln/>
        </p:spPr>
        <p:txBody>
          <a:bodyPr wrap="square" lIns="0" tIns="0" rIns="0" bIns="0" rtlCol="0" anchor="b"/>
          <a:lstStyle/>
          <a:p>
            <a:pPr indent="0" marL="0">
              <a:buNone/>
            </a:pPr>
            <a:r>
              <a:rPr lang="en-US" sz="4000" b="1" dirty="0">
                <a:solidFill>
                  <a:srgbClr val="B8862B"/>
                </a:solidFill>
                <a:latin typeface="Cambria" pitchFamily="34" charset="0"/>
                <a:ea typeface="Cambria" pitchFamily="34" charset="-122"/>
                <a:cs typeface="Cambria" pitchFamily="34" charset="-120"/>
              </a:rPr>
              <a:t>−3,0 pp</a:t>
            </a:r>
            <a:endParaRPr lang="en-US" sz="4000" dirty="0"/>
          </a:p>
        </p:txBody>
      </p:sp>
      <p:sp>
        <p:nvSpPr>
          <p:cNvPr id="9" name="Text 6"/>
          <p:cNvSpPr txBox="1"/>
          <p:nvPr/>
        </p:nvSpPr>
        <p:spPr>
          <a:xfrm>
            <a:off x="8503920" y="2240280"/>
            <a:ext cx="32004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lengua habitual catalán, de 2008 a 2023 (del 35,6% al 32,6%)</a:t>
            </a:r>
            <a:endParaRPr lang="en-US" sz="1300" dirty="0"/>
          </a:p>
        </p:txBody>
      </p:sp>
      <p:sp>
        <p:nvSpPr>
          <p:cNvPr id="10" name="Text 7"/>
          <p:cNvSpPr txBox="1"/>
          <p:nvPr/>
        </p:nvSpPr>
        <p:spPr>
          <a:xfrm>
            <a:off x="8503920" y="3017520"/>
            <a:ext cx="3200400" cy="731520"/>
          </a:xfrm>
          <a:prstGeom prst="rect">
            <a:avLst/>
          </a:prstGeom>
          <a:noFill/>
          <a:ln/>
        </p:spPr>
        <p:txBody>
          <a:bodyPr wrap="square" lIns="0" tIns="0" rIns="0" bIns="0" rtlCol="0" anchor="b"/>
          <a:lstStyle/>
          <a:p>
            <a:pPr indent="0" marL="0">
              <a:buNone/>
            </a:pPr>
            <a:r>
              <a:rPr lang="en-US" sz="3000" b="1" dirty="0">
                <a:solidFill>
                  <a:srgbClr val="B8862B"/>
                </a:solidFill>
                <a:latin typeface="Cambria" pitchFamily="34" charset="0"/>
                <a:ea typeface="Cambria" pitchFamily="34" charset="-122"/>
                <a:cs typeface="Cambria" pitchFamily="34" charset="-120"/>
              </a:rPr>
              <a:t>2018–2023</a:t>
            </a:r>
            <a:endParaRPr lang="en-US" sz="3000" dirty="0"/>
          </a:p>
        </p:txBody>
      </p:sp>
      <p:sp>
        <p:nvSpPr>
          <p:cNvPr id="11" name="Text 8"/>
          <p:cNvSpPr txBox="1"/>
          <p:nvPr/>
        </p:nvSpPr>
        <p:spPr>
          <a:xfrm>
            <a:off x="8503920" y="3794760"/>
            <a:ext cx="3200400" cy="685800"/>
          </a:xfrm>
          <a:prstGeom prst="rect">
            <a:avLst/>
          </a:prstGeom>
          <a:noFill/>
          <a:ln/>
        </p:spPr>
        <p:txBody>
          <a:bodyPr wrap="square" lIns="0" tIns="0" rIns="0" bIns="0" rtlCol="0" anchor="t"/>
          <a:lstStyle/>
          <a:p>
            <a:pPr indent="0" marL="0">
              <a:buNone/>
            </a:pPr>
            <a:r>
              <a:rPr lang="en-US" sz="1300" dirty="0">
                <a:solidFill>
                  <a:srgbClr val="1B2333"/>
                </a:solidFill>
                <a:latin typeface="Calibri" pitchFamily="34" charset="0"/>
                <a:ea typeface="Calibri" pitchFamily="34" charset="-122"/>
                <a:cs typeface="Calibri" pitchFamily="34" charset="-120"/>
              </a:rPr>
              <a:t>ahí se concentra la caída (−3,5 pp); entre 2008 y 2018 había subido 0,5</a:t>
            </a:r>
            <a:endParaRPr lang="en-US" sz="1300" dirty="0"/>
          </a:p>
        </p:txBody>
      </p:sp>
      <p:sp>
        <p:nvSpPr>
          <p:cNvPr id="12" name="Text 9"/>
          <p:cNvSpPr txBox="1"/>
          <p:nvPr/>
        </p:nvSpPr>
        <p:spPr>
          <a:xfrm>
            <a:off x="8503920" y="4754880"/>
            <a:ext cx="3200400" cy="1188720"/>
          </a:xfrm>
          <a:prstGeom prst="rect">
            <a:avLst/>
          </a:prstGeom>
          <a:noFill/>
          <a:ln/>
        </p:spPr>
        <p:txBody>
          <a:bodyPr wrap="square" lIns="0" tIns="0" rIns="0" bIns="0" rtlCol="0" anchor="t"/>
          <a:lstStyle/>
          <a:p>
            <a:pPr indent="0" marL="0">
              <a:buNone/>
            </a:pPr>
            <a:r>
              <a:rPr lang="en-US" sz="1200" i="1" dirty="0">
                <a:solidFill>
                  <a:srgbClr val="5B6475"/>
                </a:solidFill>
                <a:latin typeface="Calibri" pitchFamily="34" charset="0"/>
                <a:ea typeface="Calibri" pitchFamily="34" charset="-122"/>
                <a:cs typeface="Calibri" pitchFamily="34" charset="-120"/>
              </a:rPr>
              <a:t>2003: 46,0% (dato enlazado del Idescat, solo como referencia: en 2008 cambió el cuestionario)</a:t>
            </a:r>
            <a:endParaRPr lang="en-US" sz="1200" dirty="0"/>
          </a:p>
        </p:txBody>
      </p:sp>
      <p:sp>
        <p:nvSpPr>
          <p:cNvPr id="13" name="Text 10"/>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Idescat y Generalitat, EULP (2008–2023) · población de 15 años o más</a:t>
            </a:r>
            <a:endParaRPr lang="en-US" sz="1000" dirty="0"/>
          </a:p>
        </p:txBody>
      </p:sp>
      <p:sp>
        <p:nvSpPr>
          <p:cNvPr id="14" name="TextBox 13"/>
          <p:cNvSpPr txBox="1"/>
          <p:nvPr/>
        </p:nvSpPr>
        <p:spPr>
          <a:xfrm>
            <a:off x="8503920" y="5440680"/>
            <a:ext cx="3200400" cy="640080"/>
          </a:xfrm>
          <a:prstGeom prst="rect">
            <a:avLst/>
          </a:prstGeom>
          <a:noFill/>
        </p:spPr>
        <p:txBody>
          <a:bodyPr wrap="square" lIns="0" rIns="0" tIns="0" bIns="0" anchor="t">
            <a:spAutoFit/>
          </a:bodyPr>
          <a:lstStyle/>
          <a:p>
            <a:pPr algn="l"/>
            <a:r>
              <a:rPr sz="1200" b="0" i="1">
                <a:solidFill>
                  <a:srgbClr val="5B6475"/>
                </a:solidFill>
                <a:latin typeface="Calibri"/>
              </a:rPr>
              <a:t>Solo catalán. Si se suma "catalán y castellano": 42,0% en 2023 (ver la diapositiva siguiente).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El giro: mismos hablantes, más población</a:t>
            </a:r>
            <a:endParaRPr lang="en-US" sz="3200" dirty="0"/>
          </a:p>
        </p:txBody>
      </p:sp>
      <p:sp>
        <p:nvSpPr>
          <p:cNvPr id="3" name="Text 1"/>
          <p:cNvSpPr txBox="1"/>
          <p:nvPr/>
        </p:nvSpPr>
        <p:spPr>
          <a:xfrm>
            <a:off x="548640" y="1234440"/>
            <a:ext cx="7680960" cy="32004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Personas de 15 años o más por lengua habitual (miles) · encima, el total</a:t>
            </a:r>
            <a:endParaRPr lang="en-US" sz="1300" dirty="0"/>
          </a:p>
        </p:txBody>
      </p:sp>
      <p:sp>
        <p:nvSpPr>
          <p:cNvPr id="4" name="Shape 2"/>
          <p:cNvSpPr/>
          <p:nvPr/>
        </p:nvSpPr>
        <p:spPr>
          <a:xfrm>
            <a:off x="548640" y="5440680"/>
            <a:ext cx="7680960" cy="0"/>
          </a:xfrm>
          <a:prstGeom prst="line">
            <a:avLst/>
          </a:prstGeom>
          <a:noFill/>
          <a:ln w="12700">
            <a:solidFill>
              <a:srgbClr val="C9D1E0"/>
            </a:solidFill>
            <a:prstDash val="solid"/>
          </a:ln>
        </p:spPr>
      </p:sp>
      <p:sp>
        <p:nvSpPr>
          <p:cNvPr id="5" name="Shape 3"/>
          <p:cNvSpPr/>
          <p:nvPr/>
        </p:nvSpPr>
        <p:spPr>
          <a:xfrm>
            <a:off x="868680" y="4364464"/>
            <a:ext cx="1280160" cy="1076216"/>
          </a:xfrm>
          <a:prstGeom prst="rect">
            <a:avLst/>
          </a:prstGeom>
          <a:solidFill>
            <a:srgbClr val="1F4E8C"/>
          </a:solidFill>
          <a:ln w="9525">
            <a:solidFill>
              <a:srgbClr val="FFFFFF"/>
            </a:solidFill>
            <a:prstDash val="solid"/>
          </a:ln>
        </p:spPr>
      </p:sp>
      <p:sp>
        <p:nvSpPr>
          <p:cNvPr id="6" name="Text 4"/>
          <p:cNvSpPr txBox="1"/>
          <p:nvPr/>
        </p:nvSpPr>
        <p:spPr>
          <a:xfrm>
            <a:off x="868680" y="4364464"/>
            <a:ext cx="1280160" cy="107621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2.197</a:t>
            </a:r>
            <a:endParaRPr lang="en-US" sz="1200" dirty="0"/>
          </a:p>
        </p:txBody>
      </p:sp>
      <p:sp>
        <p:nvSpPr>
          <p:cNvPr id="7" name="Shape 5"/>
          <p:cNvSpPr/>
          <p:nvPr/>
        </p:nvSpPr>
        <p:spPr>
          <a:xfrm>
            <a:off x="868680" y="4004419"/>
            <a:ext cx="1280160" cy="360045"/>
          </a:xfrm>
          <a:prstGeom prst="rect">
            <a:avLst/>
          </a:prstGeom>
          <a:solidFill>
            <a:srgbClr val="9DB7D9"/>
          </a:solidFill>
          <a:ln w="9525">
            <a:solidFill>
              <a:srgbClr val="FFFFFF"/>
            </a:solidFill>
            <a:prstDash val="solid"/>
          </a:ln>
        </p:spPr>
      </p:sp>
      <p:sp>
        <p:nvSpPr>
          <p:cNvPr id="8" name="Text 6"/>
          <p:cNvSpPr txBox="1"/>
          <p:nvPr/>
        </p:nvSpPr>
        <p:spPr>
          <a:xfrm>
            <a:off x="868680" y="4004419"/>
            <a:ext cx="1280160" cy="360045"/>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735</a:t>
            </a:r>
            <a:endParaRPr lang="en-US" sz="1200" dirty="0"/>
          </a:p>
        </p:txBody>
      </p:sp>
      <p:sp>
        <p:nvSpPr>
          <p:cNvPr id="9" name="Shape 7"/>
          <p:cNvSpPr/>
          <p:nvPr/>
        </p:nvSpPr>
        <p:spPr>
          <a:xfrm>
            <a:off x="868680" y="2618123"/>
            <a:ext cx="1280160" cy="1386296"/>
          </a:xfrm>
          <a:prstGeom prst="rect">
            <a:avLst/>
          </a:prstGeom>
          <a:solidFill>
            <a:srgbClr val="B8862B"/>
          </a:solidFill>
          <a:ln w="9525">
            <a:solidFill>
              <a:srgbClr val="FFFFFF"/>
            </a:solidFill>
            <a:prstDash val="solid"/>
          </a:ln>
        </p:spPr>
      </p:sp>
      <p:sp>
        <p:nvSpPr>
          <p:cNvPr id="10" name="Text 8"/>
          <p:cNvSpPr txBox="1"/>
          <p:nvPr/>
        </p:nvSpPr>
        <p:spPr>
          <a:xfrm>
            <a:off x="868680" y="2618123"/>
            <a:ext cx="1280160" cy="13862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2.830</a:t>
            </a:r>
            <a:endParaRPr lang="en-US" sz="1200" dirty="0"/>
          </a:p>
        </p:txBody>
      </p:sp>
      <p:sp>
        <p:nvSpPr>
          <p:cNvPr id="11" name="Shape 9"/>
          <p:cNvSpPr/>
          <p:nvPr/>
        </p:nvSpPr>
        <p:spPr>
          <a:xfrm>
            <a:off x="868680" y="2421690"/>
            <a:ext cx="1280160" cy="196433"/>
          </a:xfrm>
          <a:prstGeom prst="rect">
            <a:avLst/>
          </a:prstGeom>
          <a:solidFill>
            <a:srgbClr val="8A93A6"/>
          </a:solidFill>
          <a:ln w="9525">
            <a:solidFill>
              <a:srgbClr val="FFFFFF"/>
            </a:solidFill>
            <a:prstDash val="solid"/>
          </a:ln>
        </p:spPr>
      </p:sp>
      <p:sp>
        <p:nvSpPr>
          <p:cNvPr id="12" name="Text 10"/>
          <p:cNvSpPr txBox="1"/>
          <p:nvPr/>
        </p:nvSpPr>
        <p:spPr>
          <a:xfrm>
            <a:off x="868680" y="2421690"/>
            <a:ext cx="1280160" cy="196433"/>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401</a:t>
            </a:r>
            <a:endParaRPr lang="en-US" sz="1200" dirty="0"/>
          </a:p>
        </p:txBody>
      </p:sp>
      <p:sp>
        <p:nvSpPr>
          <p:cNvPr id="13" name="Text 11"/>
          <p:cNvSpPr txBox="1"/>
          <p:nvPr/>
        </p:nvSpPr>
        <p:spPr>
          <a:xfrm>
            <a:off x="594360" y="2055930"/>
            <a:ext cx="1828800" cy="329184"/>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6,16 M</a:t>
            </a:r>
            <a:endParaRPr lang="en-US" sz="1500" dirty="0"/>
          </a:p>
        </p:txBody>
      </p:sp>
      <p:sp>
        <p:nvSpPr>
          <p:cNvPr id="14" name="Text 12"/>
          <p:cNvSpPr txBox="1"/>
          <p:nvPr/>
        </p:nvSpPr>
        <p:spPr>
          <a:xfrm>
            <a:off x="868680" y="5513832"/>
            <a:ext cx="128016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2008</a:t>
            </a:r>
            <a:endParaRPr lang="en-US" sz="1400" dirty="0"/>
          </a:p>
        </p:txBody>
      </p:sp>
      <p:sp>
        <p:nvSpPr>
          <p:cNvPr id="15" name="Shape 13"/>
          <p:cNvSpPr/>
          <p:nvPr/>
        </p:nvSpPr>
        <p:spPr>
          <a:xfrm>
            <a:off x="2788920" y="4328704"/>
            <a:ext cx="1280160" cy="1111976"/>
          </a:xfrm>
          <a:prstGeom prst="rect">
            <a:avLst/>
          </a:prstGeom>
          <a:solidFill>
            <a:srgbClr val="1F4E8C"/>
          </a:solidFill>
          <a:ln w="9525">
            <a:solidFill>
              <a:srgbClr val="FFFFFF"/>
            </a:solidFill>
            <a:prstDash val="solid"/>
          </a:ln>
        </p:spPr>
      </p:sp>
      <p:sp>
        <p:nvSpPr>
          <p:cNvPr id="16" name="Text 14"/>
          <p:cNvSpPr txBox="1"/>
          <p:nvPr/>
        </p:nvSpPr>
        <p:spPr>
          <a:xfrm>
            <a:off x="2788920" y="4328704"/>
            <a:ext cx="1280160" cy="11119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2.270</a:t>
            </a:r>
            <a:endParaRPr lang="en-US" sz="1200" dirty="0"/>
          </a:p>
        </p:txBody>
      </p:sp>
      <p:sp>
        <p:nvSpPr>
          <p:cNvPr id="17" name="Shape 15"/>
          <p:cNvSpPr/>
          <p:nvPr/>
        </p:nvSpPr>
        <p:spPr>
          <a:xfrm>
            <a:off x="2788920" y="4119535"/>
            <a:ext cx="1280160" cy="209169"/>
          </a:xfrm>
          <a:prstGeom prst="rect">
            <a:avLst/>
          </a:prstGeom>
          <a:solidFill>
            <a:srgbClr val="9DB7D9"/>
          </a:solidFill>
          <a:ln w="9525">
            <a:solidFill>
              <a:srgbClr val="FFFFFF"/>
            </a:solidFill>
            <a:prstDash val="solid"/>
          </a:ln>
        </p:spPr>
      </p:sp>
      <p:sp>
        <p:nvSpPr>
          <p:cNvPr id="18" name="Text 16"/>
          <p:cNvSpPr txBox="1"/>
          <p:nvPr/>
        </p:nvSpPr>
        <p:spPr>
          <a:xfrm>
            <a:off x="2788920" y="4119535"/>
            <a:ext cx="1280160" cy="209169"/>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427</a:t>
            </a:r>
            <a:endParaRPr lang="en-US" sz="1200" dirty="0"/>
          </a:p>
        </p:txBody>
      </p:sp>
      <p:sp>
        <p:nvSpPr>
          <p:cNvPr id="19" name="Shape 17"/>
          <p:cNvSpPr/>
          <p:nvPr/>
        </p:nvSpPr>
        <p:spPr>
          <a:xfrm>
            <a:off x="2788920" y="2565219"/>
            <a:ext cx="1280160" cy="1554317"/>
          </a:xfrm>
          <a:prstGeom prst="rect">
            <a:avLst/>
          </a:prstGeom>
          <a:solidFill>
            <a:srgbClr val="B8862B"/>
          </a:solidFill>
          <a:ln w="9525">
            <a:solidFill>
              <a:srgbClr val="FFFFFF"/>
            </a:solidFill>
            <a:prstDash val="solid"/>
          </a:ln>
        </p:spPr>
      </p:sp>
      <p:sp>
        <p:nvSpPr>
          <p:cNvPr id="20" name="Text 18"/>
          <p:cNvSpPr txBox="1"/>
          <p:nvPr/>
        </p:nvSpPr>
        <p:spPr>
          <a:xfrm>
            <a:off x="2788920" y="2565219"/>
            <a:ext cx="1280160" cy="1554317"/>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3.173</a:t>
            </a:r>
            <a:endParaRPr lang="en-US" sz="1200" dirty="0"/>
          </a:p>
        </p:txBody>
      </p:sp>
      <p:sp>
        <p:nvSpPr>
          <p:cNvPr id="21" name="Shape 19"/>
          <p:cNvSpPr/>
          <p:nvPr/>
        </p:nvSpPr>
        <p:spPr>
          <a:xfrm>
            <a:off x="2788920" y="2376624"/>
            <a:ext cx="1280160" cy="188595"/>
          </a:xfrm>
          <a:prstGeom prst="rect">
            <a:avLst/>
          </a:prstGeom>
          <a:solidFill>
            <a:srgbClr val="8A93A6"/>
          </a:solidFill>
          <a:ln w="9525">
            <a:solidFill>
              <a:srgbClr val="FFFFFF"/>
            </a:solidFill>
            <a:prstDash val="solid"/>
          </a:ln>
        </p:spPr>
      </p:sp>
      <p:sp>
        <p:nvSpPr>
          <p:cNvPr id="22" name="Text 20"/>
          <p:cNvSpPr txBox="1"/>
          <p:nvPr/>
        </p:nvSpPr>
        <p:spPr>
          <a:xfrm>
            <a:off x="2788920" y="2376624"/>
            <a:ext cx="1280160" cy="188595"/>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385</a:t>
            </a:r>
            <a:endParaRPr lang="en-US" sz="1200" dirty="0"/>
          </a:p>
        </p:txBody>
      </p:sp>
      <p:sp>
        <p:nvSpPr>
          <p:cNvPr id="23" name="Text 21"/>
          <p:cNvSpPr txBox="1"/>
          <p:nvPr/>
        </p:nvSpPr>
        <p:spPr>
          <a:xfrm>
            <a:off x="2514600" y="2010864"/>
            <a:ext cx="1828800" cy="329184"/>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6,25 M</a:t>
            </a:r>
            <a:endParaRPr lang="en-US" sz="1500" dirty="0"/>
          </a:p>
        </p:txBody>
      </p:sp>
      <p:sp>
        <p:nvSpPr>
          <p:cNvPr id="24" name="Text 22"/>
          <p:cNvSpPr txBox="1"/>
          <p:nvPr/>
        </p:nvSpPr>
        <p:spPr>
          <a:xfrm>
            <a:off x="2788920" y="5513832"/>
            <a:ext cx="128016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2013</a:t>
            </a:r>
            <a:endParaRPr lang="en-US" sz="1400" dirty="0"/>
          </a:p>
        </p:txBody>
      </p:sp>
      <p:sp>
        <p:nvSpPr>
          <p:cNvPr id="25" name="Shape 23"/>
          <p:cNvSpPr/>
          <p:nvPr/>
        </p:nvSpPr>
        <p:spPr>
          <a:xfrm>
            <a:off x="4709160" y="4311559"/>
            <a:ext cx="1280160" cy="1129121"/>
          </a:xfrm>
          <a:prstGeom prst="rect">
            <a:avLst/>
          </a:prstGeom>
          <a:solidFill>
            <a:srgbClr val="1F4E8C"/>
          </a:solidFill>
          <a:ln w="9525">
            <a:solidFill>
              <a:srgbClr val="FFFFFF"/>
            </a:solidFill>
            <a:prstDash val="solid"/>
          </a:ln>
        </p:spPr>
      </p:sp>
      <p:sp>
        <p:nvSpPr>
          <p:cNvPr id="26" name="Text 24"/>
          <p:cNvSpPr txBox="1"/>
          <p:nvPr/>
        </p:nvSpPr>
        <p:spPr>
          <a:xfrm>
            <a:off x="4709160" y="4311559"/>
            <a:ext cx="1280160" cy="1129121"/>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2.305</a:t>
            </a:r>
            <a:endParaRPr lang="en-US" sz="1200" dirty="0"/>
          </a:p>
        </p:txBody>
      </p:sp>
      <p:sp>
        <p:nvSpPr>
          <p:cNvPr id="27" name="Shape 25"/>
          <p:cNvSpPr/>
          <p:nvPr/>
        </p:nvSpPr>
        <p:spPr>
          <a:xfrm>
            <a:off x="4709160" y="4079367"/>
            <a:ext cx="1280160" cy="232192"/>
          </a:xfrm>
          <a:prstGeom prst="rect">
            <a:avLst/>
          </a:prstGeom>
          <a:solidFill>
            <a:srgbClr val="9DB7D9"/>
          </a:solidFill>
          <a:ln w="9525">
            <a:solidFill>
              <a:srgbClr val="FFFFFF"/>
            </a:solidFill>
            <a:prstDash val="solid"/>
          </a:ln>
        </p:spPr>
      </p:sp>
      <p:sp>
        <p:nvSpPr>
          <p:cNvPr id="28" name="Text 26"/>
          <p:cNvSpPr txBox="1"/>
          <p:nvPr/>
        </p:nvSpPr>
        <p:spPr>
          <a:xfrm>
            <a:off x="4709160" y="4079367"/>
            <a:ext cx="1280160" cy="232192"/>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474</a:t>
            </a:r>
            <a:endParaRPr lang="en-US" sz="1200" dirty="0"/>
          </a:p>
        </p:txBody>
      </p:sp>
      <p:sp>
        <p:nvSpPr>
          <p:cNvPr id="29" name="Shape 27"/>
          <p:cNvSpPr/>
          <p:nvPr/>
        </p:nvSpPr>
        <p:spPr>
          <a:xfrm>
            <a:off x="4709160" y="2558361"/>
            <a:ext cx="1280160" cy="1521006"/>
          </a:xfrm>
          <a:prstGeom prst="rect">
            <a:avLst/>
          </a:prstGeom>
          <a:solidFill>
            <a:srgbClr val="B8862B"/>
          </a:solidFill>
          <a:ln w="9525">
            <a:solidFill>
              <a:srgbClr val="FFFFFF"/>
            </a:solidFill>
            <a:prstDash val="solid"/>
          </a:ln>
        </p:spPr>
      </p:sp>
      <p:sp>
        <p:nvSpPr>
          <p:cNvPr id="30" name="Text 28"/>
          <p:cNvSpPr txBox="1"/>
          <p:nvPr/>
        </p:nvSpPr>
        <p:spPr>
          <a:xfrm>
            <a:off x="4709160" y="2558361"/>
            <a:ext cx="1280160" cy="152100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3.105</a:t>
            </a:r>
            <a:endParaRPr lang="en-US" sz="1200" dirty="0"/>
          </a:p>
        </p:txBody>
      </p:sp>
      <p:sp>
        <p:nvSpPr>
          <p:cNvPr id="31" name="Shape 29"/>
          <p:cNvSpPr/>
          <p:nvPr/>
        </p:nvSpPr>
        <p:spPr>
          <a:xfrm>
            <a:off x="4709160" y="2311962"/>
            <a:ext cx="1280160" cy="246398"/>
          </a:xfrm>
          <a:prstGeom prst="rect">
            <a:avLst/>
          </a:prstGeom>
          <a:solidFill>
            <a:srgbClr val="8A93A6"/>
          </a:solidFill>
          <a:ln w="9525">
            <a:solidFill>
              <a:srgbClr val="FFFFFF"/>
            </a:solidFill>
            <a:prstDash val="solid"/>
          </a:ln>
        </p:spPr>
      </p:sp>
      <p:sp>
        <p:nvSpPr>
          <p:cNvPr id="32" name="Text 30"/>
          <p:cNvSpPr txBox="1"/>
          <p:nvPr/>
        </p:nvSpPr>
        <p:spPr>
          <a:xfrm>
            <a:off x="4709160" y="2311962"/>
            <a:ext cx="1280160" cy="24639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503</a:t>
            </a:r>
            <a:endParaRPr lang="en-US" sz="1200" dirty="0"/>
          </a:p>
        </p:txBody>
      </p:sp>
      <p:sp>
        <p:nvSpPr>
          <p:cNvPr id="33" name="Text 31"/>
          <p:cNvSpPr txBox="1"/>
          <p:nvPr/>
        </p:nvSpPr>
        <p:spPr>
          <a:xfrm>
            <a:off x="4434840" y="1946202"/>
            <a:ext cx="1828800" cy="329184"/>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6,39 M</a:t>
            </a:r>
            <a:endParaRPr lang="en-US" sz="1500" dirty="0"/>
          </a:p>
        </p:txBody>
      </p:sp>
      <p:sp>
        <p:nvSpPr>
          <p:cNvPr id="34" name="Text 32"/>
          <p:cNvSpPr txBox="1"/>
          <p:nvPr/>
        </p:nvSpPr>
        <p:spPr>
          <a:xfrm>
            <a:off x="4709160" y="5513832"/>
            <a:ext cx="128016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2018</a:t>
            </a:r>
            <a:endParaRPr lang="en-US" sz="1400" dirty="0"/>
          </a:p>
        </p:txBody>
      </p:sp>
      <p:sp>
        <p:nvSpPr>
          <p:cNvPr id="35" name="Shape 33"/>
          <p:cNvSpPr/>
          <p:nvPr/>
        </p:nvSpPr>
        <p:spPr>
          <a:xfrm>
            <a:off x="6629400" y="4357606"/>
            <a:ext cx="1280160" cy="1083074"/>
          </a:xfrm>
          <a:prstGeom prst="rect">
            <a:avLst/>
          </a:prstGeom>
          <a:solidFill>
            <a:srgbClr val="1F4E8C"/>
          </a:solidFill>
          <a:ln w="9525">
            <a:solidFill>
              <a:srgbClr val="FFFFFF"/>
            </a:solidFill>
            <a:prstDash val="solid"/>
          </a:ln>
        </p:spPr>
      </p:sp>
      <p:sp>
        <p:nvSpPr>
          <p:cNvPr id="36" name="Text 34"/>
          <p:cNvSpPr txBox="1"/>
          <p:nvPr/>
        </p:nvSpPr>
        <p:spPr>
          <a:xfrm>
            <a:off x="6629400" y="4357606"/>
            <a:ext cx="1280160" cy="108307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2.211</a:t>
            </a:r>
            <a:endParaRPr lang="en-US" sz="1200" dirty="0"/>
          </a:p>
        </p:txBody>
      </p:sp>
      <p:sp>
        <p:nvSpPr>
          <p:cNvPr id="37" name="Shape 35"/>
          <p:cNvSpPr/>
          <p:nvPr/>
        </p:nvSpPr>
        <p:spPr>
          <a:xfrm>
            <a:off x="6629400" y="4045567"/>
            <a:ext cx="1280160" cy="312039"/>
          </a:xfrm>
          <a:prstGeom prst="rect">
            <a:avLst/>
          </a:prstGeom>
          <a:solidFill>
            <a:srgbClr val="9DB7D9"/>
          </a:solidFill>
          <a:ln w="9525">
            <a:solidFill>
              <a:srgbClr val="FFFFFF"/>
            </a:solidFill>
            <a:prstDash val="solid"/>
          </a:ln>
        </p:spPr>
      </p:sp>
      <p:sp>
        <p:nvSpPr>
          <p:cNvPr id="38" name="Text 36"/>
          <p:cNvSpPr txBox="1"/>
          <p:nvPr/>
        </p:nvSpPr>
        <p:spPr>
          <a:xfrm>
            <a:off x="6629400" y="4045567"/>
            <a:ext cx="1280160" cy="312039"/>
          </a:xfrm>
          <a:prstGeom prst="rect">
            <a:avLst/>
          </a:prstGeom>
          <a:noFill/>
          <a:ln/>
        </p:spPr>
        <p:txBody>
          <a:bodyPr wrap="square" lIns="0" tIns="0" rIns="0" bIns="0" rtlCol="0" anchor="ctr"/>
          <a:lstStyle/>
          <a:p>
            <a:pPr algn="ctr" indent="0" marL="0">
              <a:buNone/>
            </a:pPr>
            <a:r>
              <a:rPr lang="en-US" sz="1200" b="1" dirty="0">
                <a:solidFill>
                  <a:srgbClr val="1B2333"/>
                </a:solidFill>
                <a:latin typeface="Calibri" pitchFamily="34" charset="0"/>
                <a:ea typeface="Calibri" pitchFamily="34" charset="-122"/>
                <a:cs typeface="Calibri" pitchFamily="34" charset="-120"/>
              </a:rPr>
              <a:t>637</a:t>
            </a:r>
            <a:endParaRPr lang="en-US" sz="1200" dirty="0"/>
          </a:p>
        </p:txBody>
      </p:sp>
      <p:sp>
        <p:nvSpPr>
          <p:cNvPr id="39" name="Shape 37"/>
          <p:cNvSpPr/>
          <p:nvPr/>
        </p:nvSpPr>
        <p:spPr>
          <a:xfrm>
            <a:off x="6629400" y="2500068"/>
            <a:ext cx="1280160" cy="1545499"/>
          </a:xfrm>
          <a:prstGeom prst="rect">
            <a:avLst/>
          </a:prstGeom>
          <a:solidFill>
            <a:srgbClr val="B8862B"/>
          </a:solidFill>
          <a:ln w="9525">
            <a:solidFill>
              <a:srgbClr val="FFFFFF"/>
            </a:solidFill>
            <a:prstDash val="solid"/>
          </a:ln>
        </p:spPr>
      </p:sp>
      <p:sp>
        <p:nvSpPr>
          <p:cNvPr id="40" name="Text 38"/>
          <p:cNvSpPr txBox="1"/>
          <p:nvPr/>
        </p:nvSpPr>
        <p:spPr>
          <a:xfrm>
            <a:off x="6629400" y="2500068"/>
            <a:ext cx="1280160" cy="1545499"/>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3.155</a:t>
            </a:r>
            <a:endParaRPr lang="en-US" sz="1200" dirty="0"/>
          </a:p>
        </p:txBody>
      </p:sp>
      <p:sp>
        <p:nvSpPr>
          <p:cNvPr id="41" name="Shape 39"/>
          <p:cNvSpPr/>
          <p:nvPr/>
        </p:nvSpPr>
        <p:spPr>
          <a:xfrm>
            <a:off x="6629400" y="2116509"/>
            <a:ext cx="1280160" cy="383558"/>
          </a:xfrm>
          <a:prstGeom prst="rect">
            <a:avLst/>
          </a:prstGeom>
          <a:solidFill>
            <a:srgbClr val="8A93A6"/>
          </a:solidFill>
          <a:ln w="9525">
            <a:solidFill>
              <a:srgbClr val="FFFFFF"/>
            </a:solidFill>
            <a:prstDash val="solid"/>
          </a:ln>
        </p:spPr>
      </p:sp>
      <p:sp>
        <p:nvSpPr>
          <p:cNvPr id="42" name="Text 40"/>
          <p:cNvSpPr txBox="1"/>
          <p:nvPr/>
        </p:nvSpPr>
        <p:spPr>
          <a:xfrm>
            <a:off x="6629400" y="2116509"/>
            <a:ext cx="1280160" cy="38355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783</a:t>
            </a:r>
            <a:endParaRPr lang="en-US" sz="1200" dirty="0"/>
          </a:p>
        </p:txBody>
      </p:sp>
      <p:sp>
        <p:nvSpPr>
          <p:cNvPr id="43" name="Text 41"/>
          <p:cNvSpPr txBox="1"/>
          <p:nvPr/>
        </p:nvSpPr>
        <p:spPr>
          <a:xfrm>
            <a:off x="6355080" y="1750749"/>
            <a:ext cx="1828800" cy="329184"/>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6,79 M</a:t>
            </a:r>
            <a:endParaRPr lang="en-US" sz="1500" dirty="0"/>
          </a:p>
        </p:txBody>
      </p:sp>
      <p:sp>
        <p:nvSpPr>
          <p:cNvPr id="44" name="Text 42"/>
          <p:cNvSpPr txBox="1"/>
          <p:nvPr/>
        </p:nvSpPr>
        <p:spPr>
          <a:xfrm>
            <a:off x="6629400" y="5513832"/>
            <a:ext cx="1280160" cy="320040"/>
          </a:xfrm>
          <a:prstGeom prst="rect">
            <a:avLst/>
          </a:prstGeom>
          <a:noFill/>
          <a:ln/>
        </p:spPr>
        <p:txBody>
          <a:bodyPr wrap="square" lIns="0" tIns="0" rIns="0" bIns="0" rtlCol="0" anchor="ctr"/>
          <a:lstStyle/>
          <a:p>
            <a:pPr algn="ctr" indent="0" marL="0">
              <a:buNone/>
            </a:pPr>
            <a:r>
              <a:rPr lang="en-US" sz="1400" dirty="0">
                <a:solidFill>
                  <a:srgbClr val="5B6475"/>
                </a:solidFill>
                <a:latin typeface="Calibri" pitchFamily="34" charset="0"/>
                <a:ea typeface="Calibri" pitchFamily="34" charset="-122"/>
                <a:cs typeface="Calibri" pitchFamily="34" charset="-120"/>
              </a:rPr>
              <a:t>2023</a:t>
            </a:r>
            <a:endParaRPr lang="en-US" sz="1400" dirty="0"/>
          </a:p>
        </p:txBody>
      </p:sp>
      <p:sp>
        <p:nvSpPr>
          <p:cNvPr id="45" name="Shape 43"/>
          <p:cNvSpPr/>
          <p:nvPr/>
        </p:nvSpPr>
        <p:spPr>
          <a:xfrm>
            <a:off x="914400" y="5961888"/>
            <a:ext cx="146304" cy="146304"/>
          </a:xfrm>
          <a:prstGeom prst="rect">
            <a:avLst/>
          </a:prstGeom>
          <a:solidFill>
            <a:srgbClr val="1F4E8C"/>
          </a:solidFill>
          <a:ln w="12700">
            <a:solidFill>
              <a:srgbClr val="1F4E8C"/>
            </a:solidFill>
            <a:prstDash val="solid"/>
          </a:ln>
        </p:spPr>
      </p:sp>
      <p:sp>
        <p:nvSpPr>
          <p:cNvPr id="46" name="Text 44"/>
          <p:cNvSpPr txBox="1"/>
          <p:nvPr/>
        </p:nvSpPr>
        <p:spPr>
          <a:xfrm>
            <a:off x="1115568" y="5879592"/>
            <a:ext cx="19202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Catalán</a:t>
            </a:r>
            <a:endParaRPr lang="en-US" sz="1200" dirty="0"/>
          </a:p>
        </p:txBody>
      </p:sp>
      <p:sp>
        <p:nvSpPr>
          <p:cNvPr id="47" name="Shape 45"/>
          <p:cNvSpPr/>
          <p:nvPr/>
        </p:nvSpPr>
        <p:spPr>
          <a:xfrm>
            <a:off x="2039112" y="5961888"/>
            <a:ext cx="146304" cy="146304"/>
          </a:xfrm>
          <a:prstGeom prst="rect">
            <a:avLst/>
          </a:prstGeom>
          <a:solidFill>
            <a:srgbClr val="9DB7D9"/>
          </a:solidFill>
          <a:ln w="12700">
            <a:solidFill>
              <a:srgbClr val="9DB7D9"/>
            </a:solidFill>
            <a:prstDash val="solid"/>
          </a:ln>
        </p:spPr>
      </p:sp>
      <p:sp>
        <p:nvSpPr>
          <p:cNvPr id="48" name="Text 46"/>
          <p:cNvSpPr txBox="1"/>
          <p:nvPr/>
        </p:nvSpPr>
        <p:spPr>
          <a:xfrm>
            <a:off x="2240280" y="5879592"/>
            <a:ext cx="19202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Catalán y castellano</a:t>
            </a:r>
            <a:endParaRPr lang="en-US" sz="1200" dirty="0"/>
          </a:p>
        </p:txBody>
      </p:sp>
      <p:sp>
        <p:nvSpPr>
          <p:cNvPr id="49" name="Shape 47"/>
          <p:cNvSpPr/>
          <p:nvPr/>
        </p:nvSpPr>
        <p:spPr>
          <a:xfrm>
            <a:off x="4233672" y="5961888"/>
            <a:ext cx="146304" cy="146304"/>
          </a:xfrm>
          <a:prstGeom prst="rect">
            <a:avLst/>
          </a:prstGeom>
          <a:solidFill>
            <a:srgbClr val="B8862B"/>
          </a:solidFill>
          <a:ln w="12700">
            <a:solidFill>
              <a:srgbClr val="B8862B"/>
            </a:solidFill>
            <a:prstDash val="solid"/>
          </a:ln>
        </p:spPr>
      </p:sp>
      <p:sp>
        <p:nvSpPr>
          <p:cNvPr id="50" name="Text 48"/>
          <p:cNvSpPr txBox="1"/>
          <p:nvPr/>
        </p:nvSpPr>
        <p:spPr>
          <a:xfrm>
            <a:off x="4434840" y="5879592"/>
            <a:ext cx="19202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Castellano</a:t>
            </a:r>
            <a:endParaRPr lang="en-US" sz="1200" dirty="0"/>
          </a:p>
        </p:txBody>
      </p:sp>
      <p:sp>
        <p:nvSpPr>
          <p:cNvPr id="51" name="Shape 49"/>
          <p:cNvSpPr/>
          <p:nvPr/>
        </p:nvSpPr>
        <p:spPr>
          <a:xfrm>
            <a:off x="5605272" y="5961888"/>
            <a:ext cx="146304" cy="146304"/>
          </a:xfrm>
          <a:prstGeom prst="rect">
            <a:avLst/>
          </a:prstGeom>
          <a:solidFill>
            <a:srgbClr val="8A93A6"/>
          </a:solidFill>
          <a:ln w="12700">
            <a:solidFill>
              <a:srgbClr val="8A93A6"/>
            </a:solidFill>
            <a:prstDash val="solid"/>
          </a:ln>
        </p:spPr>
      </p:sp>
      <p:sp>
        <p:nvSpPr>
          <p:cNvPr id="52" name="Text 50"/>
          <p:cNvSpPr txBox="1"/>
          <p:nvPr/>
        </p:nvSpPr>
        <p:spPr>
          <a:xfrm>
            <a:off x="5806440" y="5879592"/>
            <a:ext cx="1920240" cy="310896"/>
          </a:xfrm>
          <a:prstGeom prst="rect">
            <a:avLst/>
          </a:prstGeom>
          <a:noFill/>
          <a:ln/>
        </p:spPr>
        <p:txBody>
          <a:bodyPr wrap="square" lIns="0" tIns="0" rIns="0" bIns="0" rtlCol="0" anchor="ctr"/>
          <a:lstStyle/>
          <a:p>
            <a:pPr indent="0" marL="0">
              <a:buNone/>
            </a:pPr>
            <a:r>
              <a:rPr lang="en-US" sz="1200" dirty="0">
                <a:solidFill>
                  <a:srgbClr val="1B2333"/>
                </a:solidFill>
                <a:latin typeface="Calibri" pitchFamily="34" charset="0"/>
                <a:ea typeface="Calibri" pitchFamily="34" charset="-122"/>
                <a:cs typeface="Calibri" pitchFamily="34" charset="-120"/>
              </a:rPr>
              <a:t>Otras y no consta</a:t>
            </a:r>
            <a:endParaRPr lang="en-US" sz="1200" dirty="0"/>
          </a:p>
        </p:txBody>
      </p:sp>
      <p:sp>
        <p:nvSpPr>
          <p:cNvPr id="53" name="Text 51"/>
          <p:cNvSpPr txBox="1"/>
          <p:nvPr/>
        </p:nvSpPr>
        <p:spPr>
          <a:xfrm>
            <a:off x="8595360" y="1463040"/>
            <a:ext cx="3108960" cy="1097280"/>
          </a:xfrm>
          <a:prstGeom prst="rect">
            <a:avLst/>
          </a:prstGeom>
          <a:noFill/>
          <a:ln/>
        </p:spPr>
        <p:txBody>
          <a:bodyPr wrap="square" lIns="0" tIns="0" rIns="0" bIns="0" rtlCol="0" anchor="b"/>
          <a:lstStyle/>
          <a:p>
            <a:pPr indent="0" marL="0">
              <a:buNone/>
            </a:pPr>
            <a:r>
              <a:rPr lang="en-US" sz="6400" b="1" dirty="0">
                <a:solidFill>
                  <a:srgbClr val="1F4E8C"/>
                </a:solidFill>
                <a:latin typeface="Cambria" pitchFamily="34" charset="0"/>
                <a:ea typeface="Cambria" pitchFamily="34" charset="-122"/>
                <a:cs typeface="Cambria" pitchFamily="34" charset="-120"/>
              </a:rPr>
              <a:t>2,2 M</a:t>
            </a:r>
            <a:endParaRPr lang="en-US" sz="6400" dirty="0"/>
          </a:p>
        </p:txBody>
      </p:sp>
      <p:sp>
        <p:nvSpPr>
          <p:cNvPr id="54" name="Text 52"/>
          <p:cNvSpPr txBox="1"/>
          <p:nvPr/>
        </p:nvSpPr>
        <p:spPr>
          <a:xfrm>
            <a:off x="8595360" y="2606040"/>
            <a:ext cx="3108960" cy="96012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media de personas con el catalán como lengua habitual, 2008–2023 (cada edición, entre 2,20 y 2,31 M: ninguna se aleja más de un 3% de la media)</a:t>
            </a:r>
            <a:endParaRPr lang="en-US" sz="1400" dirty="0"/>
          </a:p>
        </p:txBody>
      </p:sp>
      <p:sp>
        <p:nvSpPr>
          <p:cNvPr id="55" name="Text 53"/>
          <p:cNvSpPr txBox="1"/>
          <p:nvPr/>
        </p:nvSpPr>
        <p:spPr>
          <a:xfrm>
            <a:off x="8595360" y="3657600"/>
            <a:ext cx="3108960" cy="822960"/>
          </a:xfrm>
          <a:prstGeom prst="rect">
            <a:avLst/>
          </a:prstGeom>
          <a:noFill/>
          <a:ln/>
        </p:spPr>
        <p:txBody>
          <a:bodyPr wrap="square" lIns="0" tIns="0" rIns="0" bIns="0" rtlCol="0" anchor="b"/>
          <a:lstStyle/>
          <a:p>
            <a:pPr indent="0" marL="0">
              <a:buNone/>
            </a:pPr>
            <a:r>
              <a:rPr lang="en-US" sz="4000" b="1" dirty="0">
                <a:solidFill>
                  <a:srgbClr val="1B2333"/>
                </a:solidFill>
                <a:latin typeface="Cambria" pitchFamily="34" charset="0"/>
                <a:ea typeface="Cambria" pitchFamily="34" charset="-122"/>
                <a:cs typeface="Cambria" pitchFamily="34" charset="-120"/>
              </a:rPr>
              <a:t>+623.000</a:t>
            </a:r>
            <a:endParaRPr lang="en-US" sz="4000" dirty="0"/>
          </a:p>
        </p:txBody>
      </p:sp>
      <p:sp>
        <p:nvSpPr>
          <p:cNvPr id="56" name="Text 54"/>
          <p:cNvSpPr txBox="1"/>
          <p:nvPr/>
        </p:nvSpPr>
        <p:spPr>
          <a:xfrm>
            <a:off x="8595360" y="4526280"/>
            <a:ext cx="3108960" cy="96012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habitantes de 15 años o más entre 2008 y 2023 (de 6,16 M en 2008 a 6,79 M en 2023)</a:t>
            </a:r>
            <a:endParaRPr lang="en-US" sz="1400" dirty="0"/>
          </a:p>
        </p:txBody>
      </p:sp>
      <p:sp>
        <p:nvSpPr>
          <p:cNvPr id="57" name="Text 55"/>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Idescat y Generalitat, EULP (2008–2023) · 2013: posible efecto metodológico en "Catalán y castellano"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2900" b="1" dirty="0">
                <a:solidFill>
                  <a:srgbClr val="1B2333"/>
                </a:solidFill>
                <a:latin typeface="Cambria" pitchFamily="34" charset="0"/>
                <a:ea typeface="Cambria" pitchFamily="34" charset="-122"/>
                <a:cs typeface="Cambria" pitchFamily="34" charset="-120"/>
              </a:rPr>
              <a:t>¿Por qué baja? Más por cómo se habla que por quién llega</a:t>
            </a:r>
            <a:endParaRPr lang="en-US" sz="2900" dirty="0"/>
          </a:p>
        </p:txBody>
      </p:sp>
      <p:sp>
        <p:nvSpPr>
          <p:cNvPr id="11" name="Text 8"/>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cálculo propio con la EULP (2008–2023) · descomposición de Kitagawa (1955) por lugar de nacimiento · eje vertical desde el 30%</a:t>
            </a:r>
            <a:endParaRPr lang="en-US" sz="1000" dirty="0"/>
          </a:p>
        </p:txBody>
      </p:sp>
      <p:sp>
        <p:nvSpPr>
          <p:cNvPr id="12" name="TextBox 11"/>
          <p:cNvSpPr txBox="1"/>
          <p:nvPr/>
        </p:nvSpPr>
        <p:spPr>
          <a:xfrm>
            <a:off x="548640" y="1188720"/>
            <a:ext cx="6583680" cy="320040"/>
          </a:xfrm>
          <a:prstGeom prst="rect">
            <a:avLst/>
          </a:prstGeom>
          <a:noFill/>
        </p:spPr>
        <p:txBody>
          <a:bodyPr wrap="square" lIns="0" rIns="0" tIns="0" bIns="0" anchor="t">
            <a:spAutoFit/>
          </a:bodyPr>
          <a:lstStyle/>
          <a:p>
            <a:pPr algn="l"/>
            <a:r>
              <a:rPr sz="1300" b="0" i="0">
                <a:solidFill>
                  <a:srgbClr val="5B6475"/>
                </a:solidFill>
                <a:latin typeface="Calibri"/>
              </a:rPr>
              <a:t>Catalán como lengua habitual (% de 15 años o más): de dónde salen los 3 puntos que baja</a:t>
            </a:r>
          </a:p>
        </p:txBody>
      </p:sp>
      <p:sp>
        <p:nvSpPr>
          <p:cNvPr id="13" name="Rectangle 12"/>
          <p:cNvSpPr/>
          <p:nvPr/>
        </p:nvSpPr>
        <p:spPr>
          <a:xfrm>
            <a:off x="777240" y="2348179"/>
            <a:ext cx="1188720" cy="2790748"/>
          </a:xfrm>
          <a:prstGeom prst="rect">
            <a:avLst/>
          </a:prstGeom>
          <a:solidFill>
            <a:srgbClr val="1F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377440" y="2348179"/>
            <a:ext cx="1188720" cy="149504"/>
          </a:xfrm>
          <a:prstGeom prst="rect">
            <a:avLst/>
          </a:prstGeom>
          <a:solidFill>
            <a:srgbClr val="8A9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977639" y="2497683"/>
            <a:ext cx="1188720" cy="1345539"/>
          </a:xfrm>
          <a:prstGeom prst="rect">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577840" y="3843223"/>
            <a:ext cx="1188720" cy="1295704"/>
          </a:xfrm>
          <a:prstGeom prst="rect">
            <a:avLst/>
          </a:prstGeom>
          <a:solidFill>
            <a:srgbClr val="1F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7" name="Connector 16"/>
          <p:cNvCxnSpPr/>
          <p:nvPr/>
        </p:nvCxnSpPr>
        <p:spPr>
          <a:xfrm>
            <a:off x="548640" y="5138928"/>
            <a:ext cx="6446520" cy="0"/>
          </a:xfrm>
          <a:prstGeom prst="line">
            <a:avLst/>
          </a:prstGeom>
          <a:ln w="15875">
            <a:solidFill>
              <a:srgbClr val="C9D1E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65960" y="2348179"/>
            <a:ext cx="411480" cy="0"/>
          </a:xfrm>
          <a:prstGeom prst="line">
            <a:avLst/>
          </a:prstGeom>
          <a:ln w="12700">
            <a:solidFill>
              <a:srgbClr val="8A93A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66160" y="2497683"/>
            <a:ext cx="411479" cy="0"/>
          </a:xfrm>
          <a:prstGeom prst="line">
            <a:avLst/>
          </a:prstGeom>
          <a:ln w="12700">
            <a:solidFill>
              <a:srgbClr val="8A93A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166359" y="3843223"/>
            <a:ext cx="411481" cy="0"/>
          </a:xfrm>
          <a:prstGeom prst="line">
            <a:avLst/>
          </a:prstGeom>
          <a:ln w="12700">
            <a:solidFill>
              <a:srgbClr val="8A93A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59" y="1936699"/>
            <a:ext cx="1554480" cy="365760"/>
          </a:xfrm>
          <a:prstGeom prst="rect">
            <a:avLst/>
          </a:prstGeom>
          <a:noFill/>
        </p:spPr>
        <p:txBody>
          <a:bodyPr wrap="square" lIns="0" rIns="0" tIns="0" bIns="0" anchor="t">
            <a:spAutoFit/>
          </a:bodyPr>
          <a:lstStyle/>
          <a:p>
            <a:pPr algn="ctr"/>
            <a:r>
              <a:rPr sz="2000" b="1" i="0">
                <a:solidFill>
                  <a:srgbClr val="1B2333"/>
                </a:solidFill>
                <a:latin typeface="Cambria"/>
              </a:rPr>
              <a:t>35,6%</a:t>
            </a:r>
          </a:p>
        </p:txBody>
      </p:sp>
      <p:sp>
        <p:nvSpPr>
          <p:cNvPr id="22" name="TextBox 21"/>
          <p:cNvSpPr txBox="1"/>
          <p:nvPr/>
        </p:nvSpPr>
        <p:spPr>
          <a:xfrm>
            <a:off x="2194560" y="1936699"/>
            <a:ext cx="1554480" cy="365760"/>
          </a:xfrm>
          <a:prstGeom prst="rect">
            <a:avLst/>
          </a:prstGeom>
          <a:noFill/>
        </p:spPr>
        <p:txBody>
          <a:bodyPr wrap="square" lIns="0" rIns="0" tIns="0" bIns="0" anchor="t">
            <a:spAutoFit/>
          </a:bodyPr>
          <a:lstStyle/>
          <a:p>
            <a:pPr algn="ctr"/>
            <a:r>
              <a:rPr sz="2000" b="1" i="0">
                <a:solidFill>
                  <a:srgbClr val="5B6475"/>
                </a:solidFill>
                <a:latin typeface="Cambria"/>
              </a:rPr>
              <a:t>−0,3</a:t>
            </a:r>
          </a:p>
        </p:txBody>
      </p:sp>
      <p:sp>
        <p:nvSpPr>
          <p:cNvPr id="23" name="TextBox 22"/>
          <p:cNvSpPr txBox="1"/>
          <p:nvPr/>
        </p:nvSpPr>
        <p:spPr>
          <a:xfrm>
            <a:off x="3977639" y="2497683"/>
            <a:ext cx="1188720" cy="1345539"/>
          </a:xfrm>
          <a:prstGeom prst="rect">
            <a:avLst/>
          </a:prstGeom>
          <a:noFill/>
        </p:spPr>
        <p:txBody>
          <a:bodyPr wrap="square" lIns="0" rIns="0" tIns="0" bIns="0" anchor="ctr">
            <a:spAutoFit/>
          </a:bodyPr>
          <a:lstStyle/>
          <a:p>
            <a:pPr algn="ctr"/>
            <a:r>
              <a:rPr sz="2000" b="1" i="0">
                <a:solidFill>
                  <a:srgbClr val="1B2333"/>
                </a:solidFill>
                <a:latin typeface="Cambria"/>
              </a:rPr>
              <a:t>−2,7</a:t>
            </a:r>
          </a:p>
        </p:txBody>
      </p:sp>
      <p:sp>
        <p:nvSpPr>
          <p:cNvPr id="24" name="TextBox 23"/>
          <p:cNvSpPr txBox="1"/>
          <p:nvPr/>
        </p:nvSpPr>
        <p:spPr>
          <a:xfrm>
            <a:off x="5394959" y="3431743"/>
            <a:ext cx="1554480" cy="365760"/>
          </a:xfrm>
          <a:prstGeom prst="rect">
            <a:avLst/>
          </a:prstGeom>
          <a:noFill/>
        </p:spPr>
        <p:txBody>
          <a:bodyPr wrap="square" lIns="0" rIns="0" tIns="0" bIns="0" anchor="t">
            <a:spAutoFit/>
          </a:bodyPr>
          <a:lstStyle/>
          <a:p>
            <a:pPr algn="ctr"/>
            <a:r>
              <a:rPr sz="2000" b="1" i="0">
                <a:solidFill>
                  <a:srgbClr val="1B2333"/>
                </a:solidFill>
                <a:latin typeface="Cambria"/>
              </a:rPr>
              <a:t>32,6%</a:t>
            </a:r>
          </a:p>
        </p:txBody>
      </p:sp>
      <p:sp>
        <p:nvSpPr>
          <p:cNvPr id="25" name="TextBox 24"/>
          <p:cNvSpPr txBox="1"/>
          <p:nvPr/>
        </p:nvSpPr>
        <p:spPr>
          <a:xfrm>
            <a:off x="548640" y="5212080"/>
            <a:ext cx="1645920" cy="548640"/>
          </a:xfrm>
          <a:prstGeom prst="rect">
            <a:avLst/>
          </a:prstGeom>
          <a:noFill/>
        </p:spPr>
        <p:txBody>
          <a:bodyPr wrap="square" lIns="0" rIns="0" tIns="0" bIns="0" anchor="t">
            <a:spAutoFit/>
          </a:bodyPr>
          <a:lstStyle/>
          <a:p>
            <a:pPr algn="ctr"/>
            <a:r>
              <a:rPr sz="1200" b="1" i="0">
                <a:solidFill>
                  <a:srgbClr val="1B2333"/>
                </a:solidFill>
                <a:latin typeface="Calibri"/>
              </a:rPr>
              <a:t>2008</a:t>
            </a:r>
          </a:p>
        </p:txBody>
      </p:sp>
      <p:sp>
        <p:nvSpPr>
          <p:cNvPr id="26" name="TextBox 25"/>
          <p:cNvSpPr txBox="1"/>
          <p:nvPr/>
        </p:nvSpPr>
        <p:spPr>
          <a:xfrm>
            <a:off x="2148840" y="5212080"/>
            <a:ext cx="1645920" cy="548640"/>
          </a:xfrm>
          <a:prstGeom prst="rect">
            <a:avLst/>
          </a:prstGeom>
          <a:noFill/>
        </p:spPr>
        <p:txBody>
          <a:bodyPr wrap="square" lIns="0" rIns="0" tIns="0" bIns="0" anchor="t">
            <a:spAutoFit/>
          </a:bodyPr>
          <a:lstStyle/>
          <a:p>
            <a:pPr algn="ctr"/>
            <a:r>
              <a:rPr sz="1200" b="1" i="0">
                <a:solidFill>
                  <a:srgbClr val="1B2333"/>
                </a:solidFill>
                <a:latin typeface="Calibri"/>
              </a:rPr>
              <a:t>Quién vive aquí</a:t>
            </a:r>
          </a:p>
          <a:p>
            <a:pPr algn="ctr"/>
            <a:r>
              <a:rPr sz="1050" b="0" i="0">
                <a:solidFill>
                  <a:srgbClr val="5B6475"/>
                </a:solidFill>
                <a:latin typeface="Calibri"/>
              </a:rPr>
              <a:t>composición</a:t>
            </a:r>
          </a:p>
        </p:txBody>
      </p:sp>
      <p:sp>
        <p:nvSpPr>
          <p:cNvPr id="27" name="TextBox 26"/>
          <p:cNvSpPr txBox="1"/>
          <p:nvPr/>
        </p:nvSpPr>
        <p:spPr>
          <a:xfrm>
            <a:off x="3749039" y="5212080"/>
            <a:ext cx="1645920" cy="548640"/>
          </a:xfrm>
          <a:prstGeom prst="rect">
            <a:avLst/>
          </a:prstGeom>
          <a:noFill/>
        </p:spPr>
        <p:txBody>
          <a:bodyPr wrap="square" lIns="0" rIns="0" tIns="0" bIns="0" anchor="t">
            <a:spAutoFit/>
          </a:bodyPr>
          <a:lstStyle/>
          <a:p>
            <a:pPr algn="ctr"/>
            <a:r>
              <a:rPr sz="1200" b="1" i="0">
                <a:solidFill>
                  <a:srgbClr val="1B2333"/>
                </a:solidFill>
                <a:latin typeface="Calibri"/>
              </a:rPr>
              <a:t>Cómo habla cada grupo</a:t>
            </a:r>
          </a:p>
          <a:p>
            <a:pPr algn="ctr"/>
            <a:r>
              <a:rPr sz="1050" b="0" i="0">
                <a:solidFill>
                  <a:srgbClr val="5B6475"/>
                </a:solidFill>
                <a:latin typeface="Calibri"/>
              </a:rPr>
              <a:t>dentro de los grupos</a:t>
            </a:r>
          </a:p>
        </p:txBody>
      </p:sp>
      <p:sp>
        <p:nvSpPr>
          <p:cNvPr id="28" name="TextBox 27"/>
          <p:cNvSpPr txBox="1"/>
          <p:nvPr/>
        </p:nvSpPr>
        <p:spPr>
          <a:xfrm>
            <a:off x="5349240" y="5212080"/>
            <a:ext cx="1645920" cy="548640"/>
          </a:xfrm>
          <a:prstGeom prst="rect">
            <a:avLst/>
          </a:prstGeom>
          <a:noFill/>
        </p:spPr>
        <p:txBody>
          <a:bodyPr wrap="square" lIns="0" rIns="0" tIns="0" bIns="0" anchor="t">
            <a:spAutoFit/>
          </a:bodyPr>
          <a:lstStyle/>
          <a:p>
            <a:pPr algn="ctr"/>
            <a:r>
              <a:rPr sz="1200" b="1" i="0">
                <a:solidFill>
                  <a:srgbClr val="1B2333"/>
                </a:solidFill>
                <a:latin typeface="Calibri"/>
              </a:rPr>
              <a:t>2023</a:t>
            </a:r>
          </a:p>
        </p:txBody>
      </p:sp>
      <p:sp>
        <p:nvSpPr>
          <p:cNvPr id="29" name="Rounded Rectangle 28"/>
          <p:cNvSpPr/>
          <p:nvPr/>
        </p:nvSpPr>
        <p:spPr>
          <a:xfrm>
            <a:off x="7360920" y="1280160"/>
            <a:ext cx="4279392" cy="1874519"/>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89520" y="1389888"/>
            <a:ext cx="3840480" cy="594360"/>
          </a:xfrm>
          <a:prstGeom prst="rect">
            <a:avLst/>
          </a:prstGeom>
          <a:noFill/>
        </p:spPr>
        <p:txBody>
          <a:bodyPr wrap="square" lIns="0" rIns="0" tIns="0" bIns="0" anchor="t">
            <a:spAutoFit/>
          </a:bodyPr>
          <a:lstStyle/>
          <a:p>
            <a:pPr algn="l"/>
            <a:r>
              <a:rPr sz="3200" b="1" i="0">
                <a:solidFill>
                  <a:srgbClr val="5B6475"/>
                </a:solidFill>
                <a:latin typeface="Cambria"/>
              </a:rPr>
              <a:t>−0,3 pp</a:t>
            </a:r>
          </a:p>
        </p:txBody>
      </p:sp>
      <p:sp>
        <p:nvSpPr>
          <p:cNvPr id="31" name="TextBox 30"/>
          <p:cNvSpPr txBox="1"/>
          <p:nvPr/>
        </p:nvSpPr>
        <p:spPr>
          <a:xfrm>
            <a:off x="7589520" y="1993392"/>
            <a:ext cx="3840480" cy="1097280"/>
          </a:xfrm>
          <a:prstGeom prst="rect">
            <a:avLst/>
          </a:prstGeom>
          <a:noFill/>
        </p:spPr>
        <p:txBody>
          <a:bodyPr wrap="square" lIns="0" rIns="0" tIns="0" bIns="0" anchor="t">
            <a:spAutoFit/>
          </a:bodyPr>
          <a:lstStyle/>
          <a:p>
            <a:pPr algn="l">
              <a:spcAft>
                <a:spcPts val="300"/>
              </a:spcAft>
            </a:pPr>
            <a:r>
              <a:rPr sz="1400" b="1" i="0">
                <a:solidFill>
                  <a:srgbClr val="1B2333"/>
                </a:solidFill>
                <a:latin typeface="Calibri"/>
              </a:rPr>
              <a:t>Cambia quién vive aquí</a:t>
            </a:r>
          </a:p>
          <a:p>
            <a:pPr algn="l">
              <a:spcAft>
                <a:spcPts val="300"/>
              </a:spcAft>
            </a:pPr>
            <a:r>
              <a:rPr sz="1250" b="0" i="0">
                <a:solidFill>
                  <a:srgbClr val="1B2333"/>
                </a:solidFill>
                <a:latin typeface="Calibri"/>
              </a:rPr>
              <a:t>La mezcla por lugar de nacimiento casi no cambió: los nacidos en Cataluña eran el 58,6% de la población en 2008 y el 58,8% en 2023.</a:t>
            </a:r>
          </a:p>
        </p:txBody>
      </p:sp>
      <p:sp>
        <p:nvSpPr>
          <p:cNvPr id="32" name="Rounded Rectangle 31"/>
          <p:cNvSpPr/>
          <p:nvPr/>
        </p:nvSpPr>
        <p:spPr>
          <a:xfrm>
            <a:off x="7360920" y="3310128"/>
            <a:ext cx="4279392" cy="2011680"/>
          </a:xfrm>
          <a:prstGeom prst="roundRect">
            <a:avLst>
              <a:gd name="adj" fmla="val 6000"/>
            </a:avLst>
          </a:prstGeom>
          <a:solidFill>
            <a:srgbClr val="1B2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89520" y="3419856"/>
            <a:ext cx="3840480" cy="594360"/>
          </a:xfrm>
          <a:prstGeom prst="rect">
            <a:avLst/>
          </a:prstGeom>
          <a:noFill/>
        </p:spPr>
        <p:txBody>
          <a:bodyPr wrap="square" lIns="0" rIns="0" tIns="0" bIns="0" anchor="t">
            <a:spAutoFit/>
          </a:bodyPr>
          <a:lstStyle/>
          <a:p>
            <a:pPr algn="l"/>
            <a:r>
              <a:rPr sz="3200" b="1" i="0">
                <a:solidFill>
                  <a:srgbClr val="F2A93B"/>
                </a:solidFill>
                <a:latin typeface="Cambria"/>
              </a:rPr>
              <a:t>−2,7 pp</a:t>
            </a:r>
          </a:p>
        </p:txBody>
      </p:sp>
      <p:sp>
        <p:nvSpPr>
          <p:cNvPr id="34" name="TextBox 33"/>
          <p:cNvSpPr txBox="1"/>
          <p:nvPr/>
        </p:nvSpPr>
        <p:spPr>
          <a:xfrm>
            <a:off x="7589520" y="4023360"/>
            <a:ext cx="3840480" cy="1554480"/>
          </a:xfrm>
          <a:prstGeom prst="rect">
            <a:avLst/>
          </a:prstGeom>
          <a:noFill/>
        </p:spPr>
        <p:txBody>
          <a:bodyPr wrap="square" lIns="0" rIns="0" tIns="0" bIns="0" anchor="t">
            <a:spAutoFit/>
          </a:bodyPr>
          <a:lstStyle/>
          <a:p>
            <a:pPr algn="l">
              <a:spcAft>
                <a:spcPts val="300"/>
              </a:spcAft>
            </a:pPr>
            <a:r>
              <a:rPr sz="1400" b="1" i="0">
                <a:solidFill>
                  <a:srgbClr val="FFFFFF"/>
                </a:solidFill>
                <a:latin typeface="Calibri"/>
              </a:rPr>
              <a:t>Cambia cómo habla cada grupo</a:t>
            </a:r>
          </a:p>
          <a:p>
            <a:pPr algn="l">
              <a:spcAft>
                <a:spcPts val="300"/>
              </a:spcAft>
            </a:pPr>
            <a:r>
              <a:rPr sz="1250" b="0" i="0">
                <a:solidFill>
                  <a:srgbClr val="FFFFFF"/>
                </a:solidFill>
                <a:latin typeface="Calibri"/>
              </a:rPr>
              <a:t>Sobre todo, los nacidos en Cataluña: casi todos saben hablarlo (97,8%), pero como lengua habitual pasa del 56,0% al 50,9%.</a:t>
            </a:r>
          </a:p>
        </p:txBody>
      </p:sp>
      <p:sp>
        <p:nvSpPr>
          <p:cNvPr id="35" name="TextBox 34"/>
          <p:cNvSpPr txBox="1"/>
          <p:nvPr/>
        </p:nvSpPr>
        <p:spPr>
          <a:xfrm>
            <a:off x="548640" y="5852160"/>
            <a:ext cx="11091672" cy="365760"/>
          </a:xfrm>
          <a:prstGeom prst="rect">
            <a:avLst/>
          </a:prstGeom>
          <a:noFill/>
        </p:spPr>
        <p:txBody>
          <a:bodyPr wrap="square" lIns="0" rIns="0" tIns="0" bIns="0" anchor="t">
            <a:spAutoFit/>
          </a:bodyPr>
          <a:lstStyle/>
          <a:p>
            <a:pPr algn="l"/>
            <a:r>
              <a:rPr sz="1300" b="0" i="1">
                <a:solidFill>
                  <a:srgbClr val="1B2333"/>
                </a:solidFill>
                <a:latin typeface="Calibri"/>
              </a:rPr>
              <a:t>Desde 2013, entre los nacidos en Cataluña crece quien combina catalán y castellano: del 8,8% al 12,6%.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¿Dónde se usa? Depende del territorio y de la situación</a:t>
            </a:r>
            <a:endParaRPr lang="en-US" sz="3200" dirty="0"/>
          </a:p>
        </p:txBody>
      </p:sp>
      <p:pic>
        <p:nvPicPr>
          <p:cNvPr id="3" name="Image 0" descr="map_uso.png">    </p:cNvPr>
          <p:cNvPicPr>
            <a:picLocks noChangeAspect="1"/>
          </p:cNvPicPr>
          <p:nvPr/>
        </p:nvPicPr>
        <p:blipFill>
          <a:blip r:embed="rId1"/>
          <a:stretch>
            <a:fillRect/>
          </a:stretch>
        </p:blipFill>
        <p:spPr>
          <a:xfrm>
            <a:off x="548640" y="1234440"/>
            <a:ext cx="4892040" cy="4937760"/>
          </a:xfrm>
          <a:prstGeom prst="rect">
            <a:avLst/>
          </a:prstGeom>
        </p:spPr>
      </p:pic>
      <p:sp>
        <p:nvSpPr>
          <p:cNvPr id="4" name="Shape 1"/>
          <p:cNvSpPr/>
          <p:nvPr/>
        </p:nvSpPr>
        <p:spPr>
          <a:xfrm>
            <a:off x="6035040" y="1463040"/>
            <a:ext cx="5605272" cy="2194560"/>
          </a:xfrm>
          <a:prstGeom prst="roundRect">
            <a:avLst>
              <a:gd name="adj" fmla="val 5000"/>
            </a:avLst>
          </a:prstGeom>
          <a:solidFill>
            <a:srgbClr val="F3F5F9"/>
          </a:solidFill>
          <a:ln w="12700">
            <a:solidFill>
              <a:srgbClr val="F3F5F9"/>
            </a:solidFill>
            <a:prstDash val="solid"/>
          </a:ln>
        </p:spPr>
      </p:sp>
      <p:pic>
        <p:nvPicPr>
          <p:cNvPr id="5" name="Image 1" descr="preencoded.png">    </p:cNvPr>
          <p:cNvPicPr>
            <a:picLocks noChangeAspect="1"/>
          </p:cNvPicPr>
          <p:nvPr/>
        </p:nvPicPr>
        <p:blipFill>
          <a:blip r:embed="rId2"/>
          <a:stretch>
            <a:fillRect/>
          </a:stretch>
        </p:blipFill>
        <p:spPr>
          <a:xfrm>
            <a:off x="6263640" y="1691640"/>
            <a:ext cx="457200" cy="457200"/>
          </a:xfrm>
          <a:prstGeom prst="rect">
            <a:avLst/>
          </a:prstGeom>
        </p:spPr>
      </p:pic>
      <p:sp>
        <p:nvSpPr>
          <p:cNvPr id="6" name="Text 2"/>
          <p:cNvSpPr txBox="1"/>
          <p:nvPr/>
        </p:nvSpPr>
        <p:spPr>
          <a:xfrm>
            <a:off x="6858000" y="1600200"/>
            <a:ext cx="3108960" cy="685800"/>
          </a:xfrm>
          <a:prstGeom prst="rect">
            <a:avLst/>
          </a:prstGeom>
          <a:noFill/>
          <a:ln/>
        </p:spPr>
        <p:txBody>
          <a:bodyPr wrap="square" lIns="0" tIns="0" rIns="0" bIns="0" rtlCol="0" anchor="ctr"/>
          <a:lstStyle/>
          <a:p>
            <a:pPr indent="0" marL="0">
              <a:buNone/>
            </a:pPr>
            <a:r>
              <a:rPr lang="en-US" sz="3600" b="1" dirty="0">
                <a:solidFill>
                  <a:srgbClr val="1F4E8C"/>
                </a:solidFill>
                <a:latin typeface="Cambria" pitchFamily="34" charset="0"/>
                <a:ea typeface="Cambria" pitchFamily="34" charset="-122"/>
                <a:cs typeface="Cambria" pitchFamily="34" charset="-120"/>
              </a:rPr>
              <a:t>47,4%</a:t>
            </a:r>
            <a:endParaRPr lang="en-US" sz="3600" dirty="0"/>
          </a:p>
        </p:txBody>
      </p:sp>
      <p:sp>
        <p:nvSpPr>
          <p:cNvPr id="7" name="Text 3"/>
          <p:cNvSpPr txBox="1"/>
          <p:nvPr/>
        </p:nvSpPr>
        <p:spPr>
          <a:xfrm>
            <a:off x="6263640" y="2377440"/>
            <a:ext cx="5212080" cy="109728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habla solo o sobre todo catalán con la Administración local: el ámbito con más catalán</a:t>
            </a:r>
            <a:endParaRPr lang="en-US" sz="1400" dirty="0"/>
          </a:p>
        </p:txBody>
      </p:sp>
      <p:sp>
        <p:nvSpPr>
          <p:cNvPr id="8" name="Shape 4"/>
          <p:cNvSpPr/>
          <p:nvPr/>
        </p:nvSpPr>
        <p:spPr>
          <a:xfrm>
            <a:off x="6035040" y="3931920"/>
            <a:ext cx="5605272" cy="2194560"/>
          </a:xfrm>
          <a:prstGeom prst="roundRect">
            <a:avLst>
              <a:gd name="adj" fmla="val 5000"/>
            </a:avLst>
          </a:prstGeom>
          <a:solidFill>
            <a:srgbClr val="F3F5F9"/>
          </a:solidFill>
          <a:ln w="12700">
            <a:solidFill>
              <a:srgbClr val="F3F5F9"/>
            </a:solidFill>
            <a:prstDash val="solid"/>
          </a:ln>
        </p:spPr>
      </p:sp>
      <p:pic>
        <p:nvPicPr>
          <p:cNvPr id="9" name="Image 2" descr="preencoded.png">    </p:cNvPr>
          <p:cNvPicPr>
            <a:picLocks noChangeAspect="1"/>
          </p:cNvPicPr>
          <p:nvPr/>
        </p:nvPicPr>
        <p:blipFill>
          <a:blip r:embed="rId3"/>
          <a:stretch>
            <a:fillRect/>
          </a:stretch>
        </p:blipFill>
        <p:spPr>
          <a:xfrm>
            <a:off x="6263640" y="4160520"/>
            <a:ext cx="457200" cy="457200"/>
          </a:xfrm>
          <a:prstGeom prst="rect">
            <a:avLst/>
          </a:prstGeom>
        </p:spPr>
      </p:pic>
      <p:sp>
        <p:nvSpPr>
          <p:cNvPr id="10" name="Text 5"/>
          <p:cNvSpPr txBox="1"/>
          <p:nvPr/>
        </p:nvSpPr>
        <p:spPr>
          <a:xfrm>
            <a:off x="6858000" y="4069080"/>
            <a:ext cx="3108960" cy="685800"/>
          </a:xfrm>
          <a:prstGeom prst="rect">
            <a:avLst/>
          </a:prstGeom>
          <a:noFill/>
          <a:ln/>
        </p:spPr>
        <p:txBody>
          <a:bodyPr wrap="square" lIns="0" tIns="0" rIns="0" bIns="0" rtlCol="0" anchor="ctr"/>
          <a:lstStyle/>
          <a:p>
            <a:pPr indent="0" marL="0">
              <a:buNone/>
            </a:pPr>
            <a:r>
              <a:rPr lang="en-US" sz="3600" b="1" dirty="0">
                <a:solidFill>
                  <a:srgbClr val="B8862B"/>
                </a:solidFill>
                <a:latin typeface="Cambria" pitchFamily="34" charset="0"/>
                <a:ea typeface="Cambria" pitchFamily="34" charset="-122"/>
                <a:cs typeface="Cambria" pitchFamily="34" charset="-120"/>
              </a:rPr>
              <a:t>20,5%</a:t>
            </a:r>
            <a:endParaRPr lang="en-US" sz="3600" dirty="0"/>
          </a:p>
        </p:txBody>
      </p:sp>
      <p:sp>
        <p:nvSpPr>
          <p:cNvPr id="11" name="Text 6"/>
          <p:cNvSpPr txBox="1"/>
          <p:nvPr/>
        </p:nvSpPr>
        <p:spPr>
          <a:xfrm>
            <a:off x="6263640" y="4846320"/>
            <a:ext cx="5212080" cy="1097280"/>
          </a:xfrm>
          <a:prstGeom prst="rect">
            <a:avLst/>
          </a:prstGeom>
          <a:noFill/>
          <a:ln/>
        </p:spPr>
        <p:txBody>
          <a:bodyPr wrap="square" lIns="0" tIns="0" rIns="0" bIns="0" rtlCol="0" anchor="t"/>
          <a:lstStyle/>
          <a:p>
            <a:pPr indent="0" marL="0">
              <a:buNone/>
            </a:pPr>
            <a:r>
              <a:rPr lang="en-US" sz="1400" dirty="0">
                <a:solidFill>
                  <a:srgbClr val="1B2333"/>
                </a:solidFill>
                <a:latin typeface="Calibri" pitchFamily="34" charset="0"/>
                <a:ea typeface="Calibri" pitchFamily="34" charset="-122"/>
                <a:cs typeface="Calibri" pitchFamily="34" charset="-120"/>
              </a:rPr>
              <a:t>al publicar en redes sociales: el ámbito con menos catalán (mensajes de móvil: 24,4%)</a:t>
            </a:r>
            <a:endParaRPr lang="en-US" sz="1400" dirty="0"/>
          </a:p>
        </p:txBody>
      </p:sp>
      <p:sp>
        <p:nvSpPr>
          <p:cNvPr id="13" name="Text 8"/>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Fuente: Idescat y Generalitat, EULP (2023); geometría: ICGC · población de 15 años o más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No se apaga: se transforma.</a:t>
            </a:r>
            <a:endParaRPr lang="en-US" sz="4400" dirty="0"/>
          </a:p>
        </p:txBody>
      </p:sp>
      <p:sp>
        <p:nvSpPr>
          <p:cNvPr id="3" name="Shape 1"/>
          <p:cNvSpPr/>
          <p:nvPr/>
        </p:nvSpPr>
        <p:spPr>
          <a:xfrm>
            <a:off x="548640" y="1892808"/>
            <a:ext cx="502920" cy="502920"/>
          </a:xfrm>
          <a:prstGeom prst="ellipse">
            <a:avLst/>
          </a:prstGeom>
          <a:solidFill>
            <a:srgbClr val="F2A93B"/>
          </a:solidFill>
          <a:ln w="12700">
            <a:solidFill>
              <a:srgbClr val="F2A93B"/>
            </a:solidFill>
            <a:prstDash val="solid"/>
          </a:ln>
        </p:spPr>
      </p:sp>
      <p:sp>
        <p:nvSpPr>
          <p:cNvPr id="4" name="Text 2"/>
          <p:cNvSpPr txBox="1"/>
          <p:nvPr/>
        </p:nvSpPr>
        <p:spPr>
          <a:xfrm>
            <a:off x="548640" y="1892808"/>
            <a:ext cx="502920" cy="50292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280160" y="1874520"/>
            <a:ext cx="658368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¿Cada vez menos personas saben catalán?</a:t>
            </a:r>
            <a:endParaRPr lang="en-US" sz="2000" dirty="0"/>
          </a:p>
        </p:txBody>
      </p:sp>
      <p:sp>
        <p:nvSpPr>
          <p:cNvPr id="6" name="Shape 4"/>
          <p:cNvSpPr/>
          <p:nvPr/>
        </p:nvSpPr>
        <p:spPr>
          <a:xfrm>
            <a:off x="7955280" y="1938528"/>
            <a:ext cx="1463040" cy="420624"/>
          </a:xfrm>
          <a:prstGeom prst="roundRect">
            <a:avLst>
              <a:gd name="adj" fmla="val 50000"/>
            </a:avLst>
          </a:prstGeom>
          <a:solidFill>
            <a:srgbClr val="F2A93B"/>
          </a:solidFill>
          <a:ln w="12700">
            <a:solidFill>
              <a:srgbClr val="F2A93B"/>
            </a:solidFill>
            <a:prstDash val="solid"/>
          </a:ln>
        </p:spPr>
      </p:sp>
      <p:sp>
        <p:nvSpPr>
          <p:cNvPr id="7" name="Text 5"/>
          <p:cNvSpPr txBox="1"/>
          <p:nvPr/>
        </p:nvSpPr>
        <p:spPr>
          <a:xfrm>
            <a:off x="7955280" y="1938528"/>
            <a:ext cx="1463040" cy="420624"/>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MITO</a:t>
            </a:r>
            <a:endParaRPr lang="en-US" sz="1400" dirty="0"/>
          </a:p>
        </p:txBody>
      </p:sp>
      <p:sp>
        <p:nvSpPr>
          <p:cNvPr id="8" name="Shape 6"/>
          <p:cNvSpPr/>
          <p:nvPr/>
        </p:nvSpPr>
        <p:spPr>
          <a:xfrm>
            <a:off x="548640" y="2642616"/>
            <a:ext cx="502920" cy="502920"/>
          </a:xfrm>
          <a:prstGeom prst="ellipse">
            <a:avLst/>
          </a:prstGeom>
          <a:solidFill>
            <a:srgbClr val="F2A93B"/>
          </a:solidFill>
          <a:ln w="12700">
            <a:solidFill>
              <a:srgbClr val="F2A93B"/>
            </a:solidFill>
            <a:prstDash val="solid"/>
          </a:ln>
        </p:spPr>
      </p:sp>
      <p:sp>
        <p:nvSpPr>
          <p:cNvPr id="9" name="Text 7"/>
          <p:cNvSpPr txBox="1"/>
          <p:nvPr/>
        </p:nvSpPr>
        <p:spPr>
          <a:xfrm>
            <a:off x="548640" y="2642616"/>
            <a:ext cx="502920" cy="50292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280160" y="2624328"/>
            <a:ext cx="658368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¿Los jóvenes ya no lo saben?</a:t>
            </a:r>
            <a:endParaRPr lang="en-US" sz="2000" dirty="0"/>
          </a:p>
        </p:txBody>
      </p:sp>
      <p:sp>
        <p:nvSpPr>
          <p:cNvPr id="11" name="Shape 9"/>
          <p:cNvSpPr/>
          <p:nvPr/>
        </p:nvSpPr>
        <p:spPr>
          <a:xfrm>
            <a:off x="7955280" y="2688336"/>
            <a:ext cx="1463040" cy="420624"/>
          </a:xfrm>
          <a:prstGeom prst="roundRect">
            <a:avLst>
              <a:gd name="adj" fmla="val 50000"/>
            </a:avLst>
          </a:prstGeom>
          <a:solidFill>
            <a:srgbClr val="F2A93B"/>
          </a:solidFill>
          <a:ln w="12700">
            <a:solidFill>
              <a:srgbClr val="F2A93B"/>
            </a:solidFill>
            <a:prstDash val="solid"/>
          </a:ln>
        </p:spPr>
      </p:sp>
      <p:sp>
        <p:nvSpPr>
          <p:cNvPr id="12" name="Text 10"/>
          <p:cNvSpPr txBox="1"/>
          <p:nvPr/>
        </p:nvSpPr>
        <p:spPr>
          <a:xfrm>
            <a:off x="7955280" y="2688336"/>
            <a:ext cx="1463040" cy="420624"/>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MITO</a:t>
            </a:r>
            <a:endParaRPr lang="en-US" sz="1400" dirty="0"/>
          </a:p>
        </p:txBody>
      </p:sp>
      <p:sp>
        <p:nvSpPr>
          <p:cNvPr id="13" name="Shape 11"/>
          <p:cNvSpPr/>
          <p:nvPr/>
        </p:nvSpPr>
        <p:spPr>
          <a:xfrm>
            <a:off x="548640" y="3392424"/>
            <a:ext cx="502920" cy="502920"/>
          </a:xfrm>
          <a:prstGeom prst="ellipse">
            <a:avLst/>
          </a:prstGeom>
          <a:solidFill>
            <a:srgbClr val="F2A93B"/>
          </a:solidFill>
          <a:ln w="12700">
            <a:solidFill>
              <a:srgbClr val="F2A93B"/>
            </a:solidFill>
            <a:prstDash val="solid"/>
          </a:ln>
        </p:spPr>
      </p:sp>
      <p:sp>
        <p:nvSpPr>
          <p:cNvPr id="14" name="Text 12"/>
          <p:cNvSpPr txBox="1"/>
          <p:nvPr/>
        </p:nvSpPr>
        <p:spPr>
          <a:xfrm>
            <a:off x="548640" y="3392424"/>
            <a:ext cx="502920" cy="50292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280160" y="3374136"/>
            <a:ext cx="658368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¿Ya casi nadie lo aprende?</a:t>
            </a:r>
            <a:endParaRPr lang="en-US" sz="2000" dirty="0"/>
          </a:p>
        </p:txBody>
      </p:sp>
      <p:sp>
        <p:nvSpPr>
          <p:cNvPr id="16" name="Shape 14"/>
          <p:cNvSpPr/>
          <p:nvPr/>
        </p:nvSpPr>
        <p:spPr>
          <a:xfrm>
            <a:off x="7955280" y="3438144"/>
            <a:ext cx="1463040" cy="420624"/>
          </a:xfrm>
          <a:prstGeom prst="roundRect">
            <a:avLst>
              <a:gd name="adj" fmla="val 50000"/>
            </a:avLst>
          </a:prstGeom>
          <a:solidFill>
            <a:srgbClr val="F2A93B"/>
          </a:solidFill>
          <a:ln w="12700">
            <a:solidFill>
              <a:srgbClr val="F2A93B"/>
            </a:solidFill>
            <a:prstDash val="solid"/>
          </a:ln>
        </p:spPr>
      </p:sp>
      <p:sp>
        <p:nvSpPr>
          <p:cNvPr id="17" name="Text 15"/>
          <p:cNvSpPr txBox="1"/>
          <p:nvPr/>
        </p:nvSpPr>
        <p:spPr>
          <a:xfrm>
            <a:off x="7955280" y="3438144"/>
            <a:ext cx="1463040" cy="420624"/>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MITO</a:t>
            </a:r>
            <a:endParaRPr lang="en-US" sz="1400" dirty="0"/>
          </a:p>
        </p:txBody>
      </p:sp>
      <p:sp>
        <p:nvSpPr>
          <p:cNvPr id="18" name="Shape 16"/>
          <p:cNvSpPr/>
          <p:nvPr/>
        </p:nvSpPr>
        <p:spPr>
          <a:xfrm>
            <a:off x="548640" y="4142232"/>
            <a:ext cx="502920" cy="502920"/>
          </a:xfrm>
          <a:prstGeom prst="ellipse">
            <a:avLst/>
          </a:prstGeom>
          <a:solidFill>
            <a:srgbClr val="F2A93B"/>
          </a:solidFill>
          <a:ln w="12700">
            <a:solidFill>
              <a:srgbClr val="F2A93B"/>
            </a:solidFill>
            <a:prstDash val="solid"/>
          </a:ln>
        </p:spPr>
      </p:sp>
      <p:sp>
        <p:nvSpPr>
          <p:cNvPr id="19" name="Text 17"/>
          <p:cNvSpPr txBox="1"/>
          <p:nvPr/>
        </p:nvSpPr>
        <p:spPr>
          <a:xfrm>
            <a:off x="548640" y="4142232"/>
            <a:ext cx="502920" cy="502920"/>
          </a:xfrm>
          <a:prstGeom prst="rect">
            <a:avLst/>
          </a:prstGeom>
          <a:noFill/>
          <a:ln/>
        </p:spPr>
        <p:txBody>
          <a:bodyPr wrap="square" lIns="0" tIns="0" rIns="0" bIns="0" rtlCol="0" anchor="ctr"/>
          <a:lstStyle/>
          <a:p>
            <a:pPr algn="ctr" indent="0" marL="0">
              <a:buNone/>
            </a:pPr>
            <a:r>
              <a:rPr lang="en-US" sz="2000" b="1" dirty="0">
                <a:solidFill>
                  <a:srgbClr val="14213D"/>
                </a:solidFill>
                <a:latin typeface="Cambria" pitchFamily="34" charset="0"/>
                <a:ea typeface="Cambria" pitchFamily="34" charset="-122"/>
                <a:cs typeface="Cambria" pitchFamily="34" charset="-120"/>
              </a:rPr>
              <a:t>4</a:t>
            </a:r>
            <a:endParaRPr lang="en-US" sz="2000" dirty="0"/>
          </a:p>
        </p:txBody>
      </p:sp>
      <p:sp>
        <p:nvSpPr>
          <p:cNvPr id="20" name="Text 18"/>
          <p:cNvSpPr txBox="1"/>
          <p:nvPr/>
        </p:nvSpPr>
        <p:spPr>
          <a:xfrm>
            <a:off x="1280160" y="4123944"/>
            <a:ext cx="658368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¿Cada vez menos gente lo usa?</a:t>
            </a:r>
            <a:endParaRPr lang="en-US" sz="2000" dirty="0"/>
          </a:p>
        </p:txBody>
      </p:sp>
      <p:sp>
        <p:nvSpPr>
          <p:cNvPr id="21" name="Shape 19"/>
          <p:cNvSpPr/>
          <p:nvPr/>
        </p:nvSpPr>
        <p:spPr>
          <a:xfrm>
            <a:off x="7955280" y="4187952"/>
            <a:ext cx="2194560" cy="420624"/>
          </a:xfrm>
          <a:prstGeom prst="roundRect">
            <a:avLst>
              <a:gd name="adj" fmla="val 50000"/>
            </a:avLst>
          </a:prstGeom>
          <a:solidFill>
            <a:srgbClr val="8A93A6"/>
          </a:solidFill>
          <a:ln w="12700">
            <a:solidFill>
              <a:srgbClr val="8A93A6"/>
            </a:solidFill>
            <a:prstDash val="solid"/>
          </a:ln>
        </p:spPr>
      </p:sp>
      <p:sp>
        <p:nvSpPr>
          <p:cNvPr id="22" name="Text 20"/>
          <p:cNvSpPr txBox="1"/>
          <p:nvPr/>
        </p:nvSpPr>
        <p:spPr>
          <a:xfrm>
            <a:off x="7955280" y="4187952"/>
            <a:ext cx="219456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REALIDAD (en %)</a:t>
            </a:r>
            <a:endParaRPr lang="en-US" sz="1400" dirty="0"/>
          </a:p>
        </p:txBody>
      </p:sp>
      <p:sp>
        <p:nvSpPr>
          <p:cNvPr id="23" name="Text 21"/>
          <p:cNvSpPr txBox="1"/>
          <p:nvPr/>
        </p:nvSpPr>
        <p:spPr>
          <a:xfrm>
            <a:off x="548640" y="5029200"/>
            <a:ext cx="11094415" cy="1280160"/>
          </a:xfrm>
          <a:prstGeom prst="rect">
            <a:avLst/>
          </a:prstGeom>
          <a:noFill/>
          <a:ln/>
        </p:spPr>
        <p:txBody>
          <a:bodyPr wrap="square" lIns="0" tIns="0" rIns="0" bIns="0" rtlCol="0" anchor="t"/>
          <a:lstStyle/>
          <a:p>
            <a:pPr indent="0" marL="0">
              <a:buNone/>
            </a:pPr>
            <a:r>
              <a:rPr lang="en-US" sz="1700" i="1" dirty="0">
                <a:solidFill>
                  <a:srgbClr val="C9D1E0"/>
                </a:solidFill>
                <a:latin typeface="Calibri" pitchFamily="34" charset="0"/>
                <a:ea typeface="Calibri" pitchFamily="34" charset="-122"/>
                <a:cs typeface="Calibri" pitchFamily="34" charset="-120"/>
              </a:rPr>
              <a:t>Cada vez más personas saben catalán y, desde 2008, quienes lo tienen como lengua habitual se mantienen en unos 2,2 millones aunque la población crece. Su peso baja sobre todo porque cambia cómo se habla: desde 2013, más personas, también nacidas en Cataluña, combinan catalán y castellano.</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¿Para qué sirve? Tres decisiones que estos datos guían</a:t>
            </a:r>
            <a:endParaRPr lang="en-US" sz="3200" dirty="0"/>
          </a:p>
        </p:txBody>
      </p:sp>
      <p:sp>
        <p:nvSpPr>
          <p:cNvPr id="3" name="Shape 1"/>
          <p:cNvSpPr/>
          <p:nvPr/>
        </p:nvSpPr>
        <p:spPr>
          <a:xfrm>
            <a:off x="548640" y="1463040"/>
            <a:ext cx="3520440" cy="4023360"/>
          </a:xfrm>
          <a:prstGeom prst="roundRect">
            <a:avLst>
              <a:gd name="adj" fmla="val 3117"/>
            </a:avLst>
          </a:prstGeom>
          <a:solidFill>
            <a:srgbClr val="F3F5F9"/>
          </a:solidFill>
          <a:ln w="12700">
            <a:solidFill>
              <a:srgbClr val="F3F5F9"/>
            </a:solidFill>
            <a:prstDash val="solid"/>
          </a:ln>
        </p:spPr>
      </p:sp>
      <p:sp>
        <p:nvSpPr>
          <p:cNvPr id="4" name="Shape 2"/>
          <p:cNvSpPr/>
          <p:nvPr/>
        </p:nvSpPr>
        <p:spPr>
          <a:xfrm>
            <a:off x="822960" y="1737360"/>
            <a:ext cx="822960" cy="822960"/>
          </a:xfrm>
          <a:prstGeom prst="ellipse">
            <a:avLst/>
          </a:prstGeom>
          <a:solidFill>
            <a:srgbClr val="FFFFFF"/>
          </a:solidFill>
          <a:ln w="25400">
            <a:solidFill>
              <a:srgbClr val="F2A93B"/>
            </a:solidFill>
            <a:prstDash val="solid"/>
          </a:ln>
        </p:spPr>
      </p:sp>
      <p:pic>
        <p:nvPicPr>
          <p:cNvPr id="5" name="Image 0" descr="preencoded.png">    </p:cNvPr>
          <p:cNvPicPr>
            <a:picLocks noChangeAspect="1"/>
          </p:cNvPicPr>
          <p:nvPr/>
        </p:nvPicPr>
        <p:blipFill>
          <a:blip r:embed="rId1"/>
          <a:stretch>
            <a:fillRect/>
          </a:stretch>
        </p:blipFill>
        <p:spPr>
          <a:xfrm>
            <a:off x="1024128" y="1938528"/>
            <a:ext cx="420624" cy="420624"/>
          </a:xfrm>
          <a:prstGeom prst="rect">
            <a:avLst/>
          </a:prstGeom>
        </p:spPr>
      </p:pic>
      <p:sp>
        <p:nvSpPr>
          <p:cNvPr id="6" name="Text 3"/>
          <p:cNvSpPr txBox="1"/>
          <p:nvPr/>
        </p:nvSpPr>
        <p:spPr>
          <a:xfrm>
            <a:off x="822960" y="2743200"/>
            <a:ext cx="3017520" cy="640080"/>
          </a:xfrm>
          <a:prstGeom prst="rect">
            <a:avLst/>
          </a:prstGeom>
          <a:noFill/>
          <a:ln/>
        </p:spPr>
        <p:txBody>
          <a:bodyPr wrap="square" lIns="0" tIns="0" rIns="0" bIns="0" rtlCol="0" anchor="t"/>
          <a:lstStyle/>
          <a:p>
            <a:pPr indent="0" marL="0">
              <a:buNone/>
            </a:pPr>
            <a:r>
              <a:rPr lang="en-US" sz="2000" b="1" dirty="0">
                <a:solidFill>
                  <a:srgbClr val="1F4E8C"/>
                </a:solidFill>
                <a:latin typeface="Cambria" pitchFamily="34" charset="0"/>
                <a:ea typeface="Cambria" pitchFamily="34" charset="-122"/>
                <a:cs typeface="Cambria" pitchFamily="34" charset="-120"/>
              </a:rPr>
              <a:t>Cursos a medida</a:t>
            </a:r>
            <a:endParaRPr lang="en-US" sz="2000" dirty="0"/>
          </a:p>
        </p:txBody>
      </p:sp>
      <p:sp>
        <p:nvSpPr>
          <p:cNvPr id="7" name="Text 4"/>
          <p:cNvSpPr txBox="1"/>
          <p:nvPr/>
        </p:nvSpPr>
        <p:spPr>
          <a:xfrm>
            <a:off x="822960" y="3429000"/>
            <a:ext cx="3017520" cy="1920240"/>
          </a:xfrm>
          <a:prstGeom prst="rect">
            <a:avLst/>
          </a:prstGeom>
          <a:noFill/>
          <a:ln/>
        </p:spPr>
        <p:txBody>
          <a:bodyPr wrap="square" lIns="0" tIns="0" rIns="0" bIns="0" rtlCol="0" anchor="t"/>
          <a:lstStyle/>
          <a:p>
            <a:pPr indent="0" marL="0">
              <a:buNone/>
            </a:pPr>
            <a:r>
              <a:rPr lang="en-US" sz="1700" dirty="0">
                <a:solidFill>
                  <a:srgbClr val="1B2333"/>
                </a:solidFill>
                <a:latin typeface="Calibri" pitchFamily="34" charset="0"/>
                <a:ea typeface="Calibri" pitchFamily="34" charset="-122"/>
                <a:cs typeface="Calibri" pitchFamily="34" charset="-120"/>
              </a:rPr>
              <a:t>La mayoría de quien aprende nació fuera y muchos probablemente ya hablan castellano: cursos pensados para hispanohablantes, que partan de lo que ambas lenguas comparten.</a:t>
            </a:r>
            <a:endParaRPr lang="en-US" sz="1700" dirty="0"/>
          </a:p>
        </p:txBody>
      </p:sp>
      <p:sp>
        <p:nvSpPr>
          <p:cNvPr id="8" name="Shape 5"/>
          <p:cNvSpPr/>
          <p:nvPr/>
        </p:nvSpPr>
        <p:spPr>
          <a:xfrm>
            <a:off x="4315968" y="1463040"/>
            <a:ext cx="3520440" cy="4023360"/>
          </a:xfrm>
          <a:prstGeom prst="roundRect">
            <a:avLst>
              <a:gd name="adj" fmla="val 3117"/>
            </a:avLst>
          </a:prstGeom>
          <a:solidFill>
            <a:srgbClr val="F3F5F9"/>
          </a:solidFill>
          <a:ln w="12700">
            <a:solidFill>
              <a:srgbClr val="F3F5F9"/>
            </a:solidFill>
            <a:prstDash val="solid"/>
          </a:ln>
        </p:spPr>
      </p:sp>
      <p:sp>
        <p:nvSpPr>
          <p:cNvPr id="9" name="Shape 6"/>
          <p:cNvSpPr/>
          <p:nvPr/>
        </p:nvSpPr>
        <p:spPr>
          <a:xfrm>
            <a:off x="4590288" y="1737360"/>
            <a:ext cx="822960" cy="822960"/>
          </a:xfrm>
          <a:prstGeom prst="ellipse">
            <a:avLst/>
          </a:prstGeom>
          <a:solidFill>
            <a:srgbClr val="FFFFFF"/>
          </a:solidFill>
          <a:ln w="25400">
            <a:solidFill>
              <a:srgbClr val="F2A93B"/>
            </a:solidFill>
            <a:prstDash val="solid"/>
          </a:ln>
        </p:spPr>
      </p:sp>
      <p:pic>
        <p:nvPicPr>
          <p:cNvPr id="10" name="Image 1" descr="preencoded.png">    </p:cNvPr>
          <p:cNvPicPr>
            <a:picLocks noChangeAspect="1"/>
          </p:cNvPicPr>
          <p:nvPr/>
        </p:nvPicPr>
        <p:blipFill>
          <a:blip r:embed="rId2"/>
          <a:stretch>
            <a:fillRect/>
          </a:stretch>
        </p:blipFill>
        <p:spPr>
          <a:xfrm>
            <a:off x="4791456" y="1938528"/>
            <a:ext cx="420624" cy="420624"/>
          </a:xfrm>
          <a:prstGeom prst="rect">
            <a:avLst/>
          </a:prstGeom>
        </p:spPr>
      </p:pic>
      <p:sp>
        <p:nvSpPr>
          <p:cNvPr id="11" name="Text 7"/>
          <p:cNvSpPr txBox="1"/>
          <p:nvPr/>
        </p:nvSpPr>
        <p:spPr>
          <a:xfrm>
            <a:off x="4590288" y="2743200"/>
            <a:ext cx="3017520" cy="640080"/>
          </a:xfrm>
          <a:prstGeom prst="rect">
            <a:avLst/>
          </a:prstGeom>
          <a:noFill/>
          <a:ln/>
        </p:spPr>
        <p:txBody>
          <a:bodyPr wrap="square" lIns="0" tIns="0" rIns="0" bIns="0" rtlCol="0" anchor="t"/>
          <a:lstStyle/>
          <a:p>
            <a:pPr indent="0" marL="0">
              <a:buNone/>
            </a:pPr>
            <a:r>
              <a:rPr lang="en-US" sz="2000" b="1" dirty="0">
                <a:solidFill>
                  <a:srgbClr val="1F4E8C"/>
                </a:solidFill>
                <a:latin typeface="Cambria" pitchFamily="34" charset="0"/>
                <a:ea typeface="Cambria" pitchFamily="34" charset="-122"/>
                <a:cs typeface="Cambria" pitchFamily="34" charset="-120"/>
              </a:rPr>
              <a:t>Del saber al usar</a:t>
            </a:r>
            <a:endParaRPr lang="en-US" sz="2000" dirty="0"/>
          </a:p>
        </p:txBody>
      </p:sp>
      <p:sp>
        <p:nvSpPr>
          <p:cNvPr id="12" name="Text 8"/>
          <p:cNvSpPr txBox="1"/>
          <p:nvPr/>
        </p:nvSpPr>
        <p:spPr>
          <a:xfrm>
            <a:off x="4590288" y="3429000"/>
            <a:ext cx="3017520" cy="1920240"/>
          </a:xfrm>
          <a:prstGeom prst="rect">
            <a:avLst/>
          </a:prstGeom>
          <a:noFill/>
          <a:ln/>
        </p:spPr>
        <p:txBody>
          <a:bodyPr wrap="square" lIns="0" tIns="0" rIns="0" bIns="0" rtlCol="0" anchor="t"/>
          <a:lstStyle/>
          <a:p>
            <a:pPr indent="0" marL="0">
              <a:buNone/>
            </a:pPr>
            <a:r>
              <a:rPr lang="en-US" sz="1700" dirty="0">
                <a:solidFill>
                  <a:srgbClr val="1B2333"/>
                </a:solidFill>
                <a:latin typeface="Calibri" pitchFamily="34" charset="0"/>
                <a:ea typeface="Calibri" pitchFamily="34" charset="-122"/>
                <a:cs typeface="Calibri" pitchFamily="34" charset="-120"/>
              </a:rPr>
              <a:t>En el ámbito Metropolità el 78% sabe hablar catalán, pero solo el 25% lo usa: la mayor distancia. Faltan ocasiones de práctica, como el Voluntariat per la llengua del CPNL.</a:t>
            </a:r>
            <a:endParaRPr lang="en-US" sz="1700" dirty="0"/>
          </a:p>
        </p:txBody>
      </p:sp>
      <p:sp>
        <p:nvSpPr>
          <p:cNvPr id="13" name="Shape 9"/>
          <p:cNvSpPr/>
          <p:nvPr/>
        </p:nvSpPr>
        <p:spPr>
          <a:xfrm>
            <a:off x="8083296" y="1463040"/>
            <a:ext cx="3520440" cy="4023360"/>
          </a:xfrm>
          <a:prstGeom prst="roundRect">
            <a:avLst>
              <a:gd name="adj" fmla="val 3117"/>
            </a:avLst>
          </a:prstGeom>
          <a:solidFill>
            <a:srgbClr val="F3F5F9"/>
          </a:solidFill>
          <a:ln w="12700">
            <a:solidFill>
              <a:srgbClr val="F3F5F9"/>
            </a:solidFill>
            <a:prstDash val="solid"/>
          </a:ln>
        </p:spPr>
      </p:sp>
      <p:sp>
        <p:nvSpPr>
          <p:cNvPr id="14" name="Shape 10"/>
          <p:cNvSpPr/>
          <p:nvPr/>
        </p:nvSpPr>
        <p:spPr>
          <a:xfrm>
            <a:off x="8357616" y="1737360"/>
            <a:ext cx="822960" cy="822960"/>
          </a:xfrm>
          <a:prstGeom prst="ellipse">
            <a:avLst/>
          </a:prstGeom>
          <a:solidFill>
            <a:srgbClr val="FFFFFF"/>
          </a:solidFill>
          <a:ln w="25400">
            <a:solidFill>
              <a:srgbClr val="F2A93B"/>
            </a:solidFill>
            <a:prstDash val="solid"/>
          </a:ln>
        </p:spPr>
      </p:sp>
      <p:pic>
        <p:nvPicPr>
          <p:cNvPr id="15" name="Image 2" descr="preencoded.png">    </p:cNvPr>
          <p:cNvPicPr>
            <a:picLocks noChangeAspect="1"/>
          </p:cNvPicPr>
          <p:nvPr/>
        </p:nvPicPr>
        <p:blipFill>
          <a:blip r:embed="rId3"/>
          <a:stretch>
            <a:fillRect/>
          </a:stretch>
        </p:blipFill>
        <p:spPr>
          <a:xfrm>
            <a:off x="8558784" y="1938528"/>
            <a:ext cx="420624" cy="420624"/>
          </a:xfrm>
          <a:prstGeom prst="rect">
            <a:avLst/>
          </a:prstGeom>
        </p:spPr>
      </p:pic>
      <p:sp>
        <p:nvSpPr>
          <p:cNvPr id="16" name="Text 11"/>
          <p:cNvSpPr txBox="1"/>
          <p:nvPr/>
        </p:nvSpPr>
        <p:spPr>
          <a:xfrm>
            <a:off x="8357616" y="2743200"/>
            <a:ext cx="3017520" cy="640080"/>
          </a:xfrm>
          <a:prstGeom prst="rect">
            <a:avLst/>
          </a:prstGeom>
          <a:noFill/>
          <a:ln/>
        </p:spPr>
        <p:txBody>
          <a:bodyPr wrap="square" lIns="0" tIns="0" rIns="0" bIns="0" rtlCol="0" anchor="t"/>
          <a:lstStyle/>
          <a:p>
            <a:pPr indent="0" marL="0">
              <a:buNone/>
            </a:pPr>
            <a:r>
              <a:rPr lang="en-US" sz="2000" b="1" dirty="0">
                <a:solidFill>
                  <a:srgbClr val="1F4E8C"/>
                </a:solidFill>
                <a:latin typeface="Cambria" pitchFamily="34" charset="0"/>
                <a:ea typeface="Cambria" pitchFamily="34" charset="-122"/>
                <a:cs typeface="Cambria" pitchFamily="34" charset="-120"/>
              </a:rPr>
              <a:t>Lo digital</a:t>
            </a:r>
            <a:endParaRPr lang="en-US" sz="2000" dirty="0"/>
          </a:p>
        </p:txBody>
      </p:sp>
      <p:sp>
        <p:nvSpPr>
          <p:cNvPr id="17" name="Text 12"/>
          <p:cNvSpPr txBox="1"/>
          <p:nvPr/>
        </p:nvSpPr>
        <p:spPr>
          <a:xfrm>
            <a:off x="8357616" y="3429000"/>
            <a:ext cx="3017520" cy="1920240"/>
          </a:xfrm>
          <a:prstGeom prst="rect">
            <a:avLst/>
          </a:prstGeom>
          <a:noFill/>
          <a:ln/>
        </p:spPr>
        <p:txBody>
          <a:bodyPr wrap="square" lIns="0" tIns="0" rIns="0" bIns="0" rtlCol="0" anchor="t"/>
          <a:lstStyle/>
          <a:p>
            <a:pPr indent="0" marL="0">
              <a:buNone/>
            </a:pPr>
            <a:r>
              <a:rPr lang="en-US" sz="1700" dirty="0">
                <a:solidFill>
                  <a:srgbClr val="1B2333"/>
                </a:solidFill>
                <a:latin typeface="Calibri" pitchFamily="34" charset="0"/>
                <a:ea typeface="Calibri" pitchFamily="34" charset="-122"/>
                <a:cs typeface="Calibri" pitchFamily="34" charset="-120"/>
              </a:rPr>
              <a:t>Es el terreno más débil (redes 20,5%). Contenido, apps y servicios en catalán tienen margen para crecer.</a:t>
            </a:r>
            <a:endParaRPr lang="en-US" sz="1700" dirty="0"/>
          </a:p>
        </p:txBody>
      </p:sp>
      <p:sp>
        <p:nvSpPr>
          <p:cNvPr id="18" name="Text 13"/>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500" i="1" dirty="0">
                <a:solidFill>
                  <a:srgbClr val="5B6475"/>
                </a:solidFill>
                <a:latin typeface="Calibri" pitchFamily="34" charset="0"/>
                <a:ea typeface="Calibri" pitchFamily="34" charset="-122"/>
                <a:cs typeface="Calibri" pitchFamily="34" charset="-120"/>
              </a:rPr>
              <a:t>Aplicable también a empresas y plataformas: el idioma de atención al cliente y del contenido es una decisión de negocio.</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Lo que estos datos no permiten afirmar</a:t>
            </a:r>
            <a:endParaRPr lang="en-US" sz="3200" dirty="0"/>
          </a:p>
        </p:txBody>
      </p:sp>
      <p:sp>
        <p:nvSpPr>
          <p:cNvPr id="3" name="Shape 1"/>
          <p:cNvSpPr/>
          <p:nvPr/>
        </p:nvSpPr>
        <p:spPr>
          <a:xfrm>
            <a:off x="548640" y="1463040"/>
            <a:ext cx="5394960" cy="1965960"/>
          </a:xfrm>
          <a:prstGeom prst="roundRect">
            <a:avLst>
              <a:gd name="adj" fmla="val 5581"/>
            </a:avLst>
          </a:prstGeom>
          <a:solidFill>
            <a:srgbClr val="F3F5F9"/>
          </a:solidFill>
          <a:ln w="12700">
            <a:solidFill>
              <a:srgbClr val="F3F5F9"/>
            </a:solidFill>
            <a:prstDash val="solid"/>
          </a:ln>
        </p:spPr>
      </p:sp>
      <p:pic>
        <p:nvPicPr>
          <p:cNvPr id="4" name="Image 0" descr="preencoded.png">    </p:cNvPr>
          <p:cNvPicPr>
            <a:picLocks noChangeAspect="1"/>
          </p:cNvPicPr>
          <p:nvPr/>
        </p:nvPicPr>
        <p:blipFill>
          <a:blip r:embed="rId1"/>
          <a:stretch>
            <a:fillRect/>
          </a:stretch>
        </p:blipFill>
        <p:spPr>
          <a:xfrm>
            <a:off x="868680" y="1783080"/>
            <a:ext cx="502920" cy="502920"/>
          </a:xfrm>
          <a:prstGeom prst="rect">
            <a:avLst/>
          </a:prstGeom>
        </p:spPr>
      </p:pic>
      <p:sp>
        <p:nvSpPr>
          <p:cNvPr id="5" name="Text 2"/>
          <p:cNvSpPr txBox="1"/>
          <p:nvPr/>
        </p:nvSpPr>
        <p:spPr>
          <a:xfrm>
            <a:off x="1600200" y="1737360"/>
            <a:ext cx="4114800" cy="594360"/>
          </a:xfrm>
          <a:prstGeom prst="rect">
            <a:avLst/>
          </a:prstGeom>
          <a:noFill/>
          <a:ln/>
        </p:spPr>
        <p:txBody>
          <a:bodyPr wrap="square" lIns="0" tIns="0" rIns="0" bIns="0" rtlCol="0" anchor="ctr"/>
          <a:lstStyle/>
          <a:p>
            <a:pPr indent="0" marL="0">
              <a:buNone/>
            </a:pPr>
            <a:r>
              <a:rPr lang="en-US" sz="1900" b="1" dirty="0">
                <a:solidFill>
                  <a:srgbClr val="1B2333"/>
                </a:solidFill>
                <a:latin typeface="Cambria" pitchFamily="34" charset="0"/>
                <a:ea typeface="Cambria" pitchFamily="34" charset="-122"/>
                <a:cs typeface="Cambria" pitchFamily="34" charset="-120"/>
              </a:rPr>
              <a:t>Encuestas con margen de error</a:t>
            </a:r>
            <a:endParaRPr lang="en-US" sz="1900" dirty="0"/>
          </a:p>
        </p:txBody>
      </p:sp>
      <p:sp>
        <p:nvSpPr>
          <p:cNvPr id="6" name="Text 3"/>
          <p:cNvSpPr txBox="1"/>
          <p:nvPr/>
        </p:nvSpPr>
        <p:spPr>
          <a:xfrm>
            <a:off x="1600200" y="2377440"/>
            <a:ext cx="4114800" cy="91440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La EULP y la ECEPOV son muestras: pequeñas diferencias pueden no ser significativas.</a:t>
            </a:r>
            <a:endParaRPr lang="en-US" sz="1500" dirty="0"/>
          </a:p>
        </p:txBody>
      </p:sp>
      <p:sp>
        <p:nvSpPr>
          <p:cNvPr id="7" name="Shape 4"/>
          <p:cNvSpPr/>
          <p:nvPr/>
        </p:nvSpPr>
        <p:spPr>
          <a:xfrm>
            <a:off x="6263640" y="1463040"/>
            <a:ext cx="5394960" cy="1965960"/>
          </a:xfrm>
          <a:prstGeom prst="roundRect">
            <a:avLst>
              <a:gd name="adj" fmla="val 5581"/>
            </a:avLst>
          </a:prstGeom>
          <a:solidFill>
            <a:srgbClr val="F3F5F9"/>
          </a:solidFill>
          <a:ln w="12700">
            <a:solidFill>
              <a:srgbClr val="F3F5F9"/>
            </a:solidFill>
            <a:prstDash val="solid"/>
          </a:ln>
        </p:spPr>
      </p:sp>
      <p:pic>
        <p:nvPicPr>
          <p:cNvPr id="8" name="Image 1" descr="preencoded.png">    </p:cNvPr>
          <p:cNvPicPr>
            <a:picLocks noChangeAspect="1"/>
          </p:cNvPicPr>
          <p:nvPr/>
        </p:nvPicPr>
        <p:blipFill>
          <a:blip r:embed="rId2"/>
          <a:stretch>
            <a:fillRect/>
          </a:stretch>
        </p:blipFill>
        <p:spPr>
          <a:xfrm>
            <a:off x="6583680" y="1783080"/>
            <a:ext cx="502920" cy="502920"/>
          </a:xfrm>
          <a:prstGeom prst="rect">
            <a:avLst/>
          </a:prstGeom>
        </p:spPr>
      </p:pic>
      <p:sp>
        <p:nvSpPr>
          <p:cNvPr id="9" name="Text 5"/>
          <p:cNvSpPr txBox="1"/>
          <p:nvPr/>
        </p:nvSpPr>
        <p:spPr>
          <a:xfrm>
            <a:off x="7315200" y="1737360"/>
            <a:ext cx="4114800" cy="594360"/>
          </a:xfrm>
          <a:prstGeom prst="rect">
            <a:avLst/>
          </a:prstGeom>
          <a:noFill/>
          <a:ln/>
        </p:spPr>
        <p:txBody>
          <a:bodyPr wrap="square" lIns="0" tIns="0" rIns="0" bIns="0" rtlCol="0" anchor="ctr"/>
          <a:lstStyle/>
          <a:p>
            <a:pPr indent="0" marL="0">
              <a:buNone/>
            </a:pPr>
            <a:r>
              <a:rPr lang="en-US" sz="1900" b="1" dirty="0">
                <a:solidFill>
                  <a:srgbClr val="1B2333"/>
                </a:solidFill>
                <a:latin typeface="Cambria" pitchFamily="34" charset="0"/>
                <a:ea typeface="Cambria" pitchFamily="34" charset="-122"/>
                <a:cs typeface="Cambria" pitchFamily="34" charset="-120"/>
              </a:rPr>
              <a:t>Inscripciones no son personas</a:t>
            </a:r>
            <a:endParaRPr lang="en-US" sz="1900" dirty="0"/>
          </a:p>
        </p:txBody>
      </p:sp>
      <p:sp>
        <p:nvSpPr>
          <p:cNvPr id="10" name="Text 6"/>
          <p:cNvSpPr txBox="1"/>
          <p:nvPr/>
        </p:nvSpPr>
        <p:spPr>
          <a:xfrm>
            <a:off x="7315200" y="2377440"/>
            <a:ext cx="4114800" cy="91440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Una persona puede inscribirse varias veces; en 2020–2022 falta mucho origen.</a:t>
            </a:r>
            <a:endParaRPr lang="en-US" sz="1500" dirty="0"/>
          </a:p>
        </p:txBody>
      </p:sp>
      <p:sp>
        <p:nvSpPr>
          <p:cNvPr id="11" name="Shape 7"/>
          <p:cNvSpPr/>
          <p:nvPr/>
        </p:nvSpPr>
        <p:spPr>
          <a:xfrm>
            <a:off x="548640" y="3703320"/>
            <a:ext cx="5394960" cy="1965960"/>
          </a:xfrm>
          <a:prstGeom prst="roundRect">
            <a:avLst>
              <a:gd name="adj" fmla="val 5581"/>
            </a:avLst>
          </a:prstGeom>
          <a:solidFill>
            <a:srgbClr val="F3F5F9"/>
          </a:solidFill>
          <a:ln w="12700">
            <a:solidFill>
              <a:srgbClr val="F3F5F9"/>
            </a:solidFill>
            <a:prstDash val="solid"/>
          </a:ln>
        </p:spPr>
      </p:sp>
      <p:pic>
        <p:nvPicPr>
          <p:cNvPr id="12" name="Image 2" descr="preencoded.png">    </p:cNvPr>
          <p:cNvPicPr>
            <a:picLocks noChangeAspect="1"/>
          </p:cNvPicPr>
          <p:nvPr/>
        </p:nvPicPr>
        <p:blipFill>
          <a:blip r:embed="rId3"/>
          <a:stretch>
            <a:fillRect/>
          </a:stretch>
        </p:blipFill>
        <p:spPr>
          <a:xfrm>
            <a:off x="868680" y="4023360"/>
            <a:ext cx="502920" cy="502920"/>
          </a:xfrm>
          <a:prstGeom prst="rect">
            <a:avLst/>
          </a:prstGeom>
        </p:spPr>
      </p:pic>
      <p:sp>
        <p:nvSpPr>
          <p:cNvPr id="13" name="Text 8"/>
          <p:cNvSpPr txBox="1"/>
          <p:nvPr/>
        </p:nvSpPr>
        <p:spPr>
          <a:xfrm>
            <a:off x="1600200" y="3977640"/>
            <a:ext cx="4114800" cy="594360"/>
          </a:xfrm>
          <a:prstGeom prst="rect">
            <a:avLst/>
          </a:prstGeom>
          <a:noFill/>
          <a:ln/>
        </p:spPr>
        <p:txBody>
          <a:bodyPr wrap="square" lIns="0" tIns="0" rIns="0" bIns="0" rtlCol="0" anchor="ctr"/>
          <a:lstStyle/>
          <a:p>
            <a:pPr indent="0" marL="0">
              <a:buNone/>
            </a:pPr>
            <a:r>
              <a:rPr lang="en-US" sz="1900" b="1" dirty="0">
                <a:solidFill>
                  <a:srgbClr val="1B2333"/>
                </a:solidFill>
                <a:latin typeface="Cambria" pitchFamily="34" charset="0"/>
                <a:ea typeface="Cambria" pitchFamily="34" charset="-122"/>
                <a:cs typeface="Cambria" pitchFamily="34" charset="-120"/>
              </a:rPr>
              <a:t>Cortes metodológicos</a:t>
            </a:r>
            <a:endParaRPr lang="en-US" sz="1900" dirty="0"/>
          </a:p>
        </p:txBody>
      </p:sp>
      <p:sp>
        <p:nvSpPr>
          <p:cNvPr id="14" name="Text 9"/>
          <p:cNvSpPr txBox="1"/>
          <p:nvPr/>
        </p:nvSpPr>
        <p:spPr>
          <a:xfrm>
            <a:off x="1600200" y="4617720"/>
            <a:ext cx="4114800" cy="91440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2003 (cuestionario nuevo en 2008) y 2021 (pregunta con grados) no se unen a sus series.</a:t>
            </a:r>
            <a:endParaRPr lang="en-US" sz="1500" dirty="0"/>
          </a:p>
        </p:txBody>
      </p:sp>
      <p:sp>
        <p:nvSpPr>
          <p:cNvPr id="15" name="Shape 10"/>
          <p:cNvSpPr/>
          <p:nvPr/>
        </p:nvSpPr>
        <p:spPr>
          <a:xfrm>
            <a:off x="6263640" y="3703320"/>
            <a:ext cx="5394960" cy="1965960"/>
          </a:xfrm>
          <a:prstGeom prst="roundRect">
            <a:avLst>
              <a:gd name="adj" fmla="val 5581"/>
            </a:avLst>
          </a:prstGeom>
          <a:solidFill>
            <a:srgbClr val="F3F5F9"/>
          </a:solidFill>
          <a:ln w="12700">
            <a:solidFill>
              <a:srgbClr val="F3F5F9"/>
            </a:solidFill>
            <a:prstDash val="solid"/>
          </a:ln>
        </p:spPr>
      </p:sp>
      <p:pic>
        <p:nvPicPr>
          <p:cNvPr id="16" name="Image 3" descr="preencoded.png">    </p:cNvPr>
          <p:cNvPicPr>
            <a:picLocks noChangeAspect="1"/>
          </p:cNvPicPr>
          <p:nvPr/>
        </p:nvPicPr>
        <p:blipFill>
          <a:blip r:embed="rId4"/>
          <a:stretch>
            <a:fillRect/>
          </a:stretch>
        </p:blipFill>
        <p:spPr>
          <a:xfrm>
            <a:off x="6583680" y="4023360"/>
            <a:ext cx="502920" cy="502920"/>
          </a:xfrm>
          <a:prstGeom prst="rect">
            <a:avLst/>
          </a:prstGeom>
        </p:spPr>
      </p:pic>
      <p:sp>
        <p:nvSpPr>
          <p:cNvPr id="17" name="Text 11"/>
          <p:cNvSpPr txBox="1"/>
          <p:nvPr/>
        </p:nvSpPr>
        <p:spPr>
          <a:xfrm>
            <a:off x="7315200" y="3977640"/>
            <a:ext cx="4114800" cy="594360"/>
          </a:xfrm>
          <a:prstGeom prst="rect">
            <a:avLst/>
          </a:prstGeom>
          <a:noFill/>
          <a:ln/>
        </p:spPr>
        <p:txBody>
          <a:bodyPr wrap="square" lIns="0" tIns="0" rIns="0" bIns="0" rtlCol="0" anchor="ctr"/>
          <a:lstStyle/>
          <a:p>
            <a:pPr indent="0" marL="0">
              <a:buNone/>
            </a:pPr>
            <a:r>
              <a:rPr lang="en-US" sz="1900" b="1" dirty="0">
                <a:solidFill>
                  <a:srgbClr val="1B2333"/>
                </a:solidFill>
                <a:latin typeface="Cambria" pitchFamily="34" charset="0"/>
                <a:ea typeface="Cambria" pitchFamily="34" charset="-122"/>
                <a:cs typeface="Cambria" pitchFamily="34" charset="-120"/>
              </a:rPr>
              <a:t>Descripción, no causalidad</a:t>
            </a:r>
            <a:endParaRPr lang="en-US" sz="1900" dirty="0"/>
          </a:p>
        </p:txBody>
      </p:sp>
      <p:sp>
        <p:nvSpPr>
          <p:cNvPr id="18" name="Text 12"/>
          <p:cNvSpPr txBox="1"/>
          <p:nvPr/>
        </p:nvSpPr>
        <p:spPr>
          <a:xfrm>
            <a:off x="7315200" y="4617720"/>
            <a:ext cx="4114800" cy="91440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Mostramos qué cambia y dónde; explicar el porqué exige otros datos.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Siguientes pasos: lo que me gustaría investigar</a:t>
            </a:r>
            <a:endParaRPr lang="en-US" sz="3200" dirty="0"/>
          </a:p>
        </p:txBody>
      </p:sp>
      <p:sp>
        <p:nvSpPr>
          <p:cNvPr id="3" name="Shape 1"/>
          <p:cNvSpPr/>
          <p:nvPr/>
        </p:nvSpPr>
        <p:spPr>
          <a:xfrm>
            <a:off x="548640" y="1463040"/>
            <a:ext cx="3520440" cy="4023360"/>
          </a:xfrm>
          <a:prstGeom prst="roundRect">
            <a:avLst>
              <a:gd name="adj" fmla="val 3117"/>
            </a:avLst>
          </a:prstGeom>
          <a:solidFill>
            <a:srgbClr val="F3F5F9"/>
          </a:solidFill>
          <a:ln w="12700">
            <a:solidFill>
              <a:srgbClr val="F3F5F9"/>
            </a:solidFill>
            <a:prstDash val="solid"/>
          </a:ln>
        </p:spPr>
      </p:sp>
      <p:sp>
        <p:nvSpPr>
          <p:cNvPr id="4" name="Shape 2"/>
          <p:cNvSpPr/>
          <p:nvPr/>
        </p:nvSpPr>
        <p:spPr>
          <a:xfrm>
            <a:off x="822960" y="1737360"/>
            <a:ext cx="822960" cy="822960"/>
          </a:xfrm>
          <a:prstGeom prst="ellipse">
            <a:avLst/>
          </a:prstGeom>
          <a:solidFill>
            <a:srgbClr val="FFFFFF"/>
          </a:solidFill>
          <a:ln w="25400">
            <a:solidFill>
              <a:srgbClr val="F2A93B"/>
            </a:solidFill>
            <a:prstDash val="solid"/>
          </a:ln>
        </p:spPr>
      </p:sp>
      <p:pic>
        <p:nvPicPr>
          <p:cNvPr id="5" name="Image 0" descr="preencoded.png">    </p:cNvPr>
          <p:cNvPicPr>
            <a:picLocks noChangeAspect="1"/>
          </p:cNvPicPr>
          <p:nvPr/>
        </p:nvPicPr>
        <p:blipFill>
          <a:blip r:embed="rId1"/>
          <a:stretch>
            <a:fillRect/>
          </a:stretch>
        </p:blipFill>
        <p:spPr>
          <a:xfrm>
            <a:off x="1024128" y="1938528"/>
            <a:ext cx="420624" cy="420624"/>
          </a:xfrm>
          <a:prstGeom prst="rect">
            <a:avLst/>
          </a:prstGeom>
        </p:spPr>
      </p:pic>
      <p:sp>
        <p:nvSpPr>
          <p:cNvPr id="6" name="Text 3"/>
          <p:cNvSpPr txBox="1"/>
          <p:nvPr/>
        </p:nvSpPr>
        <p:spPr>
          <a:xfrm>
            <a:off x="822960" y="2743200"/>
            <a:ext cx="3017520" cy="731520"/>
          </a:xfrm>
          <a:prstGeom prst="rect">
            <a:avLst/>
          </a:prstGeom>
          <a:noFill/>
          <a:ln/>
        </p:spPr>
        <p:txBody>
          <a:bodyPr wrap="square" lIns="0" tIns="0" rIns="0" bIns="0" rtlCol="0" anchor="t"/>
          <a:lstStyle/>
          <a:p>
            <a:pPr indent="0" marL="0">
              <a:buNone/>
            </a:pPr>
            <a:r>
              <a:rPr lang="en-US" sz="1900" b="1" dirty="0">
                <a:solidFill>
                  <a:srgbClr val="1F4E8C"/>
                </a:solidFill>
                <a:latin typeface="Cambria" pitchFamily="34" charset="0"/>
                <a:ea typeface="Cambria" pitchFamily="34" charset="-122"/>
                <a:cs typeface="Cambria" pitchFamily="34" charset="-120"/>
              </a:rPr>
              <a:t>Pantallas y streaming</a:t>
            </a:r>
            <a:endParaRPr lang="en-US" sz="1900" dirty="0"/>
          </a:p>
        </p:txBody>
      </p:sp>
      <p:sp>
        <p:nvSpPr>
          <p:cNvPr id="7" name="Text 4"/>
          <p:cNvSpPr txBox="1"/>
          <p:nvPr/>
        </p:nvSpPr>
        <p:spPr>
          <a:xfrm>
            <a:off x="822960" y="3520440"/>
            <a:ext cx="3017520" cy="1874520"/>
          </a:xfrm>
          <a:prstGeom prst="rect">
            <a:avLst/>
          </a:prstGeom>
          <a:noFill/>
          <a:ln/>
        </p:spPr>
        <p:txBody>
          <a:bodyPr wrap="square" lIns="0" tIns="0" rIns="0" bIns="0" rtlCol="0" anchor="t"/>
          <a:lstStyle/>
          <a:p>
            <a:pPr indent="0" marL="0">
              <a:buNone/>
            </a:pPr>
            <a:r>
              <a:rPr lang="en-US" sz="1700" dirty="0">
                <a:solidFill>
                  <a:srgbClr val="1B2333"/>
                </a:solidFill>
                <a:latin typeface="Calibri" pitchFamily="34" charset="0"/>
                <a:ea typeface="Calibri" pitchFamily="34" charset="-122"/>
                <a:cs typeface="Calibri" pitchFamily="34" charset="-120"/>
              </a:rPr>
              <a:t>Yo veo 3Cat para aprender, pero ¿qué ve quien ya lo habla? ¿Cambió el uso con las plataformas? En lo digital es donde menos catalán hay.</a:t>
            </a:r>
            <a:endParaRPr lang="en-US" sz="1700" dirty="0"/>
          </a:p>
        </p:txBody>
      </p:sp>
      <p:sp>
        <p:nvSpPr>
          <p:cNvPr id="8" name="Shape 5"/>
          <p:cNvSpPr/>
          <p:nvPr/>
        </p:nvSpPr>
        <p:spPr>
          <a:xfrm>
            <a:off x="4315968" y="1463040"/>
            <a:ext cx="3520440" cy="4023360"/>
          </a:xfrm>
          <a:prstGeom prst="roundRect">
            <a:avLst>
              <a:gd name="adj" fmla="val 3117"/>
            </a:avLst>
          </a:prstGeom>
          <a:solidFill>
            <a:srgbClr val="F3F5F9"/>
          </a:solidFill>
          <a:ln w="12700">
            <a:solidFill>
              <a:srgbClr val="F3F5F9"/>
            </a:solidFill>
            <a:prstDash val="solid"/>
          </a:ln>
        </p:spPr>
      </p:sp>
      <p:sp>
        <p:nvSpPr>
          <p:cNvPr id="9" name="Shape 6"/>
          <p:cNvSpPr/>
          <p:nvPr/>
        </p:nvSpPr>
        <p:spPr>
          <a:xfrm>
            <a:off x="4590288" y="1737360"/>
            <a:ext cx="822960" cy="822960"/>
          </a:xfrm>
          <a:prstGeom prst="ellipse">
            <a:avLst/>
          </a:prstGeom>
          <a:solidFill>
            <a:srgbClr val="FFFFFF"/>
          </a:solidFill>
          <a:ln w="25400">
            <a:solidFill>
              <a:srgbClr val="F2A93B"/>
            </a:solidFill>
            <a:prstDash val="solid"/>
          </a:ln>
        </p:spPr>
      </p:sp>
      <p:pic>
        <p:nvPicPr>
          <p:cNvPr id="10" name="Image 1" descr="preencoded.png">    </p:cNvPr>
          <p:cNvPicPr>
            <a:picLocks noChangeAspect="1"/>
          </p:cNvPicPr>
          <p:nvPr/>
        </p:nvPicPr>
        <p:blipFill>
          <a:blip r:embed="rId2"/>
          <a:stretch>
            <a:fillRect/>
          </a:stretch>
        </p:blipFill>
        <p:spPr>
          <a:xfrm>
            <a:off x="4791456" y="1938528"/>
            <a:ext cx="420624" cy="420624"/>
          </a:xfrm>
          <a:prstGeom prst="rect">
            <a:avLst/>
          </a:prstGeom>
        </p:spPr>
      </p:pic>
      <p:sp>
        <p:nvSpPr>
          <p:cNvPr id="11" name="Text 7"/>
          <p:cNvSpPr txBox="1"/>
          <p:nvPr/>
        </p:nvSpPr>
        <p:spPr>
          <a:xfrm>
            <a:off x="4590288" y="2743200"/>
            <a:ext cx="3017520" cy="731520"/>
          </a:xfrm>
          <a:prstGeom prst="rect">
            <a:avLst/>
          </a:prstGeom>
          <a:noFill/>
          <a:ln/>
        </p:spPr>
        <p:txBody>
          <a:bodyPr wrap="square" lIns="0" tIns="0" rIns="0" bIns="0" rtlCol="0" anchor="t"/>
          <a:lstStyle/>
          <a:p>
            <a:pPr indent="0" marL="0">
              <a:buNone/>
            </a:pPr>
            <a:r>
              <a:rPr lang="en-US" sz="1900" b="1" dirty="0">
                <a:solidFill>
                  <a:srgbClr val="1F4E8C"/>
                </a:solidFill>
                <a:latin typeface="Cambria" pitchFamily="34" charset="0"/>
                <a:ea typeface="Cambria" pitchFamily="34" charset="-122"/>
                <a:cs typeface="Cambria" pitchFamily="34" charset="-120"/>
              </a:rPr>
              <a:t>"¿Por qué me cambian al castellano?"</a:t>
            </a:r>
            <a:endParaRPr lang="en-US" sz="1900" dirty="0"/>
          </a:p>
        </p:txBody>
      </p:sp>
      <p:sp>
        <p:nvSpPr>
          <p:cNvPr id="12" name="Text 8"/>
          <p:cNvSpPr txBox="1"/>
          <p:nvPr/>
        </p:nvSpPr>
        <p:spPr>
          <a:xfrm>
            <a:off x="4590288" y="3520440"/>
            <a:ext cx="3017520" cy="1874520"/>
          </a:xfrm>
          <a:prstGeom prst="rect">
            <a:avLst/>
          </a:prstGeom>
          <a:noFill/>
          <a:ln/>
        </p:spPr>
        <p:txBody>
          <a:bodyPr wrap="square" lIns="0" tIns="0" rIns="0" bIns="0" rtlCol="0" anchor="t"/>
          <a:lstStyle/>
          <a:p>
            <a:pPr indent="0" marL="0">
              <a:buNone/>
            </a:pPr>
            <a:r>
              <a:rPr lang="en-US" sz="1700" dirty="0">
                <a:solidFill>
                  <a:srgbClr val="1B2333"/>
                </a:solidFill>
                <a:latin typeface="Calibri" pitchFamily="34" charset="0"/>
                <a:ea typeface="Calibri" pitchFamily="34" charset="-122"/>
                <a:cs typeface="Calibri" pitchFamily="34" charset="-120"/>
              </a:rPr>
              <a:t>Hablas en catalán y te contestan en castellano. La EULP pregunta por esta situación: ¿cuánto frena a quien aprende?</a:t>
            </a:r>
            <a:endParaRPr lang="en-US" sz="1700" dirty="0"/>
          </a:p>
        </p:txBody>
      </p:sp>
      <p:sp>
        <p:nvSpPr>
          <p:cNvPr id="13" name="Shape 9"/>
          <p:cNvSpPr/>
          <p:nvPr/>
        </p:nvSpPr>
        <p:spPr>
          <a:xfrm>
            <a:off x="8083296" y="1463040"/>
            <a:ext cx="3520440" cy="4023360"/>
          </a:xfrm>
          <a:prstGeom prst="roundRect">
            <a:avLst>
              <a:gd name="adj" fmla="val 3117"/>
            </a:avLst>
          </a:prstGeom>
          <a:solidFill>
            <a:srgbClr val="F3F5F9"/>
          </a:solidFill>
          <a:ln w="12700">
            <a:solidFill>
              <a:srgbClr val="F3F5F9"/>
            </a:solidFill>
            <a:prstDash val="solid"/>
          </a:ln>
        </p:spPr>
      </p:sp>
      <p:sp>
        <p:nvSpPr>
          <p:cNvPr id="14" name="Shape 10"/>
          <p:cNvSpPr/>
          <p:nvPr/>
        </p:nvSpPr>
        <p:spPr>
          <a:xfrm>
            <a:off x="8357616" y="1737360"/>
            <a:ext cx="822960" cy="822960"/>
          </a:xfrm>
          <a:prstGeom prst="ellipse">
            <a:avLst/>
          </a:prstGeom>
          <a:solidFill>
            <a:srgbClr val="FFFFFF"/>
          </a:solidFill>
          <a:ln w="25400">
            <a:solidFill>
              <a:srgbClr val="F2A93B"/>
            </a:solidFill>
            <a:prstDash val="solid"/>
          </a:ln>
        </p:spPr>
      </p:sp>
      <p:pic>
        <p:nvPicPr>
          <p:cNvPr id="15" name="Image 2" descr="preencoded.png">    </p:cNvPr>
          <p:cNvPicPr>
            <a:picLocks noChangeAspect="1"/>
          </p:cNvPicPr>
          <p:nvPr/>
        </p:nvPicPr>
        <p:blipFill>
          <a:blip r:embed="rId3"/>
          <a:stretch>
            <a:fillRect/>
          </a:stretch>
        </p:blipFill>
        <p:spPr>
          <a:xfrm>
            <a:off x="8558784" y="1938528"/>
            <a:ext cx="420624" cy="420624"/>
          </a:xfrm>
          <a:prstGeom prst="rect">
            <a:avLst/>
          </a:prstGeom>
        </p:spPr>
      </p:pic>
      <p:sp>
        <p:nvSpPr>
          <p:cNvPr id="16" name="Text 11"/>
          <p:cNvSpPr txBox="1"/>
          <p:nvPr/>
        </p:nvSpPr>
        <p:spPr>
          <a:xfrm>
            <a:off x="8357616" y="2743200"/>
            <a:ext cx="3017520" cy="731520"/>
          </a:xfrm>
          <a:prstGeom prst="rect">
            <a:avLst/>
          </a:prstGeom>
          <a:noFill/>
          <a:ln/>
        </p:spPr>
        <p:txBody>
          <a:bodyPr wrap="square" lIns="0" tIns="0" rIns="0" bIns="0" rtlCol="0" anchor="t"/>
          <a:lstStyle/>
          <a:p>
            <a:pPr indent="0" marL="0">
              <a:buNone/>
            </a:pPr>
            <a:r>
              <a:rPr lang="en-US" sz="1900" b="1" dirty="0">
                <a:solidFill>
                  <a:srgbClr val="1F4E8C"/>
                </a:solidFill>
                <a:latin typeface="Cambria" pitchFamily="34" charset="0"/>
                <a:ea typeface="Cambria" pitchFamily="34" charset="-122"/>
                <a:cs typeface="Cambria" pitchFamily="34" charset="-120"/>
              </a:rPr>
              <a:t>Lo que pasa en casa</a:t>
            </a:r>
            <a:endParaRPr lang="en-US" sz="1900" dirty="0"/>
          </a:p>
        </p:txBody>
      </p:sp>
      <p:sp>
        <p:nvSpPr>
          <p:cNvPr id="17" name="Text 12"/>
          <p:cNvSpPr txBox="1"/>
          <p:nvPr/>
        </p:nvSpPr>
        <p:spPr>
          <a:xfrm>
            <a:off x="8357616" y="3520440"/>
            <a:ext cx="3017520" cy="1874520"/>
          </a:xfrm>
          <a:prstGeom prst="rect">
            <a:avLst/>
          </a:prstGeom>
          <a:noFill/>
          <a:ln/>
        </p:spPr>
        <p:txBody>
          <a:bodyPr wrap="square" lIns="0" tIns="0" rIns="0" bIns="0" rtlCol="0" anchor="t"/>
          <a:lstStyle/>
          <a:p>
            <a:pPr indent="0" marL="0">
              <a:buNone/>
            </a:pPr>
            <a:r>
              <a:rPr lang="en-US" sz="1700" dirty="0">
                <a:solidFill>
                  <a:srgbClr val="1B2333"/>
                </a:solidFill>
                <a:latin typeface="Calibri" pitchFamily="34" charset="0"/>
                <a:ea typeface="Calibri" pitchFamily="34" charset="-122"/>
                <a:cs typeface="Calibri" pitchFamily="34" charset="-120"/>
              </a:rPr>
              <a:t>¿Se transmite de padres a hijos? La EULP pregunta qué lengua se habla con la madre, el padre y los hijos.</a:t>
            </a:r>
            <a:endParaRPr lang="en-US" sz="1700" dirty="0"/>
          </a:p>
        </p:txBody>
      </p:sp>
      <p:sp>
        <p:nvSpPr>
          <p:cNvPr id="18" name="Text 13"/>
          <p:cNvSpPr txBox="1"/>
          <p:nvPr/>
        </p:nvSpPr>
        <p:spPr>
          <a:xfrm>
            <a:off x="548640" y="5852160"/>
            <a:ext cx="11094415" cy="548640"/>
          </a:xfrm>
          <a:prstGeom prst="rect">
            <a:avLst/>
          </a:prstGeom>
          <a:noFill/>
          <a:ln/>
        </p:spPr>
        <p:txBody>
          <a:bodyPr wrap="square" lIns="0" tIns="0" rIns="0" bIns="0" rtlCol="0" anchor="ctr"/>
          <a:lstStyle/>
          <a:p>
            <a:pPr indent="0" marL="0">
              <a:buNone/>
            </a:pPr>
            <a:r>
              <a:rPr lang="en-US" sz="1400" i="1" dirty="0">
                <a:solidFill>
                  <a:srgbClr val="5B6475"/>
                </a:solidFill>
                <a:latin typeface="Calibri" pitchFamily="34" charset="0"/>
                <a:ea typeface="Calibri" pitchFamily="34" charset="-122"/>
                <a:cs typeface="Calibri" pitchFamily="34" charset="-120"/>
              </a:rPr>
              <a:t>Y más: los hijos de familias inmigradas (con los microdatos de la ECEPOV-2021 del INE), el paso de niveles iniciales a avanzados en el CPNL y la comparación con el euskera y el gallego.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1371600"/>
            <a:ext cx="6858000" cy="1188720"/>
          </a:xfrm>
          <a:prstGeom prst="rect">
            <a:avLst/>
          </a:prstGeom>
          <a:noFill/>
          <a:ln/>
        </p:spPr>
        <p:txBody>
          <a:bodyPr wrap="square" lIns="0" tIns="0" rIns="0" bIns="0" rtlCol="0" anchor="b"/>
          <a:lstStyle/>
          <a:p>
            <a:pPr indent="0" marL="0">
              <a:buNone/>
            </a:pPr>
            <a:r>
              <a:rPr lang="en-US" sz="5400" b="1" dirty="0">
                <a:solidFill>
                  <a:srgbClr val="FFFFFF"/>
                </a:solidFill>
                <a:latin typeface="Cambria" pitchFamily="34" charset="0"/>
                <a:ea typeface="Cambria" pitchFamily="34" charset="-122"/>
                <a:cs typeface="Cambria" pitchFamily="34" charset="-120"/>
              </a:rPr>
              <a:t>Moltes gràcies!</a:t>
            </a:r>
            <a:endParaRPr lang="en-US" sz="5400" dirty="0"/>
          </a:p>
        </p:txBody>
      </p:sp>
      <p:sp>
        <p:nvSpPr>
          <p:cNvPr id="3" name="Text 1"/>
          <p:cNvSpPr txBox="1"/>
          <p:nvPr/>
        </p:nvSpPr>
        <p:spPr>
          <a:xfrm>
            <a:off x="640080" y="2651760"/>
            <a:ext cx="6858000" cy="731520"/>
          </a:xfrm>
          <a:prstGeom prst="rect">
            <a:avLst/>
          </a:prstGeom>
          <a:noFill/>
          <a:ln/>
        </p:spPr>
        <p:txBody>
          <a:bodyPr wrap="square" lIns="0" tIns="0" rIns="0" bIns="0" rtlCol="0" anchor="ctr"/>
          <a:lstStyle/>
          <a:p>
            <a:pPr indent="0" marL="0">
              <a:buNone/>
            </a:pPr>
            <a:r>
              <a:rPr lang="en-US" sz="2800" i="1" dirty="0">
                <a:solidFill>
                  <a:srgbClr val="F2A93B"/>
                </a:solidFill>
                <a:latin typeface="Calibri" pitchFamily="34" charset="0"/>
                <a:ea typeface="Calibri" pitchFamily="34" charset="-122"/>
                <a:cs typeface="Calibri" pitchFamily="34" charset="-120"/>
              </a:rPr>
              <a:t>¿Preguntas?</a:t>
            </a:r>
            <a:endParaRPr lang="en-US" sz="2800" dirty="0"/>
          </a:p>
        </p:txBody>
      </p:sp>
      <p:pic>
        <p:nvPicPr>
          <p:cNvPr id="4" name="Image 0" descr="preencoded.png">    </p:cNvPr>
          <p:cNvPicPr>
            <a:picLocks noChangeAspect="1"/>
          </p:cNvPicPr>
          <p:nvPr/>
        </p:nvPicPr>
        <p:blipFill>
          <a:blip r:embed="rId1"/>
          <a:stretch>
            <a:fillRect/>
          </a:stretch>
        </p:blipFill>
        <p:spPr>
          <a:xfrm>
            <a:off x="640080" y="4206240"/>
            <a:ext cx="411480" cy="411480"/>
          </a:xfrm>
          <a:prstGeom prst="rect">
            <a:avLst/>
          </a:prstGeom>
        </p:spPr>
      </p:pic>
      <p:sp>
        <p:nvSpPr>
          <p:cNvPr id="5" name="Text 2">
            <a:hlinkClick r:id="rId2" tooltip=""/>
          </p:cNvPr>
          <p:cNvSpPr txBox="1"/>
          <p:nvPr/>
        </p:nvSpPr>
        <p:spPr>
          <a:xfrm>
            <a:off x="1188720" y="4160520"/>
            <a:ext cx="6400800" cy="502920"/>
          </a:xfrm>
          <a:prstGeom prst="rect">
            <a:avLst/>
          </a:prstGeom>
          <a:noFill/>
          <a:ln/>
        </p:spPr>
        <p:txBody>
          <a:bodyPr wrap="square" lIns="0" tIns="0" rIns="0" bIns="0" rtlCol="0" anchor="ctr"/>
          <a:lstStyle/>
          <a:p>
            <a:pPr indent="0" marL="0">
              <a:buNone/>
            </a:pPr>
            <a:r>
              <a:rPr lang="en-US" sz="1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github.com/joagli/Proyecto_Final_ITAcademy</a:t>
            </a:r>
            <a:endParaRPr lang="en-US" sz="1800" dirty="0"/>
          </a:p>
        </p:txBody>
      </p:sp>
      <p:pic>
        <p:nvPicPr>
          <p:cNvPr id="6" name="Image 1" descr="preencoded.png">    </p:cNvPr>
          <p:cNvPicPr>
            <a:picLocks noChangeAspect="1"/>
          </p:cNvPicPr>
          <p:nvPr/>
        </p:nvPicPr>
        <p:blipFill>
          <a:blip r:embed="rId3"/>
          <a:stretch>
            <a:fillRect/>
          </a:stretch>
        </p:blipFill>
        <p:spPr>
          <a:xfrm>
            <a:off x="640080" y="4846320"/>
            <a:ext cx="411480" cy="411480"/>
          </a:xfrm>
          <a:prstGeom prst="rect">
            <a:avLst/>
          </a:prstGeom>
        </p:spPr>
      </p:pic>
      <p:sp>
        <p:nvSpPr>
          <p:cNvPr id="7" name="Text 3"/>
          <p:cNvSpPr txBox="1"/>
          <p:nvPr/>
        </p:nvSpPr>
        <p:spPr>
          <a:xfrm>
            <a:off x="1188720" y="4800600"/>
            <a:ext cx="64008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Dashboard: streamlit run app.py</a:t>
            </a:r>
            <a:endParaRPr lang="en-US" sz="1800" dirty="0"/>
          </a:p>
        </p:txBody>
      </p:sp>
      <p:sp>
        <p:nvSpPr>
          <p:cNvPr id="8" name="Shape 4"/>
          <p:cNvSpPr/>
          <p:nvPr/>
        </p:nvSpPr>
        <p:spPr>
          <a:xfrm>
            <a:off x="7863840" y="2011680"/>
            <a:ext cx="3657600" cy="1463040"/>
          </a:xfrm>
          <a:prstGeom prst="wedgeRoundRectCallout">
            <a:avLst/>
          </a:prstGeom>
          <a:solidFill>
            <a:srgbClr val="F2A93B"/>
          </a:solidFill>
          <a:ln w="12700">
            <a:solidFill>
              <a:srgbClr val="F2A93B"/>
            </a:solidFill>
            <a:prstDash val="solid"/>
          </a:ln>
          <a:effectLst>
            <a:outerShdw sx="100000" sy="100000" kx="0" ky="0" algn="bl" rotWithShape="0" blurRad="228600" dist="50800" dir="5400000">
              <a:srgbClr val="F2A93B">
                <a:alpha val="60000"/>
              </a:srgbClr>
            </a:outerShdw>
          </a:effectLst>
        </p:spPr>
      </p:sp>
      <p:sp>
        <p:nvSpPr>
          <p:cNvPr id="9" name="Text 5"/>
          <p:cNvSpPr txBox="1"/>
          <p:nvPr/>
        </p:nvSpPr>
        <p:spPr>
          <a:xfrm>
            <a:off x="7863840" y="2011680"/>
            <a:ext cx="3657600" cy="1463040"/>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Fins aviat!</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rgbClr val="1B2333"/>
                </a:solidFill>
                <a:latin typeface="Cambria" pitchFamily="34" charset="0"/>
                <a:ea typeface="Cambria" pitchFamily="34" charset="-122"/>
                <a:cs typeface="Cambria" pitchFamily="34" charset="-120"/>
              </a:rPr>
              <a:t>Anexo · Fuentes y enlaces</a:t>
            </a:r>
            <a:endParaRPr lang="en-US" sz="3200" dirty="0"/>
          </a:p>
        </p:txBody>
      </p:sp>
      <p:sp>
        <p:nvSpPr>
          <p:cNvPr id="3" name="Shape 1"/>
          <p:cNvSpPr/>
          <p:nvPr/>
        </p:nvSpPr>
        <p:spPr>
          <a:xfrm>
            <a:off x="548640" y="1325880"/>
            <a:ext cx="11091672" cy="548640"/>
          </a:xfrm>
          <a:prstGeom prst="rect">
            <a:avLst/>
          </a:prstGeom>
          <a:solidFill>
            <a:srgbClr val="F3F5F9"/>
          </a:solidFill>
          <a:ln w="12700">
            <a:solidFill>
              <a:srgbClr val="F3F5F9"/>
            </a:solidFill>
            <a:prstDash val="solid"/>
          </a:ln>
        </p:spPr>
      </p:sp>
      <p:sp>
        <p:nvSpPr>
          <p:cNvPr id="4" name="Text 2"/>
          <p:cNvSpPr txBox="1"/>
          <p:nvPr/>
        </p:nvSpPr>
        <p:spPr>
          <a:xfrm>
            <a:off x="685800" y="1371600"/>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Uso: Encuesta de usos lingüísticos (EULP)</a:t>
            </a:r>
            <a:endParaRPr lang="en-US" sz="1300" dirty="0"/>
          </a:p>
        </p:txBody>
      </p:sp>
      <p:sp>
        <p:nvSpPr>
          <p:cNvPr id="5" name="Text 3"/>
          <p:cNvSpPr txBox="1"/>
          <p:nvPr/>
        </p:nvSpPr>
        <p:spPr>
          <a:xfrm>
            <a:off x="4663440" y="1371600"/>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Idescat y Generalitat</a:t>
            </a:r>
            <a:endParaRPr lang="en-US" sz="1200" dirty="0"/>
          </a:p>
        </p:txBody>
      </p:sp>
      <p:sp>
        <p:nvSpPr>
          <p:cNvPr id="6" name="Text 4">
            <a:hlinkClick r:id="rId1" tooltip=""/>
          </p:cNvPr>
          <p:cNvSpPr txBox="1"/>
          <p:nvPr/>
        </p:nvSpPr>
        <p:spPr>
          <a:xfrm>
            <a:off x="6720840" y="1371600"/>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https://www.idescat.cat/pub/?id=eulp</a:t>
            </a:r>
            <a:endParaRPr lang="en-US" sz="1000" dirty="0"/>
          </a:p>
        </p:txBody>
      </p:sp>
      <p:sp>
        <p:nvSpPr>
          <p:cNvPr id="7" name="Text 5"/>
          <p:cNvSpPr txBox="1"/>
          <p:nvPr/>
        </p:nvSpPr>
        <p:spPr>
          <a:xfrm>
            <a:off x="685800" y="1947672"/>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Uso por ámbito territorial (EULP 2023)</a:t>
            </a:r>
            <a:endParaRPr lang="en-US" sz="1300" dirty="0"/>
          </a:p>
        </p:txBody>
      </p:sp>
      <p:sp>
        <p:nvSpPr>
          <p:cNvPr id="8" name="Text 6"/>
          <p:cNvSpPr txBox="1"/>
          <p:nvPr/>
        </p:nvSpPr>
        <p:spPr>
          <a:xfrm>
            <a:off x="4663440" y="1947672"/>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Idescat</a:t>
            </a:r>
            <a:endParaRPr lang="en-US" sz="1200" dirty="0"/>
          </a:p>
        </p:txBody>
      </p:sp>
      <p:sp>
        <p:nvSpPr>
          <p:cNvPr id="9" name="Text 7">
            <a:hlinkClick r:id="rId2" tooltip=""/>
          </p:cNvPr>
          <p:cNvSpPr txBox="1"/>
          <p:nvPr/>
        </p:nvSpPr>
        <p:spPr>
          <a:xfrm>
            <a:off x="6720840" y="1947672"/>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https://www.idescat.cat/novetats/?id=5382</a:t>
            </a:r>
            <a:endParaRPr lang="en-US" sz="1000" dirty="0"/>
          </a:p>
        </p:txBody>
      </p:sp>
      <p:sp>
        <p:nvSpPr>
          <p:cNvPr id="10" name="Shape 8"/>
          <p:cNvSpPr/>
          <p:nvPr/>
        </p:nvSpPr>
        <p:spPr>
          <a:xfrm>
            <a:off x="548640" y="2478024"/>
            <a:ext cx="11091672" cy="548640"/>
          </a:xfrm>
          <a:prstGeom prst="rect">
            <a:avLst/>
          </a:prstGeom>
          <a:solidFill>
            <a:srgbClr val="F3F5F9"/>
          </a:solidFill>
          <a:ln w="12700">
            <a:solidFill>
              <a:srgbClr val="F3F5F9"/>
            </a:solidFill>
            <a:prstDash val="solid"/>
          </a:ln>
        </p:spPr>
      </p:sp>
      <p:sp>
        <p:nvSpPr>
          <p:cNvPr id="11" name="Text 9"/>
          <p:cNvSpPr txBox="1"/>
          <p:nvPr/>
        </p:nvSpPr>
        <p:spPr>
          <a:xfrm>
            <a:off x="685800" y="2523744"/>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Conocimiento: censos y ECEPOV-2021</a:t>
            </a:r>
            <a:endParaRPr lang="en-US" sz="1300" dirty="0"/>
          </a:p>
        </p:txBody>
      </p:sp>
      <p:sp>
        <p:nvSpPr>
          <p:cNvPr id="12" name="Text 10"/>
          <p:cNvSpPr txBox="1"/>
          <p:nvPr/>
        </p:nvSpPr>
        <p:spPr>
          <a:xfrm>
            <a:off x="4663440" y="2523744"/>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Idescat</a:t>
            </a:r>
            <a:endParaRPr lang="en-US" sz="1200" dirty="0"/>
          </a:p>
        </p:txBody>
      </p:sp>
      <p:sp>
        <p:nvSpPr>
          <p:cNvPr id="13" name="Text 11">
            <a:hlinkClick r:id="rId3" tooltip=""/>
          </p:cNvPr>
          <p:cNvSpPr txBox="1"/>
          <p:nvPr/>
        </p:nvSpPr>
        <p:spPr>
          <a:xfrm>
            <a:off x="6720840" y="2523744"/>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https://www.idescat.cat/indicadors/?id=basics&amp;n=10363</a:t>
            </a:r>
            <a:endParaRPr lang="en-US" sz="1000" dirty="0"/>
          </a:p>
        </p:txBody>
      </p:sp>
      <p:sp>
        <p:nvSpPr>
          <p:cNvPr id="14" name="Text 12"/>
          <p:cNvSpPr txBox="1"/>
          <p:nvPr/>
        </p:nvSpPr>
        <p:spPr>
          <a:xfrm>
            <a:off x="685800" y="3099816"/>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Censo lingüístico 2011 (nota de prensa)</a:t>
            </a:r>
            <a:endParaRPr lang="en-US" sz="1300" dirty="0"/>
          </a:p>
        </p:txBody>
      </p:sp>
      <p:sp>
        <p:nvSpPr>
          <p:cNvPr id="15" name="Text 13"/>
          <p:cNvSpPr txBox="1"/>
          <p:nvPr/>
        </p:nvSpPr>
        <p:spPr>
          <a:xfrm>
            <a:off x="4663440" y="3099816"/>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Idescat</a:t>
            </a:r>
            <a:endParaRPr lang="en-US" sz="1200" dirty="0"/>
          </a:p>
        </p:txBody>
      </p:sp>
      <p:sp>
        <p:nvSpPr>
          <p:cNvPr id="16" name="Text 14">
            <a:hlinkClick r:id="rId4" tooltip=""/>
          </p:cNvPr>
          <p:cNvSpPr txBox="1"/>
          <p:nvPr/>
        </p:nvSpPr>
        <p:spPr>
          <a:xfrm>
            <a:off x="6720840" y="3099816"/>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https://govern.cat/govern/docs/2013/11/21/10/04/983677eb-2b2a-43ae-8793-9b22bd2a6cb4.pdf</a:t>
            </a:r>
            <a:endParaRPr lang="en-US" sz="1000" dirty="0"/>
          </a:p>
        </p:txBody>
      </p:sp>
      <p:sp>
        <p:nvSpPr>
          <p:cNvPr id="17" name="Shape 15"/>
          <p:cNvSpPr/>
          <p:nvPr/>
        </p:nvSpPr>
        <p:spPr>
          <a:xfrm>
            <a:off x="548640" y="3630168"/>
            <a:ext cx="11091672" cy="548640"/>
          </a:xfrm>
          <a:prstGeom prst="rect">
            <a:avLst/>
          </a:prstGeom>
          <a:solidFill>
            <a:srgbClr val="F3F5F9"/>
          </a:solidFill>
          <a:ln w="12700">
            <a:solidFill>
              <a:srgbClr val="F3F5F9"/>
            </a:solidFill>
            <a:prstDash val="solid"/>
          </a:ln>
        </p:spPr>
      </p:sp>
      <p:sp>
        <p:nvSpPr>
          <p:cNvPr id="18" name="Text 16"/>
          <p:cNvSpPr txBox="1"/>
          <p:nvPr/>
        </p:nvSpPr>
        <p:spPr>
          <a:xfrm>
            <a:off x="685800" y="3675888"/>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ECEPOV-2021: informe metodológico</a:t>
            </a:r>
            <a:endParaRPr lang="en-US" sz="1300" dirty="0"/>
          </a:p>
        </p:txBody>
      </p:sp>
      <p:sp>
        <p:nvSpPr>
          <p:cNvPr id="19" name="Text 17"/>
          <p:cNvSpPr txBox="1"/>
          <p:nvPr/>
        </p:nvSpPr>
        <p:spPr>
          <a:xfrm>
            <a:off x="4663440" y="3675888"/>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INE</a:t>
            </a:r>
            <a:endParaRPr lang="en-US" sz="1200" dirty="0"/>
          </a:p>
        </p:txBody>
      </p:sp>
      <p:sp>
        <p:nvSpPr>
          <p:cNvPr id="20" name="Text 18">
            <a:hlinkClick r:id="rId5" tooltip=""/>
          </p:cNvPr>
          <p:cNvSpPr txBox="1"/>
          <p:nvPr/>
        </p:nvSpPr>
        <p:spPr>
          <a:xfrm>
            <a:off x="6720840" y="3675888"/>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https://www.ine.es/dynt3/metadatos/es/RespuestaPrint.html?oper=448</a:t>
            </a:r>
            <a:endParaRPr lang="en-US" sz="1000" dirty="0"/>
          </a:p>
        </p:txBody>
      </p:sp>
      <p:sp>
        <p:nvSpPr>
          <p:cNvPr id="21" name="Text 19"/>
          <p:cNvSpPr txBox="1"/>
          <p:nvPr/>
        </p:nvSpPr>
        <p:spPr>
          <a:xfrm>
            <a:off x="685800" y="4251960"/>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Aprendizaje: inscripciones al CPNL</a:t>
            </a:r>
            <a:endParaRPr lang="en-US" sz="1300" dirty="0"/>
          </a:p>
        </p:txBody>
      </p:sp>
      <p:sp>
        <p:nvSpPr>
          <p:cNvPr id="22" name="Text 20"/>
          <p:cNvSpPr txBox="1"/>
          <p:nvPr/>
        </p:nvSpPr>
        <p:spPr>
          <a:xfrm>
            <a:off x="4663440" y="4251960"/>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Dades obertes de Catalunya</a:t>
            </a:r>
            <a:endParaRPr lang="en-US" sz="1200" dirty="0"/>
          </a:p>
        </p:txBody>
      </p:sp>
      <p:sp>
        <p:nvSpPr>
          <p:cNvPr id="23" name="Text 21">
            <a:hlinkClick r:id="rId6" tooltip=""/>
          </p:cNvPr>
          <p:cNvSpPr txBox="1"/>
          <p:nvPr/>
        </p:nvSpPr>
        <p:spPr>
          <a:xfrm>
            <a:off x="6720840" y="4251960"/>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https://analisi.transparenciacatalunya.cat/d/q9ct-fkjt</a:t>
            </a:r>
            <a:endParaRPr lang="en-US" sz="1000" dirty="0"/>
          </a:p>
        </p:txBody>
      </p:sp>
      <p:sp>
        <p:nvSpPr>
          <p:cNvPr id="24" name="Shape 22"/>
          <p:cNvSpPr/>
          <p:nvPr/>
        </p:nvSpPr>
        <p:spPr>
          <a:xfrm>
            <a:off x="548640" y="4782312"/>
            <a:ext cx="11091672" cy="548640"/>
          </a:xfrm>
          <a:prstGeom prst="rect">
            <a:avLst/>
          </a:prstGeom>
          <a:solidFill>
            <a:srgbClr val="F3F5F9"/>
          </a:solidFill>
          <a:ln w="12700">
            <a:solidFill>
              <a:srgbClr val="F3F5F9"/>
            </a:solidFill>
            <a:prstDash val="solid"/>
          </a:ln>
        </p:spPr>
      </p:sp>
      <p:sp>
        <p:nvSpPr>
          <p:cNvPr id="25" name="Text 23"/>
          <p:cNvSpPr txBox="1"/>
          <p:nvPr/>
        </p:nvSpPr>
        <p:spPr>
          <a:xfrm>
            <a:off x="685800" y="4828032"/>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Mapa: divisiones administrativas</a:t>
            </a:r>
            <a:endParaRPr lang="en-US" sz="1300" dirty="0"/>
          </a:p>
        </p:txBody>
      </p:sp>
      <p:sp>
        <p:nvSpPr>
          <p:cNvPr id="26" name="Text 24"/>
          <p:cNvSpPr txBox="1"/>
          <p:nvPr/>
        </p:nvSpPr>
        <p:spPr>
          <a:xfrm>
            <a:off x="4663440" y="4828032"/>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ICGC</a:t>
            </a:r>
            <a:endParaRPr lang="en-US" sz="1200" dirty="0"/>
          </a:p>
        </p:txBody>
      </p:sp>
      <p:sp>
        <p:nvSpPr>
          <p:cNvPr id="27" name="Text 25">
            <a:hlinkClick r:id="rId7" tooltip=""/>
          </p:cNvPr>
          <p:cNvSpPr txBox="1"/>
          <p:nvPr/>
        </p:nvSpPr>
        <p:spPr>
          <a:xfrm>
            <a:off x="6720840" y="4828032"/>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https://www.icgc.cat/ca/Geoinformacio-i-mapes/Dades-i-productes/Geoinformacio-cartografica/Divisions-administratives</a:t>
            </a:r>
            <a:endParaRPr lang="en-US" sz="1000" dirty="0"/>
          </a:p>
        </p:txBody>
      </p:sp>
      <p:sp>
        <p:nvSpPr>
          <p:cNvPr id="28" name="Text 26"/>
          <p:cNvSpPr txBox="1"/>
          <p:nvPr/>
        </p:nvSpPr>
        <p:spPr>
          <a:xfrm>
            <a:off x="685800" y="5404104"/>
            <a:ext cx="3931920" cy="457200"/>
          </a:xfrm>
          <a:prstGeom prst="rect">
            <a:avLst/>
          </a:prstGeom>
          <a:noFill/>
          <a:ln/>
        </p:spPr>
        <p:txBody>
          <a:bodyPr wrap="square" lIns="0" tIns="0" rIns="0" bIns="0" rtlCol="0" anchor="ctr"/>
          <a:lstStyle/>
          <a:p>
            <a:pPr indent="0" marL="0">
              <a:buNone/>
            </a:pPr>
            <a:r>
              <a:rPr lang="en-US" sz="1300" b="1" dirty="0">
                <a:solidFill>
                  <a:srgbClr val="1B2333"/>
                </a:solidFill>
                <a:latin typeface="Calibri" pitchFamily="34" charset="0"/>
                <a:ea typeface="Calibri" pitchFamily="34" charset="-122"/>
                <a:cs typeface="Calibri" pitchFamily="34" charset="-120"/>
              </a:rPr>
              <a:t>Código, datos y dashboard</a:t>
            </a:r>
            <a:endParaRPr lang="en-US" sz="1300" dirty="0"/>
          </a:p>
        </p:txBody>
      </p:sp>
      <p:sp>
        <p:nvSpPr>
          <p:cNvPr id="29" name="Text 27"/>
          <p:cNvSpPr txBox="1"/>
          <p:nvPr/>
        </p:nvSpPr>
        <p:spPr>
          <a:xfrm>
            <a:off x="4663440" y="5404104"/>
            <a:ext cx="2011680" cy="457200"/>
          </a:xfrm>
          <a:prstGeom prst="rect">
            <a:avLst/>
          </a:prstGeom>
          <a:noFill/>
          <a:ln/>
        </p:spPr>
        <p:txBody>
          <a:bodyPr wrap="square" lIns="0" tIns="0" rIns="0" bIns="0" rtlCol="0" anchor="ctr"/>
          <a:lstStyle/>
          <a:p>
            <a:pPr indent="0" marL="0">
              <a:buNone/>
            </a:pPr>
            <a:r>
              <a:rPr lang="en-US" sz="1200" dirty="0">
                <a:solidFill>
                  <a:srgbClr val="5B6475"/>
                </a:solidFill>
                <a:latin typeface="Calibri" pitchFamily="34" charset="0"/>
                <a:ea typeface="Calibri" pitchFamily="34" charset="-122"/>
                <a:cs typeface="Calibri" pitchFamily="34" charset="-120"/>
              </a:rPr>
              <a:t>Repositorio del proyecto</a:t>
            </a:r>
            <a:endParaRPr lang="en-US" sz="1200" dirty="0"/>
          </a:p>
        </p:txBody>
      </p:sp>
      <p:sp>
        <p:nvSpPr>
          <p:cNvPr id="30" name="Text 28">
            <a:hlinkClick r:id="rId8" tooltip=""/>
          </p:cNvPr>
          <p:cNvSpPr txBox="1"/>
          <p:nvPr/>
        </p:nvSpPr>
        <p:spPr>
          <a:xfrm>
            <a:off x="6720840" y="5404104"/>
            <a:ext cx="4846320" cy="457200"/>
          </a:xfrm>
          <a:prstGeom prst="rect">
            <a:avLst/>
          </a:prstGeom>
          <a:noFill/>
          <a:ln/>
        </p:spPr>
        <p:txBody>
          <a:bodyPr wrap="square" lIns="0" tIns="0" rIns="0" bIns="0" rtlCol="0" anchor="ctr"/>
          <a:lstStyle/>
          <a:p>
            <a:pPr indent="0" marL="0">
              <a:buNone/>
            </a:pPr>
            <a:r>
              <a:rPr lang="en-US" sz="1000" u="sng" dirty="0">
                <a:solidFill>
                  <a:srgbClr val="1F4E8C"/>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https://github.com/joagli/Proyecto_Final_ITAcademy</a:t>
            </a:r>
            <a:endParaRPr lang="en-US" sz="1000" dirty="0"/>
          </a:p>
        </p:txBody>
      </p:sp>
      <p:sp>
        <p:nvSpPr>
          <p:cNvPr id="31" name="Text 29"/>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5B6475"/>
                </a:solidFill>
                <a:latin typeface="Calibri" pitchFamily="34" charset="0"/>
                <a:ea typeface="Calibri" pitchFamily="34" charset="-122"/>
                <a:cs typeface="Calibri" pitchFamily="34" charset="-120"/>
              </a:rPr>
              <a:t>Los archivos exactos descargados y el tamaño de cada fuente están en el repositorio (docs/fuentes_resumen.md).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está "apagando" el catalán?</dc:title>
  <dc:subject>Proyecto final · Data Analytics · IT Academy</dc:subject>
  <dc:creator>Jorge Aguilar Liévanos</dc:creator>
  <cp:lastModifiedBy>Jorge Aguilar Liévanos</cp:lastModifiedBy>
  <cp:revision>1</cp:revision>
  <dcterms:created xsi:type="dcterms:W3CDTF">2026-09-29T11:14:53Z</dcterms:created>
  <dcterms:modified xsi:type="dcterms:W3CDTF">2026-09-29T11:14:53Z</dcterms:modified>
</cp:coreProperties>
</file>